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8288000" cy="10287000"/>
  <p:notesSz cx="6858000" cy="9144000"/>
  <p:embeddedFontLst>
    <p:embeddedFont>
      <p:font typeface="Poppins" panose="00000500000000000000" pitchFamily="2" charset="0"/>
      <p:regular r:id="rId16"/>
    </p:embeddedFont>
    <p:embeddedFont>
      <p:font typeface="Poppins Bold" panose="020B0604020202020204" charset="0"/>
      <p:regular r:id="rId17"/>
    </p:embeddedFont>
    <p:embeddedFont>
      <p:font typeface="Times New Roman Bold" panose="02020803070505020304" pitchFamily="18" charset="0"/>
      <p:regular r:id="rId18"/>
      <p:bold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0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5F06C7A-A76F-4423-A126-74298F8DB9C2}" type="datetimeFigureOut">
              <a:rPr lang="en-IN" smtClean="0"/>
              <a:t>10-02-2026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D2ADE11-C696-4AB3-BBAB-F8FB44FC4D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084661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2ADE11-C696-4AB3-BBAB-F8FB44FC4DF9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8151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2/10/2026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mp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gif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png"/><Relationship Id="rId5" Type="http://schemas.openxmlformats.org/officeDocument/2006/relationships/image" Target="../media/image19.svg"/><Relationship Id="rId4" Type="http://schemas.openxmlformats.org/officeDocument/2006/relationships/image" Target="../media/image18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95BB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8"/>
          <p:cNvSpPr txBox="1"/>
          <p:nvPr/>
        </p:nvSpPr>
        <p:spPr>
          <a:xfrm>
            <a:off x="7916138" y="1790700"/>
            <a:ext cx="10563225" cy="26208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77"/>
              </a:lnSpc>
            </a:pPr>
            <a:r>
              <a:rPr lang="en-US" sz="3868" dirty="0">
                <a:solidFill>
                  <a:srgbClr val="295BBE"/>
                </a:solidFill>
                <a:latin typeface="Poppins"/>
                <a:ea typeface="Poppins"/>
                <a:cs typeface="Poppins"/>
                <a:sym typeface="Poppins"/>
              </a:rPr>
              <a:t>Infosys Virtual Internship(Batch-11)</a:t>
            </a:r>
          </a:p>
          <a:p>
            <a:pPr algn="ctr">
              <a:lnSpc>
                <a:spcPts val="4177"/>
              </a:lnSpc>
            </a:pPr>
            <a:endParaRPr lang="en-US" sz="3868" dirty="0">
              <a:solidFill>
                <a:srgbClr val="295BBE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ctr">
              <a:lnSpc>
                <a:spcPts val="4177"/>
              </a:lnSpc>
            </a:pPr>
            <a:endParaRPr lang="en-US" sz="3868" dirty="0">
              <a:solidFill>
                <a:srgbClr val="295BBE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ctr">
              <a:lnSpc>
                <a:spcPts val="4177"/>
              </a:lnSpc>
              <a:spcBef>
                <a:spcPct val="0"/>
              </a:spcBef>
            </a:pPr>
            <a:r>
              <a:rPr lang="en-US" sz="3868" dirty="0">
                <a:solidFill>
                  <a:srgbClr val="295BBE"/>
                </a:solidFill>
                <a:latin typeface="Poppins"/>
                <a:ea typeface="Poppins"/>
                <a:cs typeface="Poppins"/>
                <a:sym typeface="Poppins"/>
              </a:rPr>
              <a:t>Food Trends :Understanding Customer Preferences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5011400" y="6765442"/>
            <a:ext cx="2209800" cy="124354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934"/>
              </a:lnSpc>
              <a:spcBef>
                <a:spcPct val="0"/>
              </a:spcBef>
            </a:pPr>
            <a:r>
              <a:rPr lang="en-US" sz="2400" dirty="0">
                <a:solidFill>
                  <a:srgbClr val="295BBE"/>
                </a:solidFill>
                <a:latin typeface="Poppins"/>
                <a:ea typeface="Poppins"/>
                <a:cs typeface="Poppins"/>
                <a:sym typeface="Poppins"/>
              </a:rPr>
              <a:t>Mentor:</a:t>
            </a:r>
          </a:p>
          <a:p>
            <a:pPr algn="ctr">
              <a:lnSpc>
                <a:spcPts val="1934"/>
              </a:lnSpc>
              <a:spcBef>
                <a:spcPct val="0"/>
              </a:spcBef>
            </a:pPr>
            <a:r>
              <a:rPr lang="en-US" sz="2400" dirty="0">
                <a:solidFill>
                  <a:srgbClr val="295BBE"/>
                </a:solidFill>
                <a:latin typeface="Poppins"/>
                <a:ea typeface="Poppins"/>
                <a:cs typeface="Poppins"/>
                <a:sym typeface="Poppins"/>
              </a:rPr>
              <a:t>Nityasree</a:t>
            </a:r>
          </a:p>
          <a:p>
            <a:pPr algn="ctr">
              <a:lnSpc>
                <a:spcPts val="1934"/>
              </a:lnSpc>
              <a:spcBef>
                <a:spcPct val="0"/>
              </a:spcBef>
            </a:pPr>
            <a:endParaRPr lang="en-US" sz="2400" dirty="0">
              <a:solidFill>
                <a:srgbClr val="295BBE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ctr">
              <a:lnSpc>
                <a:spcPts val="1934"/>
              </a:lnSpc>
              <a:spcBef>
                <a:spcPct val="0"/>
              </a:spcBef>
            </a:pPr>
            <a:r>
              <a:rPr lang="en-US" sz="2400" dirty="0">
                <a:solidFill>
                  <a:srgbClr val="295BBE"/>
                </a:solidFill>
                <a:latin typeface="Poppins"/>
                <a:ea typeface="Poppins"/>
                <a:cs typeface="Poppins"/>
                <a:sym typeface="Poppins"/>
              </a:rPr>
              <a:t>Presented by:</a:t>
            </a:r>
          </a:p>
          <a:p>
            <a:pPr algn="ctr">
              <a:lnSpc>
                <a:spcPts val="1934"/>
              </a:lnSpc>
              <a:spcBef>
                <a:spcPct val="0"/>
              </a:spcBef>
            </a:pPr>
            <a:r>
              <a:rPr lang="en-US" sz="2400" dirty="0">
                <a:solidFill>
                  <a:srgbClr val="295BBE"/>
                </a:solidFill>
                <a:latin typeface="Poppins"/>
                <a:ea typeface="Poppins"/>
                <a:cs typeface="Poppins"/>
                <a:sym typeface="Poppins"/>
              </a:rPr>
              <a:t>M S Akshaya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D4250138-347E-8E06-8A10-2800A97731B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8288000" cy="1028699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95BB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5"/>
          <p:cNvSpPr/>
          <p:nvPr/>
        </p:nvSpPr>
        <p:spPr>
          <a:xfrm>
            <a:off x="1028700" y="783602"/>
            <a:ext cx="328057" cy="273779"/>
          </a:xfrm>
          <a:custGeom>
            <a:avLst/>
            <a:gdLst/>
            <a:ahLst/>
            <a:cxnLst/>
            <a:rect l="l" t="t" r="r" b="b"/>
            <a:pathLst>
              <a:path w="328057" h="273779">
                <a:moveTo>
                  <a:pt x="0" y="0"/>
                </a:moveTo>
                <a:lnTo>
                  <a:pt x="328057" y="0"/>
                </a:lnTo>
                <a:lnTo>
                  <a:pt x="328057" y="273779"/>
                </a:lnTo>
                <a:lnTo>
                  <a:pt x="0" y="27377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pic>
        <p:nvPicPr>
          <p:cNvPr id="6" name="Picture 6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2455283" y="2957737"/>
            <a:ext cx="2853701" cy="2211619"/>
          </a:xfrm>
          <a:prstGeom prst="rect">
            <a:avLst/>
          </a:prstGeom>
        </p:spPr>
      </p:pic>
      <p:sp>
        <p:nvSpPr>
          <p:cNvPr id="7" name="TextBox 7"/>
          <p:cNvSpPr txBox="1"/>
          <p:nvPr/>
        </p:nvSpPr>
        <p:spPr>
          <a:xfrm>
            <a:off x="1448119" y="812573"/>
            <a:ext cx="1826307" cy="2661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59"/>
              </a:lnSpc>
              <a:spcBef>
                <a:spcPct val="0"/>
              </a:spcBef>
            </a:pPr>
            <a:r>
              <a:rPr lang="en-US" sz="1814" b="1">
                <a:solidFill>
                  <a:srgbClr val="295BBE"/>
                </a:solidFill>
                <a:latin typeface="Poppins Bold"/>
                <a:ea typeface="Poppins Bold"/>
                <a:cs typeface="Poppins Bold"/>
                <a:sym typeface="Poppins Bold"/>
              </a:rPr>
              <a:t>Wardiere.inc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261212" y="250261"/>
            <a:ext cx="9026788" cy="85315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44"/>
              </a:lnSpc>
            </a:pPr>
            <a:r>
              <a:rPr lang="en-US" sz="4115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OBJECTIVE</a:t>
            </a:r>
          </a:p>
          <a:p>
            <a:pPr algn="l">
              <a:lnSpc>
                <a:spcPts val="3257"/>
              </a:lnSpc>
            </a:pPr>
            <a:r>
              <a:rPr lang="en-US" sz="3015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•To analyze food ordering data to identify key food trends and customer preferences.</a:t>
            </a:r>
          </a:p>
          <a:p>
            <a:pPr algn="l">
              <a:lnSpc>
                <a:spcPts val="3257"/>
              </a:lnSpc>
            </a:pPr>
            <a:r>
              <a:rPr lang="en-US" sz="3015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•To understand customer behavior based on cuisine type, pricing, ratings, and location.</a:t>
            </a:r>
          </a:p>
          <a:p>
            <a:pPr algn="l">
              <a:lnSpc>
                <a:spcPts val="3257"/>
              </a:lnSpc>
            </a:pPr>
            <a:r>
              <a:rPr lang="en-US" sz="3015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•To evaluate ordering and spending patterns across different customer segments.</a:t>
            </a:r>
          </a:p>
          <a:p>
            <a:pPr algn="l">
              <a:lnSpc>
                <a:spcPts val="3257"/>
              </a:lnSpc>
            </a:pPr>
            <a:r>
              <a:rPr lang="en-US" sz="3015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•To support data-driven business decisions using interactive Power BI dashboards.</a:t>
            </a:r>
          </a:p>
          <a:p>
            <a:pPr algn="l">
              <a:lnSpc>
                <a:spcPts val="3257"/>
              </a:lnSpc>
            </a:pPr>
            <a:endParaRPr lang="en-US" sz="3015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l">
              <a:lnSpc>
                <a:spcPts val="4444"/>
              </a:lnSpc>
            </a:pPr>
            <a:r>
              <a:rPr lang="en-US" sz="4115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Project Description</a:t>
            </a:r>
          </a:p>
          <a:p>
            <a:pPr algn="l">
              <a:lnSpc>
                <a:spcPts val="3257"/>
              </a:lnSpc>
            </a:pPr>
            <a:r>
              <a:rPr lang="en-US" sz="3015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•This project focuses on analyzing food ordering data to understand customer preferences and food consumption trends.</a:t>
            </a:r>
          </a:p>
          <a:p>
            <a:pPr algn="l">
              <a:lnSpc>
                <a:spcPts val="3257"/>
              </a:lnSpc>
            </a:pPr>
            <a:r>
              <a:rPr lang="en-US" sz="3015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•The dataset is cleaned, transformed, and modeled using Power BI to ensure data accuracy and consistency.</a:t>
            </a:r>
          </a:p>
          <a:p>
            <a:pPr algn="l">
              <a:lnSpc>
                <a:spcPts val="3257"/>
              </a:lnSpc>
            </a:pPr>
            <a:r>
              <a:rPr lang="en-US" sz="3015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•Interactive dashboards are developed to analyze business performance, customer demographics, restaurant performance, and food trends.</a:t>
            </a:r>
          </a:p>
          <a:p>
            <a:pPr algn="l">
              <a:lnSpc>
                <a:spcPts val="3257"/>
              </a:lnSpc>
              <a:spcBef>
                <a:spcPct val="0"/>
              </a:spcBef>
            </a:pPr>
            <a:r>
              <a:rPr lang="en-US" sz="3015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7F1F6198-10C1-B726-AF9B-8F5A4C453F85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2010" b="-1"/>
          <a:stretch>
            <a:fillRect/>
          </a:stretch>
        </p:blipFill>
        <p:spPr>
          <a:xfrm>
            <a:off x="0" y="6571721"/>
            <a:ext cx="4563112" cy="371527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95BB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5"/>
          <p:cNvSpPr/>
          <p:nvPr/>
        </p:nvSpPr>
        <p:spPr>
          <a:xfrm>
            <a:off x="1028700" y="783602"/>
            <a:ext cx="328057" cy="273779"/>
          </a:xfrm>
          <a:custGeom>
            <a:avLst/>
            <a:gdLst/>
            <a:ahLst/>
            <a:cxnLst/>
            <a:rect l="l" t="t" r="r" b="b"/>
            <a:pathLst>
              <a:path w="328057" h="273779">
                <a:moveTo>
                  <a:pt x="0" y="0"/>
                </a:moveTo>
                <a:lnTo>
                  <a:pt x="328057" y="0"/>
                </a:lnTo>
                <a:lnTo>
                  <a:pt x="328057" y="273779"/>
                </a:lnTo>
                <a:lnTo>
                  <a:pt x="0" y="27377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2045974" y="1524984"/>
            <a:ext cx="3647219" cy="9892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  <a:spcBef>
                <a:spcPct val="0"/>
              </a:spcBef>
            </a:pPr>
            <a:r>
              <a:rPr lang="en-US" sz="673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Data Set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7217551" y="2885210"/>
            <a:ext cx="10394739" cy="60632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13"/>
              </a:lnSpc>
            </a:pPr>
            <a:r>
              <a:rPr lang="en-US" sz="3253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Source: Kaggle </a:t>
            </a:r>
          </a:p>
          <a:p>
            <a:pPr algn="l">
              <a:lnSpc>
                <a:spcPts val="3513"/>
              </a:lnSpc>
            </a:pPr>
            <a:endParaRPr lang="en-US" sz="3253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l">
              <a:lnSpc>
                <a:spcPts val="3513"/>
              </a:lnSpc>
            </a:pPr>
            <a:r>
              <a:rPr lang="en-US" sz="3253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•The dataset contains structured data related to food ,orders, customers, restaurants, and menu table.</a:t>
            </a:r>
          </a:p>
          <a:p>
            <a:pPr algn="l">
              <a:lnSpc>
                <a:spcPts val="3513"/>
              </a:lnSpc>
            </a:pPr>
            <a:r>
              <a:rPr lang="en-US" sz="3253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•It includes key attributes such as order details, food categories, prices, customer demographics, ratings, and location information.</a:t>
            </a:r>
          </a:p>
          <a:p>
            <a:pPr algn="l">
              <a:lnSpc>
                <a:spcPts val="3513"/>
              </a:lnSpc>
            </a:pPr>
            <a:r>
              <a:rPr lang="en-US" sz="3253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•The data covers multiple cities and restaurants, enabling comparative and trend-based analysis.</a:t>
            </a:r>
          </a:p>
          <a:p>
            <a:pPr algn="l">
              <a:lnSpc>
                <a:spcPts val="3513"/>
              </a:lnSpc>
            </a:pPr>
            <a:r>
              <a:rPr lang="en-US" sz="3253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•The dataset supports analysis of customer preferences, food trends, ordering behavior, and revenue patterns.</a:t>
            </a:r>
          </a:p>
          <a:p>
            <a:pPr algn="l">
              <a:lnSpc>
                <a:spcPts val="3513"/>
              </a:lnSpc>
            </a:pPr>
            <a:r>
              <a:rPr lang="en-US" sz="3253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•This dataset is suitable for building interactive dashboards and generating business-focused insights using Power BI.</a:t>
            </a:r>
          </a:p>
          <a:p>
            <a:pPr algn="ctr">
              <a:lnSpc>
                <a:spcPts val="2649"/>
              </a:lnSpc>
              <a:spcBef>
                <a:spcPct val="0"/>
              </a:spcBef>
            </a:pPr>
            <a:endParaRPr lang="en-US" sz="3253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5958535" y="3771900"/>
            <a:ext cx="2329465" cy="2355180"/>
            <a:chOff x="0" y="0"/>
            <a:chExt cx="719015" cy="72695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719015" cy="726953"/>
            </a:xfrm>
            <a:custGeom>
              <a:avLst/>
              <a:gdLst/>
              <a:ahLst/>
              <a:cxnLst/>
              <a:rect l="l" t="t" r="r" b="b"/>
              <a:pathLst>
                <a:path w="719015" h="726953">
                  <a:moveTo>
                    <a:pt x="359508" y="0"/>
                  </a:moveTo>
                  <a:cubicBezTo>
                    <a:pt x="160957" y="0"/>
                    <a:pt x="0" y="162734"/>
                    <a:pt x="0" y="363476"/>
                  </a:cubicBezTo>
                  <a:cubicBezTo>
                    <a:pt x="0" y="564219"/>
                    <a:pt x="160957" y="726953"/>
                    <a:pt x="359508" y="726953"/>
                  </a:cubicBezTo>
                  <a:cubicBezTo>
                    <a:pt x="558058" y="726953"/>
                    <a:pt x="719015" y="564219"/>
                    <a:pt x="719015" y="363476"/>
                  </a:cubicBezTo>
                  <a:cubicBezTo>
                    <a:pt x="719015" y="162734"/>
                    <a:pt x="558058" y="0"/>
                    <a:pt x="359508" y="0"/>
                  </a:cubicBezTo>
                  <a:close/>
                </a:path>
              </a:pathLst>
            </a:custGeom>
            <a:solidFill>
              <a:srgbClr val="295BBE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67408" y="68152"/>
              <a:ext cx="584200" cy="59064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17"/>
                </a:lnSpc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10789934" y="4481763"/>
            <a:ext cx="7498066" cy="5368595"/>
          </a:xfrm>
          <a:custGeom>
            <a:avLst/>
            <a:gdLst/>
            <a:ahLst/>
            <a:cxnLst/>
            <a:rect l="l" t="t" r="r" b="b"/>
            <a:pathLst>
              <a:path w="7498066" h="5368595">
                <a:moveTo>
                  <a:pt x="0" y="0"/>
                </a:moveTo>
                <a:lnTo>
                  <a:pt x="7498066" y="0"/>
                </a:lnTo>
                <a:lnTo>
                  <a:pt x="7498066" y="5368595"/>
                </a:lnTo>
                <a:lnTo>
                  <a:pt x="0" y="536859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4300"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10433749" y="1487276"/>
            <a:ext cx="7665490" cy="6650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11"/>
              </a:lnSpc>
              <a:spcBef>
                <a:spcPct val="0"/>
              </a:spcBef>
            </a:pPr>
            <a:r>
              <a:rPr lang="en-US" sz="4547" b="1">
                <a:solidFill>
                  <a:srgbClr val="295BBE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Project Execution Milestones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28700" y="251608"/>
            <a:ext cx="8655688" cy="85060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658"/>
              </a:lnSpc>
            </a:pPr>
            <a:r>
              <a:rPr lang="en-US" sz="4313" b="1">
                <a:solidFill>
                  <a:srgbClr val="295BBE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Milestone-1</a:t>
            </a:r>
          </a:p>
          <a:p>
            <a:pPr algn="just">
              <a:lnSpc>
                <a:spcPts val="3470"/>
              </a:lnSpc>
            </a:pPr>
            <a:r>
              <a:rPr lang="en-US" sz="3213" b="1">
                <a:solidFill>
                  <a:srgbClr val="295BBE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food.csv</a:t>
            </a:r>
          </a:p>
          <a:p>
            <a:pPr marL="693800" lvl="1" indent="-346900" algn="just">
              <a:lnSpc>
                <a:spcPts val="3470"/>
              </a:lnSpc>
              <a:buFont typeface="Arial"/>
              <a:buChar char="•"/>
            </a:pPr>
            <a:r>
              <a:rPr lang="en-US" sz="3213">
                <a:solidFill>
                  <a:srgbClr val="295BB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Capitalizedcolumns FID, Item, Veg_or_NonVeg</a:t>
            </a:r>
          </a:p>
          <a:p>
            <a:pPr marL="693800" lvl="1" indent="-346900" algn="just">
              <a:lnSpc>
                <a:spcPts val="3470"/>
              </a:lnSpc>
              <a:buFont typeface="Arial"/>
              <a:buChar char="•"/>
            </a:pPr>
            <a:r>
              <a:rPr lang="en-US" sz="3213">
                <a:solidFill>
                  <a:srgbClr val="295BB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Trimmed all columns</a:t>
            </a:r>
          </a:p>
          <a:p>
            <a:pPr marL="693800" lvl="1" indent="-346900" algn="just">
              <a:lnSpc>
                <a:spcPts val="3470"/>
              </a:lnSpc>
              <a:buFont typeface="Arial"/>
              <a:buChar char="•"/>
            </a:pPr>
            <a:r>
              <a:rPr lang="en-US" sz="3213">
                <a:solidFill>
                  <a:srgbClr val="295BB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Removed duplicate records</a:t>
            </a:r>
          </a:p>
          <a:p>
            <a:pPr marL="693800" lvl="1" indent="-346900" algn="just">
              <a:lnSpc>
                <a:spcPts val="3470"/>
              </a:lnSpc>
              <a:buFont typeface="Arial"/>
              <a:buChar char="•"/>
            </a:pPr>
            <a:r>
              <a:rPr lang="en-US" sz="3213">
                <a:solidFill>
                  <a:srgbClr val="295BB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Removed null/empty rows</a:t>
            </a:r>
          </a:p>
          <a:p>
            <a:pPr marL="693800" lvl="1" indent="-346900" algn="just">
              <a:lnSpc>
                <a:spcPts val="3470"/>
              </a:lnSpc>
              <a:buFont typeface="Arial"/>
              <a:buChar char="•"/>
            </a:pPr>
            <a:r>
              <a:rPr lang="en-US" sz="3213">
                <a:solidFill>
                  <a:srgbClr val="295BB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Auto-detected data types</a:t>
            </a:r>
          </a:p>
          <a:p>
            <a:pPr marL="693800" lvl="1" indent="-346900" algn="just">
              <a:lnSpc>
                <a:spcPts val="3470"/>
              </a:lnSpc>
              <a:buFont typeface="Arial"/>
              <a:buChar char="•"/>
            </a:pPr>
            <a:endParaRPr lang="en-US" sz="3213">
              <a:solidFill>
                <a:srgbClr val="295BBE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just">
              <a:lnSpc>
                <a:spcPts val="3470"/>
              </a:lnSpc>
            </a:pPr>
            <a:r>
              <a:rPr lang="en-US" sz="3213" b="1">
                <a:solidFill>
                  <a:srgbClr val="295BBE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restaurants.csv</a:t>
            </a:r>
          </a:p>
          <a:p>
            <a:pPr marL="693800" lvl="1" indent="-346900" algn="just">
              <a:lnSpc>
                <a:spcPts val="3470"/>
              </a:lnSpc>
              <a:buFont typeface="Arial"/>
              <a:buChar char="•"/>
            </a:pPr>
            <a:r>
              <a:rPr lang="en-US" sz="3213">
                <a:solidFill>
                  <a:srgbClr val="295BB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Capitalized and trimmed Name column</a:t>
            </a:r>
          </a:p>
          <a:p>
            <a:pPr marL="693800" lvl="1" indent="-346900" algn="just">
              <a:lnSpc>
                <a:spcPts val="3470"/>
              </a:lnSpc>
              <a:buFont typeface="Arial"/>
              <a:buChar char="•"/>
            </a:pPr>
            <a:r>
              <a:rPr lang="en-US" sz="3213">
                <a:solidFill>
                  <a:srgbClr val="295BB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Added New_Restaurant column based on Rating</a:t>
            </a:r>
          </a:p>
          <a:p>
            <a:pPr marL="693800" lvl="1" indent="-346900" algn="just">
              <a:lnSpc>
                <a:spcPts val="3470"/>
              </a:lnSpc>
              <a:buFont typeface="Arial"/>
              <a:buChar char="•"/>
            </a:pPr>
            <a:r>
              <a:rPr lang="en-US" sz="3213">
                <a:solidFill>
                  <a:srgbClr val="295BB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Added Ratings_Bound column (mid-point of rating range)</a:t>
            </a:r>
          </a:p>
          <a:p>
            <a:pPr marL="693800" lvl="1" indent="-346900" algn="just">
              <a:lnSpc>
                <a:spcPts val="3470"/>
              </a:lnSpc>
              <a:buFont typeface="Arial"/>
              <a:buChar char="•"/>
            </a:pPr>
            <a:r>
              <a:rPr lang="en-US" sz="3213">
                <a:solidFill>
                  <a:srgbClr val="295BB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Split and unpivoted multi-valued Cuisine</a:t>
            </a:r>
          </a:p>
          <a:p>
            <a:pPr marL="693800" lvl="1" indent="-346900" algn="just">
              <a:lnSpc>
                <a:spcPts val="3470"/>
              </a:lnSpc>
              <a:buFont typeface="Arial"/>
              <a:buChar char="•"/>
            </a:pPr>
            <a:r>
              <a:rPr lang="en-US" sz="3213">
                <a:solidFill>
                  <a:srgbClr val="295BB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Split City and derived Locality using custom logic</a:t>
            </a:r>
          </a:p>
          <a:p>
            <a:pPr algn="just">
              <a:lnSpc>
                <a:spcPts val="3470"/>
              </a:lnSpc>
            </a:pPr>
            <a:endParaRPr lang="en-US" sz="3213">
              <a:solidFill>
                <a:srgbClr val="295BBE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just">
              <a:lnSpc>
                <a:spcPts val="3470"/>
              </a:lnSpc>
              <a:spcBef>
                <a:spcPct val="0"/>
              </a:spcBef>
            </a:pPr>
            <a:endParaRPr lang="en-US" sz="3213">
              <a:solidFill>
                <a:srgbClr val="295BBE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/>
          <p:cNvSpPr txBox="1"/>
          <p:nvPr/>
        </p:nvSpPr>
        <p:spPr>
          <a:xfrm>
            <a:off x="14966156" y="7447667"/>
            <a:ext cx="928687" cy="817844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1917"/>
              </a:lnSpc>
            </a:pPr>
            <a:endParaRPr/>
          </a:p>
        </p:txBody>
      </p:sp>
      <p:sp>
        <p:nvSpPr>
          <p:cNvPr id="5" name="TextBox 5"/>
          <p:cNvSpPr txBox="1"/>
          <p:nvPr/>
        </p:nvSpPr>
        <p:spPr>
          <a:xfrm>
            <a:off x="1028700" y="1211606"/>
            <a:ext cx="10010255" cy="85366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37"/>
              </a:lnSpc>
              <a:spcBef>
                <a:spcPct val="0"/>
              </a:spcBef>
            </a:pPr>
            <a:r>
              <a:rPr lang="en-US" sz="3275" b="1">
                <a:solidFill>
                  <a:srgbClr val="295BBE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orders.csv</a:t>
            </a:r>
          </a:p>
          <a:p>
            <a:pPr algn="l">
              <a:lnSpc>
                <a:spcPts val="3537"/>
              </a:lnSpc>
              <a:spcBef>
                <a:spcPct val="0"/>
              </a:spcBef>
            </a:pPr>
            <a:r>
              <a:rPr lang="en-US" sz="3275">
                <a:solidFill>
                  <a:srgbClr val="295BB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Prefixed IDs (U for UID, R for RID, O for OID)</a:t>
            </a:r>
          </a:p>
          <a:p>
            <a:pPr algn="l">
              <a:lnSpc>
                <a:spcPts val="3537"/>
              </a:lnSpc>
              <a:spcBef>
                <a:spcPct val="0"/>
              </a:spcBef>
            </a:pPr>
            <a:r>
              <a:rPr lang="en-US" sz="3275">
                <a:solidFill>
                  <a:srgbClr val="295BB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Converted sales to INR in Amount_Rupees</a:t>
            </a:r>
          </a:p>
          <a:p>
            <a:pPr algn="l">
              <a:lnSpc>
                <a:spcPts val="3537"/>
              </a:lnSpc>
              <a:spcBef>
                <a:spcPct val="0"/>
              </a:spcBef>
            </a:pPr>
            <a:r>
              <a:rPr lang="en-US" sz="3275">
                <a:solidFill>
                  <a:srgbClr val="295BB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Added Order_Day from Order_Date</a:t>
            </a:r>
          </a:p>
          <a:p>
            <a:pPr algn="l">
              <a:lnSpc>
                <a:spcPts val="3537"/>
              </a:lnSpc>
              <a:spcBef>
                <a:spcPct val="0"/>
              </a:spcBef>
            </a:pPr>
            <a:r>
              <a:rPr lang="en-US" sz="3275">
                <a:solidFill>
                  <a:srgbClr val="295BB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Removed duplicate records</a:t>
            </a:r>
          </a:p>
          <a:p>
            <a:pPr algn="l">
              <a:lnSpc>
                <a:spcPts val="3537"/>
              </a:lnSpc>
              <a:spcBef>
                <a:spcPct val="0"/>
              </a:spcBef>
            </a:pPr>
            <a:r>
              <a:rPr lang="en-US" sz="3275">
                <a:solidFill>
                  <a:srgbClr val="295BB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Removed rows with negative Sales_Amount</a:t>
            </a:r>
          </a:p>
          <a:p>
            <a:pPr algn="l">
              <a:lnSpc>
                <a:spcPts val="3537"/>
              </a:lnSpc>
              <a:spcBef>
                <a:spcPct val="0"/>
              </a:spcBef>
            </a:pPr>
            <a:r>
              <a:rPr lang="en-US" sz="3275">
                <a:solidFill>
                  <a:srgbClr val="295BB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Auto-detected data types</a:t>
            </a:r>
          </a:p>
          <a:p>
            <a:pPr algn="l">
              <a:lnSpc>
                <a:spcPts val="3537"/>
              </a:lnSpc>
              <a:spcBef>
                <a:spcPct val="0"/>
              </a:spcBef>
            </a:pPr>
            <a:endParaRPr lang="en-US" sz="3275">
              <a:solidFill>
                <a:srgbClr val="295BBE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l">
              <a:lnSpc>
                <a:spcPts val="3537"/>
              </a:lnSpc>
              <a:spcBef>
                <a:spcPct val="0"/>
              </a:spcBef>
            </a:pPr>
            <a:r>
              <a:rPr lang="en-US" sz="3275" b="1">
                <a:solidFill>
                  <a:srgbClr val="295BBE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customers.csv</a:t>
            </a:r>
          </a:p>
          <a:p>
            <a:pPr algn="l">
              <a:lnSpc>
                <a:spcPts val="3537"/>
              </a:lnSpc>
              <a:spcBef>
                <a:spcPct val="0"/>
              </a:spcBef>
            </a:pPr>
            <a:r>
              <a:rPr lang="en-US" sz="3275">
                <a:solidFill>
                  <a:srgbClr val="295BB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Capitalized and trimmed Name, Occupation, Qualifications</a:t>
            </a:r>
          </a:p>
          <a:p>
            <a:pPr algn="l">
              <a:lnSpc>
                <a:spcPts val="3537"/>
              </a:lnSpc>
              <a:spcBef>
                <a:spcPct val="0"/>
              </a:spcBef>
            </a:pPr>
            <a:r>
              <a:rPr lang="en-US" sz="3275">
                <a:solidFill>
                  <a:srgbClr val="295BB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Removed sensitive/unwanted columns</a:t>
            </a:r>
          </a:p>
          <a:p>
            <a:pPr algn="l">
              <a:lnSpc>
                <a:spcPts val="3537"/>
              </a:lnSpc>
              <a:spcBef>
                <a:spcPct val="0"/>
              </a:spcBef>
            </a:pPr>
            <a:r>
              <a:rPr lang="en-US" sz="3275">
                <a:solidFill>
                  <a:srgbClr val="295BB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Added Income_Bound for income sorting</a:t>
            </a:r>
          </a:p>
          <a:p>
            <a:pPr algn="l">
              <a:lnSpc>
                <a:spcPts val="3537"/>
              </a:lnSpc>
              <a:spcBef>
                <a:spcPct val="0"/>
              </a:spcBef>
            </a:pPr>
            <a:endParaRPr lang="en-US" sz="3275">
              <a:solidFill>
                <a:srgbClr val="295BBE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l">
              <a:lnSpc>
                <a:spcPts val="3537"/>
              </a:lnSpc>
              <a:spcBef>
                <a:spcPct val="0"/>
              </a:spcBef>
            </a:pPr>
            <a:r>
              <a:rPr lang="en-US" sz="3275" b="1">
                <a:solidFill>
                  <a:srgbClr val="295BBE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menu.csv</a:t>
            </a:r>
          </a:p>
          <a:p>
            <a:pPr algn="l">
              <a:lnSpc>
                <a:spcPts val="3537"/>
              </a:lnSpc>
              <a:spcBef>
                <a:spcPct val="0"/>
              </a:spcBef>
            </a:pPr>
            <a:r>
              <a:rPr lang="en-US" sz="3275">
                <a:solidFill>
                  <a:srgbClr val="295BB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Split and unpivoted multi-valued Cuisine</a:t>
            </a:r>
          </a:p>
          <a:p>
            <a:pPr algn="l">
              <a:lnSpc>
                <a:spcPts val="3537"/>
              </a:lnSpc>
              <a:spcBef>
                <a:spcPct val="0"/>
              </a:spcBef>
            </a:pPr>
            <a:r>
              <a:rPr lang="en-US" sz="3275">
                <a:solidFill>
                  <a:srgbClr val="295BB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Prefixed IDs (F, R, M) for clarity</a:t>
            </a:r>
          </a:p>
          <a:p>
            <a:pPr algn="l">
              <a:lnSpc>
                <a:spcPts val="3537"/>
              </a:lnSpc>
              <a:spcBef>
                <a:spcPct val="0"/>
              </a:spcBef>
            </a:pPr>
            <a:r>
              <a:rPr lang="en-US" sz="3275">
                <a:solidFill>
                  <a:srgbClr val="295BB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Removed unwanted columns</a:t>
            </a:r>
          </a:p>
          <a:p>
            <a:pPr algn="l">
              <a:lnSpc>
                <a:spcPts val="3537"/>
              </a:lnSpc>
              <a:spcBef>
                <a:spcPct val="0"/>
              </a:spcBef>
            </a:pPr>
            <a:r>
              <a:rPr lang="en-US" sz="3275">
                <a:solidFill>
                  <a:srgbClr val="295BB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Removed duplicate records</a:t>
            </a:r>
          </a:p>
          <a:p>
            <a:pPr algn="l">
              <a:lnSpc>
                <a:spcPts val="3537"/>
              </a:lnSpc>
              <a:spcBef>
                <a:spcPct val="0"/>
              </a:spcBef>
            </a:pPr>
            <a:r>
              <a:rPr lang="en-US" sz="3275">
                <a:solidFill>
                  <a:srgbClr val="295BB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Auto-detected data types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95BB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28700" y="783602"/>
            <a:ext cx="328057" cy="273779"/>
          </a:xfrm>
          <a:custGeom>
            <a:avLst/>
            <a:gdLst/>
            <a:ahLst/>
            <a:cxnLst/>
            <a:rect l="l" t="t" r="r" b="b"/>
            <a:pathLst>
              <a:path w="328057" h="273779">
                <a:moveTo>
                  <a:pt x="0" y="0"/>
                </a:moveTo>
                <a:lnTo>
                  <a:pt x="328057" y="0"/>
                </a:lnTo>
                <a:lnTo>
                  <a:pt x="328057" y="273779"/>
                </a:lnTo>
                <a:lnTo>
                  <a:pt x="0" y="27377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72379" y="1057381"/>
            <a:ext cx="6038408" cy="3668034"/>
            <a:chOff x="0" y="0"/>
            <a:chExt cx="935507" cy="568274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935507" cy="568274"/>
            </a:xfrm>
            <a:custGeom>
              <a:avLst/>
              <a:gdLst/>
              <a:ahLst/>
              <a:cxnLst/>
              <a:rect l="l" t="t" r="r" b="b"/>
              <a:pathLst>
                <a:path w="935507" h="568274">
                  <a:moveTo>
                    <a:pt x="0" y="0"/>
                  </a:moveTo>
                  <a:lnTo>
                    <a:pt x="935507" y="0"/>
                  </a:lnTo>
                  <a:lnTo>
                    <a:pt x="935507" y="568274"/>
                  </a:lnTo>
                  <a:lnTo>
                    <a:pt x="0" y="568274"/>
                  </a:lnTo>
                  <a:close/>
                </a:path>
              </a:pathLst>
            </a:custGeom>
            <a:blipFill>
              <a:blip r:embed="rId4"/>
              <a:stretch>
                <a:fillRect t="-439" b="-439"/>
              </a:stretch>
            </a:blipFill>
          </p:spPr>
        </p:sp>
      </p:grpSp>
      <p:grpSp>
        <p:nvGrpSpPr>
          <p:cNvPr id="5" name="Group 5"/>
          <p:cNvGrpSpPr/>
          <p:nvPr/>
        </p:nvGrpSpPr>
        <p:grpSpPr>
          <a:xfrm>
            <a:off x="6286987" y="1057381"/>
            <a:ext cx="6006310" cy="3668034"/>
            <a:chOff x="0" y="0"/>
            <a:chExt cx="930535" cy="568274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930535" cy="568274"/>
            </a:xfrm>
            <a:custGeom>
              <a:avLst/>
              <a:gdLst/>
              <a:ahLst/>
              <a:cxnLst/>
              <a:rect l="l" t="t" r="r" b="b"/>
              <a:pathLst>
                <a:path w="930535" h="568274">
                  <a:moveTo>
                    <a:pt x="0" y="0"/>
                  </a:moveTo>
                  <a:lnTo>
                    <a:pt x="930535" y="0"/>
                  </a:lnTo>
                  <a:lnTo>
                    <a:pt x="930535" y="568274"/>
                  </a:lnTo>
                  <a:lnTo>
                    <a:pt x="0" y="568274"/>
                  </a:lnTo>
                  <a:close/>
                </a:path>
              </a:pathLst>
            </a:custGeom>
            <a:blipFill>
              <a:blip r:embed="rId5"/>
              <a:stretch>
                <a:fillRect l="-2119" r="-2119"/>
              </a:stretch>
            </a:blipFill>
          </p:spPr>
        </p:sp>
      </p:grpSp>
      <p:grpSp>
        <p:nvGrpSpPr>
          <p:cNvPr id="7" name="Group 7"/>
          <p:cNvGrpSpPr/>
          <p:nvPr/>
        </p:nvGrpSpPr>
        <p:grpSpPr>
          <a:xfrm>
            <a:off x="12369497" y="1028700"/>
            <a:ext cx="5777174" cy="3668034"/>
            <a:chOff x="0" y="0"/>
            <a:chExt cx="835340" cy="530373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35340" cy="530373"/>
            </a:xfrm>
            <a:custGeom>
              <a:avLst/>
              <a:gdLst/>
              <a:ahLst/>
              <a:cxnLst/>
              <a:rect l="l" t="t" r="r" b="b"/>
              <a:pathLst>
                <a:path w="835340" h="530373">
                  <a:moveTo>
                    <a:pt x="0" y="0"/>
                  </a:moveTo>
                  <a:lnTo>
                    <a:pt x="835340" y="0"/>
                  </a:lnTo>
                  <a:lnTo>
                    <a:pt x="835340" y="530373"/>
                  </a:lnTo>
                  <a:lnTo>
                    <a:pt x="0" y="530373"/>
                  </a:lnTo>
                  <a:close/>
                </a:path>
              </a:pathLst>
            </a:custGeom>
            <a:blipFill>
              <a:blip r:embed="rId6"/>
              <a:stretch>
                <a:fillRect l="-2938" r="-2938"/>
              </a:stretch>
            </a:blipFill>
          </p:spPr>
        </p:sp>
      </p:grpSp>
      <p:sp>
        <p:nvSpPr>
          <p:cNvPr id="9" name="TextBox 9"/>
          <p:cNvSpPr txBox="1"/>
          <p:nvPr/>
        </p:nvSpPr>
        <p:spPr>
          <a:xfrm>
            <a:off x="7372902" y="124849"/>
            <a:ext cx="2840712" cy="6587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33"/>
              </a:lnSpc>
              <a:spcBef>
                <a:spcPct val="0"/>
              </a:spcBef>
            </a:pPr>
            <a:r>
              <a:rPr lang="en-US" sz="4475" b="1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Milestone-2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386721" y="5153025"/>
            <a:ext cx="5609724" cy="32015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781"/>
              </a:lnSpc>
              <a:spcBef>
                <a:spcPct val="0"/>
              </a:spcBef>
            </a:pPr>
            <a:r>
              <a:rPr lang="en-US" sz="2575" b="1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BUSINESS OVERVIEW</a:t>
            </a:r>
          </a:p>
          <a:p>
            <a:pPr algn="just">
              <a:lnSpc>
                <a:spcPts val="2781"/>
              </a:lnSpc>
              <a:spcBef>
                <a:spcPct val="0"/>
              </a:spcBef>
            </a:pPr>
            <a:endParaRPr lang="en-US" sz="2575" b="1">
              <a:solidFill>
                <a:srgbClr val="FFFFFF"/>
              </a:solidFill>
              <a:latin typeface="Times New Roman Bold"/>
              <a:ea typeface="Times New Roman Bold"/>
              <a:cs typeface="Times New Roman Bold"/>
              <a:sym typeface="Times New Roman Bold"/>
            </a:endParaRPr>
          </a:p>
          <a:p>
            <a:pPr algn="just">
              <a:lnSpc>
                <a:spcPts val="2781"/>
              </a:lnSpc>
              <a:spcBef>
                <a:spcPct val="0"/>
              </a:spcBef>
            </a:pPr>
            <a:r>
              <a:rPr lang="en-US" sz="2575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•Revenue is highly concentrated in top cities, indicating that a few urban markets drive the majority of total sales..</a:t>
            </a:r>
          </a:p>
          <a:p>
            <a:pPr algn="just">
              <a:lnSpc>
                <a:spcPts val="2781"/>
              </a:lnSpc>
              <a:spcBef>
                <a:spcPct val="0"/>
              </a:spcBef>
            </a:pPr>
            <a:r>
              <a:rPr lang="en-US" sz="2575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•Orders are highest on weekdays, suggesting stable and recurring demand rather than weekend-only ordering behavior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6331184" y="5011165"/>
            <a:ext cx="5917916" cy="3801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37"/>
              </a:lnSpc>
              <a:spcBef>
                <a:spcPct val="0"/>
              </a:spcBef>
            </a:pPr>
            <a:r>
              <a:rPr lang="en-US" sz="2534" b="1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CUSTOMER ANALYSIS</a:t>
            </a:r>
          </a:p>
          <a:p>
            <a:pPr algn="l">
              <a:lnSpc>
                <a:spcPts val="2737"/>
              </a:lnSpc>
              <a:spcBef>
                <a:spcPct val="0"/>
              </a:spcBef>
            </a:pPr>
            <a:endParaRPr lang="en-US" sz="2534" b="1">
              <a:solidFill>
                <a:srgbClr val="FFFFFF"/>
              </a:solidFill>
              <a:latin typeface="Times New Roman Bold"/>
              <a:ea typeface="Times New Roman Bold"/>
              <a:cs typeface="Times New Roman Bold"/>
              <a:sym typeface="Times New Roman Bold"/>
            </a:endParaRPr>
          </a:p>
          <a:p>
            <a:pPr algn="l">
              <a:lnSpc>
                <a:spcPts val="2737"/>
              </a:lnSpc>
              <a:spcBef>
                <a:spcPct val="0"/>
              </a:spcBef>
            </a:pPr>
            <a:r>
              <a:rPr lang="en-US" sz="2534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•Customers with no income levels contribute the highest revenue, indicating strong purchasing power and frequent ordering.</a:t>
            </a:r>
          </a:p>
          <a:p>
            <a:pPr algn="l">
              <a:lnSpc>
                <a:spcPts val="2737"/>
              </a:lnSpc>
              <a:spcBef>
                <a:spcPct val="0"/>
              </a:spcBef>
            </a:pPr>
            <a:r>
              <a:rPr lang="en-US" sz="2534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•Family size of 2–3 members places the most orders, making small families the most active customer segment.</a:t>
            </a:r>
          </a:p>
          <a:p>
            <a:pPr algn="l">
              <a:lnSpc>
                <a:spcPts val="2737"/>
              </a:lnSpc>
              <a:spcBef>
                <a:spcPct val="0"/>
              </a:spcBef>
            </a:pPr>
            <a:r>
              <a:rPr lang="en-US" sz="2534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•Revenue contribution is relatively balanced across genders, showing no strong gender bias in food ordering behavior.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2293297" y="5011165"/>
            <a:ext cx="5777174" cy="46112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81"/>
              </a:lnSpc>
              <a:spcBef>
                <a:spcPct val="0"/>
              </a:spcBef>
            </a:pPr>
            <a:r>
              <a:rPr lang="en-US" sz="2575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lang="en-US" sz="2575" b="1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ESTAURANT PERFORMANCES</a:t>
            </a:r>
            <a:r>
              <a:rPr lang="en-US" sz="2575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</a:p>
          <a:p>
            <a:pPr algn="l">
              <a:lnSpc>
                <a:spcPts val="2781"/>
              </a:lnSpc>
              <a:spcBef>
                <a:spcPct val="0"/>
              </a:spcBef>
            </a:pPr>
            <a:endParaRPr lang="en-US" sz="2575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l">
              <a:lnSpc>
                <a:spcPts val="2781"/>
              </a:lnSpc>
              <a:spcBef>
                <a:spcPct val="0"/>
              </a:spcBef>
            </a:pPr>
            <a:r>
              <a:rPr lang="en-US" sz="2575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•A small number of restaurants generate a disproportionately high share of revenue, highlighting key partner restaurants.</a:t>
            </a:r>
          </a:p>
          <a:p>
            <a:pPr algn="l">
              <a:lnSpc>
                <a:spcPts val="2781"/>
              </a:lnSpc>
              <a:spcBef>
                <a:spcPct val="0"/>
              </a:spcBef>
            </a:pPr>
            <a:r>
              <a:rPr lang="en-US" sz="2575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•Higher ratings do not always result in higher order volume, indicating that affordability and availability influence customer choices.</a:t>
            </a:r>
          </a:p>
          <a:p>
            <a:pPr algn="l">
              <a:lnSpc>
                <a:spcPts val="2781"/>
              </a:lnSpc>
              <a:spcBef>
                <a:spcPct val="0"/>
              </a:spcBef>
            </a:pPr>
            <a:r>
              <a:rPr lang="en-US" sz="2575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•Popular cuisines consistently receive more orders across cities, making cuisine type a major driver of restaurant performance.</a:t>
            </a:r>
          </a:p>
          <a:p>
            <a:pPr algn="l">
              <a:lnSpc>
                <a:spcPts val="2781"/>
              </a:lnSpc>
              <a:spcBef>
                <a:spcPct val="0"/>
              </a:spcBef>
            </a:pPr>
            <a:endParaRPr lang="en-US" sz="2575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134103" y="0"/>
            <a:ext cx="9153897" cy="10287000"/>
            <a:chOff x="0" y="0"/>
            <a:chExt cx="2410903" cy="342891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10903" cy="3428919"/>
            </a:xfrm>
            <a:custGeom>
              <a:avLst/>
              <a:gdLst/>
              <a:ahLst/>
              <a:cxnLst/>
              <a:rect l="l" t="t" r="r" b="b"/>
              <a:pathLst>
                <a:path w="2410903" h="3428919">
                  <a:moveTo>
                    <a:pt x="0" y="0"/>
                  </a:moveTo>
                  <a:lnTo>
                    <a:pt x="2410903" y="0"/>
                  </a:lnTo>
                  <a:lnTo>
                    <a:pt x="2410903" y="3428919"/>
                  </a:lnTo>
                  <a:lnTo>
                    <a:pt x="0" y="3428919"/>
                  </a:lnTo>
                  <a:close/>
                </a:path>
              </a:pathLst>
            </a:custGeom>
            <a:solidFill>
              <a:srgbClr val="295BBE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0"/>
              <a:ext cx="2410903" cy="342891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17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9337978" y="479831"/>
            <a:ext cx="8771927" cy="4261100"/>
            <a:chOff x="0" y="0"/>
            <a:chExt cx="2166394" cy="105236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166395" cy="1052360"/>
            </a:xfrm>
            <a:custGeom>
              <a:avLst/>
              <a:gdLst/>
              <a:ahLst/>
              <a:cxnLst/>
              <a:rect l="l" t="t" r="r" b="b"/>
              <a:pathLst>
                <a:path w="2166395" h="1052360">
                  <a:moveTo>
                    <a:pt x="20299" y="0"/>
                  </a:moveTo>
                  <a:lnTo>
                    <a:pt x="2146095" y="0"/>
                  </a:lnTo>
                  <a:cubicBezTo>
                    <a:pt x="2157306" y="0"/>
                    <a:pt x="2166395" y="9088"/>
                    <a:pt x="2166395" y="20299"/>
                  </a:cubicBezTo>
                  <a:lnTo>
                    <a:pt x="2166395" y="1032061"/>
                  </a:lnTo>
                  <a:cubicBezTo>
                    <a:pt x="2166395" y="1043272"/>
                    <a:pt x="2157306" y="1052360"/>
                    <a:pt x="2146095" y="1052360"/>
                  </a:cubicBezTo>
                  <a:lnTo>
                    <a:pt x="20299" y="1052360"/>
                  </a:lnTo>
                  <a:cubicBezTo>
                    <a:pt x="14916" y="1052360"/>
                    <a:pt x="9752" y="1050221"/>
                    <a:pt x="5946" y="1046414"/>
                  </a:cubicBezTo>
                  <a:cubicBezTo>
                    <a:pt x="2139" y="1042607"/>
                    <a:pt x="0" y="1037444"/>
                    <a:pt x="0" y="1032061"/>
                  </a:cubicBezTo>
                  <a:lnTo>
                    <a:pt x="0" y="20299"/>
                  </a:lnTo>
                  <a:cubicBezTo>
                    <a:pt x="0" y="14916"/>
                    <a:pt x="2139" y="9752"/>
                    <a:pt x="5946" y="5946"/>
                  </a:cubicBezTo>
                  <a:cubicBezTo>
                    <a:pt x="9752" y="2139"/>
                    <a:pt x="14916" y="0"/>
                    <a:pt x="20299" y="0"/>
                  </a:cubicBezTo>
                  <a:close/>
                </a:path>
              </a:pathLst>
            </a:custGeom>
            <a:blipFill>
              <a:blip r:embed="rId3"/>
              <a:stretch>
                <a:fillRect t="-2052" b="-2052"/>
              </a:stretch>
            </a:blipFill>
            <a:ln w="28575" cap="rnd">
              <a:solidFill>
                <a:srgbClr val="FFFFFF"/>
              </a:solidFill>
              <a:prstDash val="solid"/>
              <a:round/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9337978" y="5541286"/>
            <a:ext cx="8771927" cy="4114800"/>
            <a:chOff x="0" y="0"/>
            <a:chExt cx="2166394" cy="1016228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166395" cy="1016228"/>
            </a:xfrm>
            <a:custGeom>
              <a:avLst/>
              <a:gdLst/>
              <a:ahLst/>
              <a:cxnLst/>
              <a:rect l="l" t="t" r="r" b="b"/>
              <a:pathLst>
                <a:path w="2166395" h="1016228">
                  <a:moveTo>
                    <a:pt x="20299" y="0"/>
                  </a:moveTo>
                  <a:lnTo>
                    <a:pt x="2146095" y="0"/>
                  </a:lnTo>
                  <a:cubicBezTo>
                    <a:pt x="2157306" y="0"/>
                    <a:pt x="2166395" y="9088"/>
                    <a:pt x="2166395" y="20299"/>
                  </a:cubicBezTo>
                  <a:lnTo>
                    <a:pt x="2166395" y="995929"/>
                  </a:lnTo>
                  <a:cubicBezTo>
                    <a:pt x="2166395" y="1007140"/>
                    <a:pt x="2157306" y="1016228"/>
                    <a:pt x="2146095" y="1016228"/>
                  </a:cubicBezTo>
                  <a:lnTo>
                    <a:pt x="20299" y="1016228"/>
                  </a:lnTo>
                  <a:cubicBezTo>
                    <a:pt x="14916" y="1016228"/>
                    <a:pt x="9752" y="1014090"/>
                    <a:pt x="5946" y="1010283"/>
                  </a:cubicBezTo>
                  <a:cubicBezTo>
                    <a:pt x="2139" y="1006476"/>
                    <a:pt x="0" y="1001313"/>
                    <a:pt x="0" y="995929"/>
                  </a:cubicBezTo>
                  <a:lnTo>
                    <a:pt x="0" y="20299"/>
                  </a:lnTo>
                  <a:cubicBezTo>
                    <a:pt x="0" y="14916"/>
                    <a:pt x="2139" y="9752"/>
                    <a:pt x="5946" y="5946"/>
                  </a:cubicBezTo>
                  <a:cubicBezTo>
                    <a:pt x="9752" y="2139"/>
                    <a:pt x="14916" y="0"/>
                    <a:pt x="20299" y="0"/>
                  </a:cubicBezTo>
                  <a:close/>
                </a:path>
              </a:pathLst>
            </a:custGeom>
            <a:blipFill>
              <a:blip r:embed="rId4"/>
              <a:stretch>
                <a:fillRect t="-3902" b="-3902"/>
              </a:stretch>
            </a:blipFill>
            <a:ln w="28575" cap="rnd">
              <a:solidFill>
                <a:srgbClr val="FFFFFF"/>
              </a:solidFill>
              <a:prstDash val="solid"/>
              <a:round/>
            </a:ln>
          </p:spPr>
        </p:sp>
      </p:grpSp>
      <p:sp>
        <p:nvSpPr>
          <p:cNvPr id="9" name="TextBox 9"/>
          <p:cNvSpPr txBox="1"/>
          <p:nvPr/>
        </p:nvSpPr>
        <p:spPr>
          <a:xfrm>
            <a:off x="2209800" y="283079"/>
            <a:ext cx="3621178" cy="7456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589"/>
              </a:lnSpc>
              <a:spcBef>
                <a:spcPct val="0"/>
              </a:spcBef>
            </a:pPr>
            <a:r>
              <a:rPr lang="en-US" sz="5175" b="1" dirty="0">
                <a:solidFill>
                  <a:srgbClr val="295BBE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Milestone-3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340897" y="1604624"/>
            <a:ext cx="8434294" cy="85957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05"/>
              </a:lnSpc>
            </a:pPr>
            <a:r>
              <a:rPr lang="en-US" sz="2875" dirty="0">
                <a:solidFill>
                  <a:srgbClr val="295BB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875" b="1" dirty="0">
                <a:solidFill>
                  <a:srgbClr val="295BBE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Food and Menu Trends</a:t>
            </a:r>
          </a:p>
          <a:p>
            <a:pPr algn="l">
              <a:lnSpc>
                <a:spcPts val="3105"/>
              </a:lnSpc>
            </a:pPr>
            <a:endParaRPr lang="en-US" sz="2875" b="1" dirty="0">
              <a:solidFill>
                <a:srgbClr val="295BBE"/>
              </a:solidFill>
              <a:latin typeface="Times New Roman Bold"/>
              <a:ea typeface="Times New Roman Bold"/>
              <a:cs typeface="Times New Roman Bold"/>
              <a:sym typeface="Times New Roman Bold"/>
            </a:endParaRPr>
          </a:p>
          <a:p>
            <a:pPr algn="l">
              <a:lnSpc>
                <a:spcPts val="3105"/>
              </a:lnSpc>
            </a:pPr>
            <a:r>
              <a:rPr lang="en-US" sz="2875" dirty="0">
                <a:solidFill>
                  <a:srgbClr val="295BB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•Veg food shows higher customer preference and revenue contribution than Non-Veg, indicating stronger demand for non-vegetarian menu options across cities.</a:t>
            </a:r>
          </a:p>
          <a:p>
            <a:pPr algn="l">
              <a:lnSpc>
                <a:spcPts val="3105"/>
              </a:lnSpc>
            </a:pPr>
            <a:r>
              <a:rPr lang="en-US" sz="2875" dirty="0">
                <a:solidFill>
                  <a:srgbClr val="295BB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•North Indian and Chinese cuisines dominate both quantity sold and revenue, making them core drivers of customer choice and repeat orders.</a:t>
            </a:r>
          </a:p>
          <a:p>
            <a:pPr algn="l">
              <a:lnSpc>
                <a:spcPts val="3105"/>
              </a:lnSpc>
            </a:pPr>
            <a:r>
              <a:rPr lang="en-US" sz="2875" dirty="0">
                <a:solidFill>
                  <a:srgbClr val="295BB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•A limited number of food items generate a large share of total revenue, suggesting that customers consistently prefer a few popular dishes over a wide variety.</a:t>
            </a:r>
          </a:p>
          <a:p>
            <a:pPr algn="l">
              <a:lnSpc>
                <a:spcPts val="3105"/>
              </a:lnSpc>
            </a:pPr>
            <a:endParaRPr lang="en-US" sz="2875" dirty="0">
              <a:solidFill>
                <a:srgbClr val="295BBE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l">
              <a:lnSpc>
                <a:spcPts val="3105"/>
              </a:lnSpc>
            </a:pPr>
            <a:r>
              <a:rPr lang="en-US" sz="2875" b="1" dirty="0">
                <a:solidFill>
                  <a:srgbClr val="295BBE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Ordering Insights</a:t>
            </a:r>
          </a:p>
          <a:p>
            <a:pPr algn="l">
              <a:lnSpc>
                <a:spcPts val="3105"/>
              </a:lnSpc>
            </a:pPr>
            <a:endParaRPr lang="en-US" sz="2875" b="1" dirty="0">
              <a:solidFill>
                <a:srgbClr val="295BBE"/>
              </a:solidFill>
              <a:latin typeface="Times New Roman Bold"/>
              <a:ea typeface="Times New Roman Bold"/>
              <a:cs typeface="Times New Roman Bold"/>
              <a:sym typeface="Times New Roman Bold"/>
            </a:endParaRPr>
          </a:p>
          <a:p>
            <a:pPr algn="l">
              <a:lnSpc>
                <a:spcPts val="3105"/>
              </a:lnSpc>
            </a:pPr>
            <a:r>
              <a:rPr lang="en-US" sz="2875" dirty="0">
                <a:solidFill>
                  <a:srgbClr val="295BB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•Medium-frequency customers contribute the highest share of revenue, indicating that regular but not excessive ordering customers are the most valuable segment.</a:t>
            </a:r>
          </a:p>
          <a:p>
            <a:pPr algn="l">
              <a:lnSpc>
                <a:spcPts val="3105"/>
              </a:lnSpc>
            </a:pPr>
            <a:r>
              <a:rPr lang="en-US" sz="2875" dirty="0">
                <a:solidFill>
                  <a:srgbClr val="295BB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Order volatility varies over time, highlighting seasonal demand patterns that can be used for targeted promotions and capacity planning</a:t>
            </a:r>
            <a:r>
              <a:rPr lang="en-US" sz="2875" b="1" dirty="0">
                <a:solidFill>
                  <a:srgbClr val="295BBE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.</a:t>
            </a:r>
          </a:p>
          <a:p>
            <a:pPr algn="l">
              <a:lnSpc>
                <a:spcPts val="3105"/>
              </a:lnSpc>
            </a:pPr>
            <a:endParaRPr lang="en-US" sz="2875" b="1" dirty="0">
              <a:solidFill>
                <a:srgbClr val="295BBE"/>
              </a:solidFill>
              <a:latin typeface="Times New Roman Bold"/>
              <a:ea typeface="Times New Roman Bold"/>
              <a:cs typeface="Times New Roman Bold"/>
              <a:sym typeface="Times New Roman Bold"/>
            </a:endParaRPr>
          </a:p>
          <a:p>
            <a:pPr algn="l">
              <a:lnSpc>
                <a:spcPts val="3105"/>
              </a:lnSpc>
            </a:pPr>
            <a:endParaRPr lang="en-US" sz="2875" b="1" dirty="0">
              <a:solidFill>
                <a:srgbClr val="295BBE"/>
              </a:solidFill>
              <a:latin typeface="Times New Roman Bold"/>
              <a:ea typeface="Times New Roman Bold"/>
              <a:cs typeface="Times New Roman Bold"/>
              <a:sym typeface="Times New Roman Bold"/>
            </a:endParaRPr>
          </a:p>
          <a:p>
            <a:pPr algn="l">
              <a:lnSpc>
                <a:spcPts val="2889"/>
              </a:lnSpc>
              <a:spcBef>
                <a:spcPct val="0"/>
              </a:spcBef>
            </a:pPr>
            <a:endParaRPr lang="en-US" sz="2875" b="1" dirty="0">
              <a:solidFill>
                <a:srgbClr val="295BBE"/>
              </a:solidFill>
              <a:latin typeface="Times New Roman Bold"/>
              <a:ea typeface="Times New Roman Bold"/>
              <a:cs typeface="Times New Roman Bold"/>
              <a:sym typeface="Times New Roman Bold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960666" y="1187100"/>
            <a:ext cx="8527983" cy="3956400"/>
            <a:chOff x="0" y="0"/>
            <a:chExt cx="2106148" cy="97710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106148" cy="977108"/>
            </a:xfrm>
            <a:custGeom>
              <a:avLst/>
              <a:gdLst/>
              <a:ahLst/>
              <a:cxnLst/>
              <a:rect l="l" t="t" r="r" b="b"/>
              <a:pathLst>
                <a:path w="2106148" h="977108">
                  <a:moveTo>
                    <a:pt x="20880" y="0"/>
                  </a:moveTo>
                  <a:lnTo>
                    <a:pt x="2085268" y="0"/>
                  </a:lnTo>
                  <a:cubicBezTo>
                    <a:pt x="2096800" y="0"/>
                    <a:pt x="2106148" y="9348"/>
                    <a:pt x="2106148" y="20880"/>
                  </a:cubicBezTo>
                  <a:lnTo>
                    <a:pt x="2106148" y="956228"/>
                  </a:lnTo>
                  <a:cubicBezTo>
                    <a:pt x="2106148" y="967760"/>
                    <a:pt x="2096800" y="977108"/>
                    <a:pt x="2085268" y="977108"/>
                  </a:cubicBezTo>
                  <a:lnTo>
                    <a:pt x="20880" y="977108"/>
                  </a:lnTo>
                  <a:cubicBezTo>
                    <a:pt x="9348" y="977108"/>
                    <a:pt x="0" y="967760"/>
                    <a:pt x="0" y="956228"/>
                  </a:cubicBezTo>
                  <a:lnTo>
                    <a:pt x="0" y="20880"/>
                  </a:lnTo>
                  <a:cubicBezTo>
                    <a:pt x="0" y="9348"/>
                    <a:pt x="9348" y="0"/>
                    <a:pt x="20880" y="0"/>
                  </a:cubicBezTo>
                  <a:close/>
                </a:path>
              </a:pathLst>
            </a:custGeom>
            <a:blipFill>
              <a:blip r:embed="rId2"/>
              <a:stretch>
                <a:fillRect t="-2846" b="-2846"/>
              </a:stretch>
            </a:blipFill>
            <a:ln w="28575" cap="rnd">
              <a:solidFill>
                <a:srgbClr val="295BBE"/>
              </a:solidFill>
              <a:prstDash val="solid"/>
              <a:round/>
            </a:ln>
          </p:spPr>
        </p:sp>
      </p:grpSp>
      <p:grpSp>
        <p:nvGrpSpPr>
          <p:cNvPr id="4" name="Group 4"/>
          <p:cNvGrpSpPr/>
          <p:nvPr/>
        </p:nvGrpSpPr>
        <p:grpSpPr>
          <a:xfrm>
            <a:off x="508378" y="1187100"/>
            <a:ext cx="7959231" cy="3956400"/>
            <a:chOff x="0" y="0"/>
            <a:chExt cx="1965684" cy="977108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965684" cy="977108"/>
            </a:xfrm>
            <a:custGeom>
              <a:avLst/>
              <a:gdLst/>
              <a:ahLst/>
              <a:cxnLst/>
              <a:rect l="l" t="t" r="r" b="b"/>
              <a:pathLst>
                <a:path w="1965684" h="977108">
                  <a:moveTo>
                    <a:pt x="22372" y="0"/>
                  </a:moveTo>
                  <a:lnTo>
                    <a:pt x="1943312" y="0"/>
                  </a:lnTo>
                  <a:cubicBezTo>
                    <a:pt x="1955667" y="0"/>
                    <a:pt x="1965684" y="10016"/>
                    <a:pt x="1965684" y="22372"/>
                  </a:cubicBezTo>
                  <a:lnTo>
                    <a:pt x="1965684" y="954736"/>
                  </a:lnTo>
                  <a:cubicBezTo>
                    <a:pt x="1965684" y="967092"/>
                    <a:pt x="1955667" y="977108"/>
                    <a:pt x="1943312" y="977108"/>
                  </a:cubicBezTo>
                  <a:lnTo>
                    <a:pt x="22372" y="977108"/>
                  </a:lnTo>
                  <a:cubicBezTo>
                    <a:pt x="10016" y="977108"/>
                    <a:pt x="0" y="967092"/>
                    <a:pt x="0" y="954736"/>
                  </a:cubicBezTo>
                  <a:lnTo>
                    <a:pt x="0" y="22372"/>
                  </a:lnTo>
                  <a:cubicBezTo>
                    <a:pt x="0" y="10016"/>
                    <a:pt x="10016" y="0"/>
                    <a:pt x="22372" y="0"/>
                  </a:cubicBezTo>
                  <a:close/>
                </a:path>
              </a:pathLst>
            </a:custGeom>
            <a:blipFill>
              <a:blip r:embed="rId3"/>
              <a:stretch>
                <a:fillRect l="-1795" r="-1795"/>
              </a:stretch>
            </a:blipFill>
            <a:ln w="28575" cap="rnd">
              <a:solidFill>
                <a:srgbClr val="295BBE"/>
              </a:solidFill>
              <a:prstDash val="solid"/>
              <a:round/>
            </a:ln>
          </p:spPr>
        </p:sp>
      </p:grpSp>
      <p:sp>
        <p:nvSpPr>
          <p:cNvPr id="9" name="TextBox 9"/>
          <p:cNvSpPr txBox="1"/>
          <p:nvPr/>
        </p:nvSpPr>
        <p:spPr>
          <a:xfrm>
            <a:off x="493057" y="5409795"/>
            <a:ext cx="7974552" cy="42240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014"/>
              </a:lnSpc>
            </a:pPr>
            <a:r>
              <a:rPr lang="en-US" sz="2791" b="1">
                <a:solidFill>
                  <a:srgbClr val="295BBE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Customer Demographics</a:t>
            </a:r>
          </a:p>
          <a:p>
            <a:pPr algn="just">
              <a:lnSpc>
                <a:spcPts val="3014"/>
              </a:lnSpc>
            </a:pPr>
            <a:endParaRPr lang="en-US" sz="2791" b="1">
              <a:solidFill>
                <a:srgbClr val="295BBE"/>
              </a:solidFill>
              <a:latin typeface="Times New Roman Bold"/>
              <a:ea typeface="Times New Roman Bold"/>
              <a:cs typeface="Times New Roman Bold"/>
              <a:sym typeface="Times New Roman Bold"/>
            </a:endParaRPr>
          </a:p>
          <a:p>
            <a:pPr algn="just">
              <a:lnSpc>
                <a:spcPts val="3014"/>
              </a:lnSpc>
            </a:pPr>
            <a:r>
              <a:rPr lang="en-US" sz="2791">
                <a:solidFill>
                  <a:srgbClr val="295BB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•Revenue is driven mainly by metro cities, with Delhi and Bangalore leading.</a:t>
            </a:r>
          </a:p>
          <a:p>
            <a:pPr algn="just">
              <a:lnSpc>
                <a:spcPts val="3014"/>
              </a:lnSpc>
            </a:pPr>
            <a:r>
              <a:rPr lang="en-US" sz="2791">
                <a:solidFill>
                  <a:srgbClr val="295BB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•Majority of customers fall in the 20–30 age group, indicating a young customer base.</a:t>
            </a:r>
          </a:p>
          <a:p>
            <a:pPr algn="just">
              <a:lnSpc>
                <a:spcPts val="3014"/>
              </a:lnSpc>
            </a:pPr>
            <a:r>
              <a:rPr lang="en-US" sz="2791">
                <a:solidFill>
                  <a:srgbClr val="295BB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•Higher costs generally receive better ratings, showing value perception matters.</a:t>
            </a:r>
          </a:p>
          <a:p>
            <a:pPr algn="just">
              <a:lnSpc>
                <a:spcPts val="3014"/>
              </a:lnSpc>
            </a:pPr>
            <a:r>
              <a:rPr lang="en-US" sz="2791">
                <a:solidFill>
                  <a:srgbClr val="295BB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•Orders are mostly from small family sizes, highlighting individual and couple dining.</a:t>
            </a:r>
          </a:p>
          <a:p>
            <a:pPr algn="just">
              <a:lnSpc>
                <a:spcPts val="3014"/>
              </a:lnSpc>
              <a:spcBef>
                <a:spcPct val="0"/>
              </a:spcBef>
            </a:pPr>
            <a:endParaRPr lang="en-US" sz="2791">
              <a:solidFill>
                <a:srgbClr val="295BBE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8960666" y="5219295"/>
            <a:ext cx="8527983" cy="38430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14"/>
              </a:lnSpc>
            </a:pPr>
            <a:r>
              <a:rPr lang="en-US" sz="2791" b="1">
                <a:solidFill>
                  <a:srgbClr val="295BBE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Customer Loyality &amp; Strategy</a:t>
            </a:r>
          </a:p>
          <a:p>
            <a:pPr algn="l">
              <a:lnSpc>
                <a:spcPts val="3014"/>
              </a:lnSpc>
            </a:pPr>
            <a:endParaRPr lang="en-US" sz="2791" b="1">
              <a:solidFill>
                <a:srgbClr val="295BBE"/>
              </a:solidFill>
              <a:latin typeface="Times New Roman Bold"/>
              <a:ea typeface="Times New Roman Bold"/>
              <a:cs typeface="Times New Roman Bold"/>
              <a:sym typeface="Times New Roman Bold"/>
            </a:endParaRPr>
          </a:p>
          <a:p>
            <a:pPr algn="l">
              <a:lnSpc>
                <a:spcPts val="3014"/>
              </a:lnSpc>
            </a:pPr>
            <a:r>
              <a:rPr lang="en-US" sz="2791">
                <a:solidFill>
                  <a:srgbClr val="295BB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•Most customers prefer moderately priced menus, as shown by the high concentration of orders in the mid-price range, indicating strong price sensitivity.</a:t>
            </a:r>
          </a:p>
          <a:p>
            <a:pPr algn="l">
              <a:lnSpc>
                <a:spcPts val="3014"/>
              </a:lnSpc>
            </a:pPr>
            <a:r>
              <a:rPr lang="en-US" sz="2791">
                <a:solidFill>
                  <a:srgbClr val="295BB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•Repeat orders peak during specific days and time periods, suggesting predictable customer habits that can be leveraged for loyalty offers and targeted promotions.</a:t>
            </a:r>
          </a:p>
          <a:p>
            <a:pPr algn="l">
              <a:lnSpc>
                <a:spcPts val="3014"/>
              </a:lnSpc>
            </a:pPr>
            <a:endParaRPr lang="en-US" sz="2791">
              <a:solidFill>
                <a:srgbClr val="295BBE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l">
              <a:lnSpc>
                <a:spcPts val="3014"/>
              </a:lnSpc>
              <a:spcBef>
                <a:spcPct val="0"/>
              </a:spcBef>
            </a:pPr>
            <a:endParaRPr lang="en-US" sz="2791">
              <a:solidFill>
                <a:srgbClr val="295BBE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6735737" y="317372"/>
            <a:ext cx="3185636" cy="7553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606"/>
              </a:lnSpc>
              <a:spcBef>
                <a:spcPct val="0"/>
              </a:spcBef>
            </a:pPr>
            <a:r>
              <a:rPr lang="en-US" sz="5191">
                <a:solidFill>
                  <a:srgbClr val="295BB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Milestone-4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95BB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585708" y="380883"/>
            <a:ext cx="193023" cy="161086"/>
          </a:xfrm>
          <a:custGeom>
            <a:avLst/>
            <a:gdLst/>
            <a:ahLst/>
            <a:cxnLst/>
            <a:rect l="l" t="t" r="r" b="b"/>
            <a:pathLst>
              <a:path w="193023" h="161086">
                <a:moveTo>
                  <a:pt x="0" y="0"/>
                </a:moveTo>
                <a:lnTo>
                  <a:pt x="193023" y="0"/>
                </a:lnTo>
                <a:lnTo>
                  <a:pt x="193023" y="161086"/>
                </a:lnTo>
                <a:lnTo>
                  <a:pt x="0" y="16108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4648220" y="5444575"/>
            <a:ext cx="3378012" cy="3415303"/>
            <a:chOff x="0" y="0"/>
            <a:chExt cx="719015" cy="72695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719015" cy="726953"/>
            </a:xfrm>
            <a:custGeom>
              <a:avLst/>
              <a:gdLst/>
              <a:ahLst/>
              <a:cxnLst/>
              <a:rect l="l" t="t" r="r" b="b"/>
              <a:pathLst>
                <a:path w="719015" h="726953">
                  <a:moveTo>
                    <a:pt x="359508" y="0"/>
                  </a:moveTo>
                  <a:cubicBezTo>
                    <a:pt x="160957" y="0"/>
                    <a:pt x="0" y="162734"/>
                    <a:pt x="0" y="363476"/>
                  </a:cubicBezTo>
                  <a:cubicBezTo>
                    <a:pt x="0" y="564219"/>
                    <a:pt x="160957" y="726953"/>
                    <a:pt x="359508" y="726953"/>
                  </a:cubicBezTo>
                  <a:cubicBezTo>
                    <a:pt x="558058" y="726953"/>
                    <a:pt x="719015" y="564219"/>
                    <a:pt x="719015" y="363476"/>
                  </a:cubicBezTo>
                  <a:cubicBezTo>
                    <a:pt x="719015" y="162734"/>
                    <a:pt x="558058" y="0"/>
                    <a:pt x="359508" y="0"/>
                  </a:cubicBezTo>
                  <a:close/>
                </a:path>
              </a:pathLst>
            </a:custGeom>
            <a:solidFill>
              <a:srgbClr val="D9D9D9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67408" y="68152"/>
              <a:ext cx="584200" cy="59064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17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10191214" y="1715962"/>
            <a:ext cx="6740844" cy="17279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692"/>
              </a:lnSpc>
              <a:spcBef>
                <a:spcPct val="0"/>
              </a:spcBef>
            </a:pPr>
            <a:r>
              <a:rPr lang="en-US" sz="6197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Challenges Faced &amp; Resolutions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261768" y="1076431"/>
            <a:ext cx="9929447" cy="77834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97"/>
              </a:lnSpc>
            </a:pPr>
            <a:r>
              <a:rPr lang="en-US" sz="3146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•Understanding customer preference from large and mixed data</a:t>
            </a:r>
          </a:p>
          <a:p>
            <a:pPr algn="l">
              <a:lnSpc>
                <a:spcPts val="3397"/>
              </a:lnSpc>
            </a:pPr>
            <a:r>
              <a:rPr lang="en-US" sz="3146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Resolution: Data was organized by cuisine, food type, price range, and customer details to clearly analyze preference patterns.</a:t>
            </a:r>
          </a:p>
          <a:p>
            <a:pPr algn="l">
              <a:lnSpc>
                <a:spcPts val="3397"/>
              </a:lnSpc>
            </a:pPr>
            <a:endParaRPr lang="en-US" sz="3146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l">
              <a:lnSpc>
                <a:spcPts val="3397"/>
              </a:lnSpc>
            </a:pPr>
            <a:r>
              <a:rPr lang="en-US" sz="3146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•Identifying meaningful food trends instead of just showing charts</a:t>
            </a:r>
          </a:p>
          <a:p>
            <a:pPr algn="l">
              <a:lnSpc>
                <a:spcPts val="3397"/>
              </a:lnSpc>
            </a:pPr>
            <a:r>
              <a:rPr lang="en-US" sz="3146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Resolution: Focused on Veg vs Non-Veg preference, popular cuisines, order frequency, and pricing behavior to align with the problem statement.</a:t>
            </a:r>
          </a:p>
          <a:p>
            <a:pPr algn="l">
              <a:lnSpc>
                <a:spcPts val="3397"/>
              </a:lnSpc>
            </a:pPr>
            <a:endParaRPr lang="en-US" sz="3146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l">
              <a:lnSpc>
                <a:spcPts val="3397"/>
              </a:lnSpc>
            </a:pPr>
            <a:r>
              <a:rPr lang="en-US" sz="3146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•Comparing customer behavior across cities and customer groups</a:t>
            </a:r>
          </a:p>
          <a:p>
            <a:pPr algn="l">
              <a:lnSpc>
                <a:spcPts val="3397"/>
              </a:lnSpc>
            </a:pPr>
            <a:r>
              <a:rPr lang="en-US" sz="3146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Resolution: Used city-wise, demographic-wise, and cuisine-wise analysis to highlight differences in customer choices.</a:t>
            </a:r>
          </a:p>
          <a:p>
            <a:pPr algn="l">
              <a:lnSpc>
                <a:spcPts val="3397"/>
              </a:lnSpc>
            </a:pPr>
            <a:endParaRPr lang="en-US" sz="3146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l">
              <a:lnSpc>
                <a:spcPts val="3397"/>
              </a:lnSpc>
              <a:spcBef>
                <a:spcPct val="0"/>
              </a:spcBef>
            </a:pPr>
            <a:endParaRPr lang="en-US" sz="3146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4FFA4EB9-6E93-55C9-B583-57314383B41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" b="-3018"/>
          <a:stretch>
            <a:fillRect/>
          </a:stretch>
        </p:blipFill>
        <p:spPr>
          <a:xfrm>
            <a:off x="12536674" y="5851788"/>
            <a:ext cx="4223091" cy="443521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95BB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28700" y="783602"/>
            <a:ext cx="328057" cy="273779"/>
          </a:xfrm>
          <a:custGeom>
            <a:avLst/>
            <a:gdLst/>
            <a:ahLst/>
            <a:cxnLst/>
            <a:rect l="l" t="t" r="r" b="b"/>
            <a:pathLst>
              <a:path w="328057" h="273779">
                <a:moveTo>
                  <a:pt x="0" y="0"/>
                </a:moveTo>
                <a:lnTo>
                  <a:pt x="328057" y="0"/>
                </a:lnTo>
                <a:lnTo>
                  <a:pt x="328057" y="273779"/>
                </a:lnTo>
                <a:lnTo>
                  <a:pt x="0" y="27377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028700" y="1312369"/>
            <a:ext cx="7186202" cy="7945931"/>
            <a:chOff x="0" y="0"/>
            <a:chExt cx="1892662" cy="2092756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892662" cy="2092756"/>
            </a:xfrm>
            <a:custGeom>
              <a:avLst/>
              <a:gdLst/>
              <a:ahLst/>
              <a:cxnLst/>
              <a:rect l="l" t="t" r="r" b="b"/>
              <a:pathLst>
                <a:path w="1892662" h="2092756">
                  <a:moveTo>
                    <a:pt x="32320" y="0"/>
                  </a:moveTo>
                  <a:lnTo>
                    <a:pt x="1860342" y="0"/>
                  </a:lnTo>
                  <a:cubicBezTo>
                    <a:pt x="1868914" y="0"/>
                    <a:pt x="1877135" y="3405"/>
                    <a:pt x="1883196" y="9466"/>
                  </a:cubicBezTo>
                  <a:cubicBezTo>
                    <a:pt x="1889257" y="15527"/>
                    <a:pt x="1892662" y="23748"/>
                    <a:pt x="1892662" y="32320"/>
                  </a:cubicBezTo>
                  <a:lnTo>
                    <a:pt x="1892662" y="2060436"/>
                  </a:lnTo>
                  <a:cubicBezTo>
                    <a:pt x="1892662" y="2069007"/>
                    <a:pt x="1889257" y="2077228"/>
                    <a:pt x="1883196" y="2083289"/>
                  </a:cubicBezTo>
                  <a:cubicBezTo>
                    <a:pt x="1877135" y="2089350"/>
                    <a:pt x="1868914" y="2092756"/>
                    <a:pt x="1860342" y="2092756"/>
                  </a:cubicBezTo>
                  <a:lnTo>
                    <a:pt x="32320" y="2092756"/>
                  </a:lnTo>
                  <a:cubicBezTo>
                    <a:pt x="23748" y="2092756"/>
                    <a:pt x="15527" y="2089350"/>
                    <a:pt x="9466" y="2083289"/>
                  </a:cubicBezTo>
                  <a:cubicBezTo>
                    <a:pt x="3405" y="2077228"/>
                    <a:pt x="0" y="2069007"/>
                    <a:pt x="0" y="2060436"/>
                  </a:cubicBezTo>
                  <a:lnTo>
                    <a:pt x="0" y="32320"/>
                  </a:lnTo>
                  <a:cubicBezTo>
                    <a:pt x="0" y="23748"/>
                    <a:pt x="3405" y="15527"/>
                    <a:pt x="9466" y="9466"/>
                  </a:cubicBezTo>
                  <a:cubicBezTo>
                    <a:pt x="15527" y="3405"/>
                    <a:pt x="23748" y="0"/>
                    <a:pt x="32320" y="0"/>
                  </a:cubicBezTo>
                  <a:close/>
                </a:path>
              </a:pathLst>
            </a:custGeom>
            <a:solidFill>
              <a:srgbClr val="F9F6F6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0"/>
              <a:ext cx="1892662" cy="209275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17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477573" y="4480137"/>
            <a:ext cx="6540238" cy="3848095"/>
            <a:chOff x="0" y="0"/>
            <a:chExt cx="1615236" cy="950361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615236" cy="950360"/>
            </a:xfrm>
            <a:custGeom>
              <a:avLst/>
              <a:gdLst/>
              <a:ahLst/>
              <a:cxnLst/>
              <a:rect l="l" t="t" r="r" b="b"/>
              <a:pathLst>
                <a:path w="1615236" h="950360">
                  <a:moveTo>
                    <a:pt x="27226" y="0"/>
                  </a:moveTo>
                  <a:lnTo>
                    <a:pt x="1588010" y="0"/>
                  </a:lnTo>
                  <a:cubicBezTo>
                    <a:pt x="1603047" y="0"/>
                    <a:pt x="1615236" y="12189"/>
                    <a:pt x="1615236" y="27226"/>
                  </a:cubicBezTo>
                  <a:lnTo>
                    <a:pt x="1615236" y="923135"/>
                  </a:lnTo>
                  <a:cubicBezTo>
                    <a:pt x="1615236" y="938171"/>
                    <a:pt x="1603047" y="950360"/>
                    <a:pt x="1588010" y="950360"/>
                  </a:cubicBezTo>
                  <a:lnTo>
                    <a:pt x="27226" y="950360"/>
                  </a:lnTo>
                  <a:cubicBezTo>
                    <a:pt x="12189" y="950360"/>
                    <a:pt x="0" y="938171"/>
                    <a:pt x="0" y="923135"/>
                  </a:cubicBezTo>
                  <a:lnTo>
                    <a:pt x="0" y="27226"/>
                  </a:lnTo>
                  <a:cubicBezTo>
                    <a:pt x="0" y="12189"/>
                    <a:pt x="12189" y="0"/>
                    <a:pt x="27226" y="0"/>
                  </a:cubicBezTo>
                  <a:close/>
                </a:path>
              </a:pathLst>
            </a:custGeom>
            <a:blipFill>
              <a:blip r:embed="rId4"/>
              <a:stretch>
                <a:fillRect t="-77311" b="-77311"/>
              </a:stretch>
            </a:blipFill>
            <a:ln w="28575" cap="rnd">
              <a:solidFill>
                <a:srgbClr val="295BBE"/>
              </a:solidFill>
              <a:prstDash val="solid"/>
              <a:round/>
            </a:ln>
          </p:spPr>
        </p:sp>
      </p:grpSp>
      <p:sp>
        <p:nvSpPr>
          <p:cNvPr id="8" name="TextBox 8"/>
          <p:cNvSpPr txBox="1"/>
          <p:nvPr/>
        </p:nvSpPr>
        <p:spPr>
          <a:xfrm>
            <a:off x="9144000" y="1495308"/>
            <a:ext cx="8278759" cy="39066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801"/>
              </a:lnSpc>
            </a:pPr>
            <a:r>
              <a:rPr lang="en-US" sz="2594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•Veg cuisine drives the majority of customer orders, showing clear preference and making Veg items a key focus area for menu expansion and pricing strategies.</a:t>
            </a:r>
          </a:p>
          <a:p>
            <a:pPr algn="just">
              <a:lnSpc>
                <a:spcPts val="2801"/>
              </a:lnSpc>
            </a:pPr>
            <a:r>
              <a:rPr lang="en-US" sz="2594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•North Indian and Chinese cuisines lead in quantity sold and revenue, indicating these cuisines should be prioritized for promotions and new launches.</a:t>
            </a:r>
          </a:p>
          <a:p>
            <a:pPr algn="just">
              <a:lnSpc>
                <a:spcPts val="2801"/>
              </a:lnSpc>
            </a:pPr>
            <a:r>
              <a:rPr lang="en-US" sz="2594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•Medium-priced menus and medium-frequency customers generate the highest revenue, proving that value-for-money offerings outperform premium pricing.</a:t>
            </a:r>
          </a:p>
          <a:p>
            <a:pPr algn="just">
              <a:lnSpc>
                <a:spcPts val="2801"/>
              </a:lnSpc>
            </a:pPr>
            <a:endParaRPr lang="en-US" sz="2594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just">
              <a:lnSpc>
                <a:spcPts val="2801"/>
              </a:lnSpc>
              <a:spcBef>
                <a:spcPct val="0"/>
              </a:spcBef>
            </a:pPr>
            <a:endParaRPr lang="en-US" sz="2594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9144000" y="6558239"/>
            <a:ext cx="8278759" cy="21445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801"/>
              </a:lnSpc>
            </a:pPr>
            <a:r>
              <a:rPr lang="en-US" sz="2594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•Implemented interactive slicers (city, cuisine, date, rating) for dynamic and focused analysis.</a:t>
            </a:r>
          </a:p>
          <a:p>
            <a:pPr algn="just">
              <a:lnSpc>
                <a:spcPts val="2801"/>
              </a:lnSpc>
            </a:pPr>
            <a:r>
              <a:rPr lang="en-US" sz="2594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•Added KPI cards to provide quick visibility into business performance metrics.</a:t>
            </a:r>
          </a:p>
          <a:p>
            <a:pPr algn="just">
              <a:lnSpc>
                <a:spcPts val="2801"/>
              </a:lnSpc>
              <a:spcBef>
                <a:spcPct val="0"/>
              </a:spcBef>
            </a:pPr>
            <a:r>
              <a:rPr lang="en-US" sz="2594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Designed trend and comparison visuals (time-based, category-based) to support strategic decision-making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356757" y="2282002"/>
            <a:ext cx="6395017" cy="21059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467"/>
              </a:lnSpc>
            </a:pPr>
            <a:r>
              <a:rPr lang="en-US" sz="5062">
                <a:solidFill>
                  <a:srgbClr val="295BB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Key Insights &amp; Feature enhancements</a:t>
            </a:r>
          </a:p>
          <a:p>
            <a:pPr algn="ctr">
              <a:lnSpc>
                <a:spcPts val="5467"/>
              </a:lnSpc>
              <a:spcBef>
                <a:spcPct val="0"/>
              </a:spcBef>
            </a:pPr>
            <a:endParaRPr lang="en-US" sz="5062">
              <a:solidFill>
                <a:srgbClr val="295BBE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5"/>
          <p:cNvSpPr txBox="1"/>
          <p:nvPr/>
        </p:nvSpPr>
        <p:spPr>
          <a:xfrm>
            <a:off x="1619837" y="4120595"/>
            <a:ext cx="5346500" cy="12137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062"/>
              </a:lnSpc>
              <a:spcBef>
                <a:spcPct val="0"/>
              </a:spcBef>
            </a:pPr>
            <a:r>
              <a:rPr lang="en-US" sz="8390" b="1">
                <a:solidFill>
                  <a:srgbClr val="295BBE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Conclusion</a:t>
            </a:r>
          </a:p>
        </p:txBody>
      </p:sp>
      <p:sp>
        <p:nvSpPr>
          <p:cNvPr id="6" name="Freeform 6"/>
          <p:cNvSpPr/>
          <p:nvPr/>
        </p:nvSpPr>
        <p:spPr>
          <a:xfrm>
            <a:off x="1577908" y="5572770"/>
            <a:ext cx="5388429" cy="4114800"/>
          </a:xfrm>
          <a:custGeom>
            <a:avLst/>
            <a:gdLst/>
            <a:ahLst/>
            <a:cxnLst/>
            <a:rect l="l" t="t" r="r" b="b"/>
            <a:pathLst>
              <a:path w="5388429" h="4114800">
                <a:moveTo>
                  <a:pt x="0" y="0"/>
                </a:moveTo>
                <a:lnTo>
                  <a:pt x="5388429" y="0"/>
                </a:lnTo>
                <a:lnTo>
                  <a:pt x="538842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8346111" y="3498731"/>
            <a:ext cx="8686440" cy="36902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62"/>
              </a:lnSpc>
              <a:spcBef>
                <a:spcPct val="0"/>
              </a:spcBef>
            </a:pPr>
            <a:r>
              <a:rPr lang="en-US" sz="3391" dirty="0">
                <a:solidFill>
                  <a:srgbClr val="295BB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•This project focuses on understanding food trends and customer preferences using food ordering </a:t>
            </a:r>
            <a:r>
              <a:rPr lang="en-US" sz="3391" dirty="0" err="1">
                <a:solidFill>
                  <a:srgbClr val="295BB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data.The</a:t>
            </a:r>
            <a:r>
              <a:rPr lang="en-US" sz="3391" dirty="0">
                <a:solidFill>
                  <a:srgbClr val="295BB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data was cleaned and analyzed to convert raw information into useful insights.</a:t>
            </a:r>
          </a:p>
          <a:p>
            <a:pPr algn="l">
              <a:lnSpc>
                <a:spcPts val="3662"/>
              </a:lnSpc>
              <a:spcBef>
                <a:spcPct val="0"/>
              </a:spcBef>
            </a:pPr>
            <a:r>
              <a:rPr lang="en-US" sz="3391" dirty="0">
                <a:solidFill>
                  <a:srgbClr val="295BB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Power BI dashboards were created to visually represent customer behavior and ordering patterns.</a:t>
            </a:r>
          </a:p>
          <a:p>
            <a:pPr algn="l">
              <a:lnSpc>
                <a:spcPts val="3662"/>
              </a:lnSpc>
              <a:spcBef>
                <a:spcPct val="0"/>
              </a:spcBef>
            </a:pPr>
            <a:endParaRPr lang="en-US" sz="3391" dirty="0">
              <a:solidFill>
                <a:srgbClr val="295BBE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95BB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28700" y="783602"/>
            <a:ext cx="328057" cy="273779"/>
          </a:xfrm>
          <a:custGeom>
            <a:avLst/>
            <a:gdLst/>
            <a:ahLst/>
            <a:cxnLst/>
            <a:rect l="l" t="t" r="r" b="b"/>
            <a:pathLst>
              <a:path w="328057" h="273779">
                <a:moveTo>
                  <a:pt x="0" y="0"/>
                </a:moveTo>
                <a:lnTo>
                  <a:pt x="328057" y="0"/>
                </a:lnTo>
                <a:lnTo>
                  <a:pt x="328057" y="273779"/>
                </a:lnTo>
                <a:lnTo>
                  <a:pt x="0" y="27377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028700" y="2052405"/>
            <a:ext cx="9113552" cy="6942869"/>
          </a:xfrm>
          <a:custGeom>
            <a:avLst/>
            <a:gdLst/>
            <a:ahLst/>
            <a:cxnLst/>
            <a:rect l="l" t="t" r="r" b="b"/>
            <a:pathLst>
              <a:path w="9113552" h="6942869">
                <a:moveTo>
                  <a:pt x="0" y="0"/>
                </a:moveTo>
                <a:lnTo>
                  <a:pt x="9113552" y="0"/>
                </a:lnTo>
                <a:lnTo>
                  <a:pt x="9113552" y="6942870"/>
                </a:lnTo>
                <a:lnTo>
                  <a:pt x="0" y="694287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1448119" y="812573"/>
            <a:ext cx="1826307" cy="2661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59"/>
              </a:lnSpc>
              <a:spcBef>
                <a:spcPct val="0"/>
              </a:spcBef>
            </a:pPr>
            <a:r>
              <a:rPr lang="en-US" sz="1814" b="1">
                <a:solidFill>
                  <a:srgbClr val="295BBE"/>
                </a:solidFill>
                <a:latin typeface="Poppins Bold"/>
                <a:ea typeface="Poppins Bold"/>
                <a:cs typeface="Poppins Bold"/>
                <a:sym typeface="Poppins Bold"/>
              </a:rPr>
              <a:t>Wardiere.inc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786802" y="3391993"/>
            <a:ext cx="7597348" cy="31587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125"/>
              </a:lnSpc>
              <a:spcBef>
                <a:spcPct val="0"/>
              </a:spcBef>
            </a:pPr>
            <a:r>
              <a:rPr lang="en-US" sz="2894">
                <a:solidFill>
                  <a:srgbClr val="295BB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We would like to express our heartfelt gratitude to: Infosys Springboard Team– for organizing this valuable internship opportunity. Our Mentor– for her continuous support and feedback. My Teammates – for collaboration, encouragement, and insights This internship has been a significant step in our professional growth and technical journey.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732650" y="6596726"/>
            <a:ext cx="7705652" cy="19872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125"/>
              </a:lnSpc>
            </a:pPr>
            <a:r>
              <a:rPr lang="en-US" sz="2894">
                <a:solidFill>
                  <a:srgbClr val="295BB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•Kaggle – Food Ordering / Food Trends Dataset</a:t>
            </a:r>
          </a:p>
          <a:p>
            <a:pPr algn="just">
              <a:lnSpc>
                <a:spcPts val="3125"/>
              </a:lnSpc>
            </a:pPr>
            <a:r>
              <a:rPr lang="en-US" sz="2894">
                <a:solidFill>
                  <a:srgbClr val="295BB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•Microsoft Power BI – Official Documentation</a:t>
            </a:r>
          </a:p>
          <a:p>
            <a:pPr algn="just">
              <a:lnSpc>
                <a:spcPts val="3125"/>
              </a:lnSpc>
            </a:pPr>
            <a:r>
              <a:rPr lang="en-US" sz="2894">
                <a:solidFill>
                  <a:srgbClr val="295BB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•Infosys Springboard Virtual Internship course materials</a:t>
            </a:r>
          </a:p>
          <a:p>
            <a:pPr algn="just">
              <a:lnSpc>
                <a:spcPts val="3125"/>
              </a:lnSpc>
              <a:spcBef>
                <a:spcPct val="0"/>
              </a:spcBef>
            </a:pPr>
            <a:endParaRPr lang="en-US" sz="2894">
              <a:solidFill>
                <a:srgbClr val="295BBE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13589289" y="2272296"/>
            <a:ext cx="9525" cy="2654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34"/>
              </a:lnSpc>
              <a:spcBef>
                <a:spcPct val="0"/>
              </a:spcBef>
            </a:pPr>
            <a:endParaRPr/>
          </a:p>
        </p:txBody>
      </p:sp>
      <p:sp>
        <p:nvSpPr>
          <p:cNvPr id="8" name="TextBox 8"/>
          <p:cNvSpPr txBox="1"/>
          <p:nvPr/>
        </p:nvSpPr>
        <p:spPr>
          <a:xfrm>
            <a:off x="10990390" y="2566293"/>
            <a:ext cx="6268910" cy="16609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328"/>
              </a:lnSpc>
              <a:spcBef>
                <a:spcPct val="0"/>
              </a:spcBef>
            </a:pPr>
            <a:r>
              <a:rPr lang="en-US" sz="5859" b="1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Acknowledgement and reference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9E34A4D-88DA-8E86-6AC5-45F1AF4E822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887200" y="5143500"/>
            <a:ext cx="4495800" cy="2871204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95BB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/>
          <p:cNvSpPr txBox="1"/>
          <p:nvPr/>
        </p:nvSpPr>
        <p:spPr>
          <a:xfrm>
            <a:off x="-1425165" y="-1621720"/>
            <a:ext cx="11422974" cy="12715280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1917"/>
              </a:lnSpc>
            </a:pPr>
            <a:endParaRPr/>
          </a:p>
        </p:txBody>
      </p:sp>
      <p:sp>
        <p:nvSpPr>
          <p:cNvPr id="5" name="TextBox 5"/>
          <p:cNvSpPr txBox="1"/>
          <p:nvPr/>
        </p:nvSpPr>
        <p:spPr>
          <a:xfrm>
            <a:off x="1192729" y="3102297"/>
            <a:ext cx="6784192" cy="24043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312"/>
              </a:lnSpc>
              <a:spcBef>
                <a:spcPct val="0"/>
              </a:spcBef>
            </a:pPr>
            <a:r>
              <a:rPr lang="en-US" sz="16029">
                <a:solidFill>
                  <a:srgbClr val="295BBE"/>
                </a:solidFill>
                <a:latin typeface="Poppins"/>
                <a:ea typeface="Poppins"/>
                <a:cs typeface="Poppins"/>
                <a:sym typeface="Poppins"/>
              </a:rPr>
              <a:t>Thank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192729" y="4808929"/>
            <a:ext cx="5774245" cy="24043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312"/>
              </a:lnSpc>
              <a:spcBef>
                <a:spcPct val="0"/>
              </a:spcBef>
            </a:pPr>
            <a:r>
              <a:rPr lang="en-US" sz="16029" b="1">
                <a:solidFill>
                  <a:srgbClr val="295BBE"/>
                </a:solidFill>
                <a:latin typeface="Poppins Bold"/>
                <a:ea typeface="Poppins Bold"/>
                <a:cs typeface="Poppins Bold"/>
                <a:sym typeface="Poppins Bold"/>
              </a:rPr>
              <a:t>You!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669CE43-6797-AB2C-0A84-F833AB6F7A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171" y="4045"/>
            <a:ext cx="18147658" cy="1027890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1178</Words>
  <Application>Microsoft Office PowerPoint</Application>
  <PresentationFormat>Custom</PresentationFormat>
  <Paragraphs>129</Paragraphs>
  <Slides>13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1" baseType="lpstr">
      <vt:lpstr>Times New Roman Bold</vt:lpstr>
      <vt:lpstr>Arial</vt:lpstr>
      <vt:lpstr>Calibri</vt:lpstr>
      <vt:lpstr>Times New Roman</vt:lpstr>
      <vt:lpstr>Poppins Bold</vt:lpstr>
      <vt:lpstr>Poppins</vt:lpstr>
      <vt:lpstr>Aptos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Blue White Minimalist Animated Startup Pitch Deck Presentation</dc:title>
  <cp:lastModifiedBy>MS Akshaya</cp:lastModifiedBy>
  <cp:revision>3</cp:revision>
  <dcterms:created xsi:type="dcterms:W3CDTF">2006-08-16T00:00:00Z</dcterms:created>
  <dcterms:modified xsi:type="dcterms:W3CDTF">2026-02-10T16:53:41Z</dcterms:modified>
  <dc:identifier>DAHAj6DMngc</dc:identifier>
</cp:coreProperties>
</file>