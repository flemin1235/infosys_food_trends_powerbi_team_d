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97" r:id="rId4"/>
  </p:sldMasterIdLst>
  <p:notesMasterIdLst>
    <p:notesMasterId r:id="rId19"/>
  </p:notesMasterIdLst>
  <p:handoutMasterIdLst>
    <p:handoutMasterId r:id="rId20"/>
  </p:handoutMasterIdLst>
  <p:sldIdLst>
    <p:sldId id="317" r:id="rId5"/>
    <p:sldId id="318" r:id="rId6"/>
    <p:sldId id="327" r:id="rId7"/>
    <p:sldId id="319" r:id="rId8"/>
    <p:sldId id="328" r:id="rId9"/>
    <p:sldId id="329" r:id="rId10"/>
    <p:sldId id="330" r:id="rId11"/>
    <p:sldId id="320" r:id="rId12"/>
    <p:sldId id="331" r:id="rId13"/>
    <p:sldId id="322" r:id="rId14"/>
    <p:sldId id="323" r:id="rId15"/>
    <p:sldId id="324" r:id="rId16"/>
    <p:sldId id="325" r:id="rId17"/>
    <p:sldId id="326"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636A58"/>
    <a:srgbClr val="505A47"/>
    <a:srgbClr val="D1D8B7"/>
    <a:srgbClr val="A09D79"/>
    <a:srgbClr val="AD5C4D"/>
    <a:srgbClr val="543E35"/>
    <a:srgbClr val="637700"/>
    <a:srgbClr val="FFF4ED"/>
    <a:srgbClr val="5E6A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405" autoAdjust="0"/>
  </p:normalViewPr>
  <p:slideViewPr>
    <p:cSldViewPr snapToGrid="0">
      <p:cViewPr varScale="1">
        <p:scale>
          <a:sx n="78" d="100"/>
          <a:sy n="78" d="100"/>
        </p:scale>
        <p:origin x="878" y="43"/>
      </p:cViewPr>
      <p:guideLst>
        <p:guide orient="horz" pos="528"/>
        <p:guide pos="3864"/>
        <p:guide orient="horz" pos="1272"/>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2/20/2026</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2/20/2026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2165-AECD-AC0B-0A46-19E82DC25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0EBC2-FFC3-2482-86CA-A129EAAABB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704D6B-CA75-C920-89B4-EA8B79E6D4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C1BFD7-3F26-AFD4-F030-DBE1AE11C1D7}"/>
              </a:ext>
            </a:extLst>
          </p:cNvPr>
          <p:cNvSpPr>
            <a:spLocks noGrp="1"/>
          </p:cNvSpPr>
          <p:nvPr>
            <p:ph type="sldNum" sz="quarter" idx="5"/>
          </p:nvPr>
        </p:nvSpPr>
        <p:spPr/>
        <p:txBody>
          <a:bodyPr/>
          <a:lstStyle/>
          <a:p>
            <a:fld id="{7C366290-4595-5745-A50F-D5EC13BAC604}" type="slidenum">
              <a:rPr lang="en-US" noProof="0" smtClean="0"/>
              <a:t>1</a:t>
            </a:fld>
            <a:endParaRPr lang="en-US" noProof="0" dirty="0"/>
          </a:p>
        </p:txBody>
      </p:sp>
    </p:spTree>
    <p:extLst>
      <p:ext uri="{BB962C8B-B14F-4D97-AF65-F5344CB8AC3E}">
        <p14:creationId xmlns:p14="http://schemas.microsoft.com/office/powerpoint/2010/main" val="75031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58FB4751-880F-D840-AAA9-3A15815CC996}" type="slidenum">
              <a:rPr lang="en-US" smtClean="0"/>
              <a:pPr/>
              <a:t>‹#›</a:t>
            </a:fld>
            <a:endParaRPr lang="en-US" dirty="0"/>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325583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521054478"/>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6970249"/>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667241533"/>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182233301"/>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18130359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DFF08F-DC6B-4601-B491-B0F83F6DD2DA}" type="datetimeFigureOut">
              <a:rPr lang="en-US" smtClean="0"/>
              <a:t>2/20/2026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58FB4751-880F-D840-AAA9-3A15815CC996}" type="slidenum">
              <a:rPr lang="en-US" smtClean="0"/>
              <a:pPr/>
              <a:t>‹#›</a:t>
            </a:fld>
            <a:endParaRPr lang="en-US" dirty="0"/>
          </a:p>
        </p:txBody>
      </p:sp>
      <p:grpSp>
        <p:nvGrpSpPr>
          <p:cNvPr id="5" name="Group 4">
            <a:extLst>
              <a:ext uri="{FF2B5EF4-FFF2-40B4-BE49-F238E27FC236}">
                <a16:creationId xmlns:a16="http://schemas.microsoft.com/office/drawing/2014/main" id="{A84B297C-8E99-3853-835D-D6A37C66844A}"/>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6" name="Freeform: Shape 5">
              <a:extLst>
                <a:ext uri="{FF2B5EF4-FFF2-40B4-BE49-F238E27FC236}">
                  <a16:creationId xmlns:a16="http://schemas.microsoft.com/office/drawing/2014/main" id="{97355880-E1FB-063E-D236-0E72F55AA175}"/>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Freeform: Shape 6">
              <a:extLst>
                <a:ext uri="{FF2B5EF4-FFF2-40B4-BE49-F238E27FC236}">
                  <a16:creationId xmlns:a16="http://schemas.microsoft.com/office/drawing/2014/main" id="{C22013EF-3949-63E3-2A8E-310A05DD8A3D}"/>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Freeform: Shape 7">
            <a:extLst>
              <a:ext uri="{FF2B5EF4-FFF2-40B4-BE49-F238E27FC236}">
                <a16:creationId xmlns:a16="http://schemas.microsoft.com/office/drawing/2014/main" id="{E4E5ED3F-A4DF-158F-5EA1-7E8380211B85}"/>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571593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6719122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114046499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708257042"/>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268928494"/>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Slide 2">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 uri="{C183D7F6-B498-43B3-948B-1728B52AA6E4}">
                <adec:decorative xmlns:adec="http://schemas.microsoft.com/office/drawing/2017/decorative" val="1"/>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 uri="{C183D7F6-B498-43B3-948B-1728B52AA6E4}">
                <adec:decorative xmlns:adec="http://schemas.microsoft.com/office/drawing/2017/decorative" val="1"/>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 uri="{C183D7F6-B498-43B3-948B-1728B52AA6E4}">
                <adec:decorative xmlns:adec="http://schemas.microsoft.com/office/drawing/2017/decorative" val="1"/>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84B8E19A-569B-855B-EBF8-C02F2998ABC8}"/>
              </a:ext>
              <a:ext uri="{C183D7F6-B498-43B3-948B-1728B52AA6E4}">
                <adec:decorative xmlns:adec="http://schemas.microsoft.com/office/drawing/2017/decorative" val="1"/>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p>
        </p:txBody>
      </p:sp>
    </p:spTree>
    <p:extLst>
      <p:ext uri="{BB962C8B-B14F-4D97-AF65-F5344CB8AC3E}">
        <p14:creationId xmlns:p14="http://schemas.microsoft.com/office/powerpoint/2010/main" val="1933208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7">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98639877-C4A6-4E44-C600-FE3C6CD5F187}"/>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9" name="Freeform: Shape 8">
              <a:extLst>
                <a:ext uri="{FF2B5EF4-FFF2-40B4-BE49-F238E27FC236}">
                  <a16:creationId xmlns:a16="http://schemas.microsoft.com/office/drawing/2014/main" id="{F0439AA5-A7EE-A20E-BB67-D356776D0B21}"/>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0" name="Freeform: Shape 9">
              <a:extLst>
                <a:ext uri="{FF2B5EF4-FFF2-40B4-BE49-F238E27FC236}">
                  <a16:creationId xmlns:a16="http://schemas.microsoft.com/office/drawing/2014/main" id="{39E752F7-61F0-6779-9E8E-3541BFF7D2CF}"/>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Title 1">
            <a:extLst>
              <a:ext uri="{FF2B5EF4-FFF2-40B4-BE49-F238E27FC236}">
                <a16:creationId xmlns:a16="http://schemas.microsoft.com/office/drawing/2014/main" id="{FA7EBEDF-950A-F10B-DA20-24FB521457FC}"/>
              </a:ext>
            </a:extLst>
          </p:cNvPr>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p>
        </p:txBody>
      </p:sp>
      <p:sp>
        <p:nvSpPr>
          <p:cNvPr id="12" name="Freeform 11">
            <a:extLst>
              <a:ext uri="{FF2B5EF4-FFF2-40B4-BE49-F238E27FC236}">
                <a16:creationId xmlns:a16="http://schemas.microsoft.com/office/drawing/2014/main" id="{6FD0E545-8D0D-B848-836A-23CEBCD6B0A5}"/>
              </a:ext>
              <a:ext uri="{C183D7F6-B498-43B3-948B-1728B52AA6E4}">
                <adec:decorative xmlns:adec="http://schemas.microsoft.com/office/drawing/2017/decorative" val="1"/>
              </a:ext>
            </a:extLst>
          </p:cNvPr>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5" name="Freeform 14">
            <a:extLst>
              <a:ext uri="{FF2B5EF4-FFF2-40B4-BE49-F238E27FC236}">
                <a16:creationId xmlns:a16="http://schemas.microsoft.com/office/drawing/2014/main" id="{7114E853-6F7C-9899-77FD-0E77D0A86207}"/>
              </a:ext>
              <a:ext uri="{C183D7F6-B498-43B3-948B-1728B52AA6E4}">
                <adec:decorative xmlns:adec="http://schemas.microsoft.com/office/drawing/2017/decorative" val="1"/>
              </a:ext>
            </a:extLst>
          </p:cNvPr>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12">
            <a:extLst>
              <a:ext uri="{FF2B5EF4-FFF2-40B4-BE49-F238E27FC236}">
                <a16:creationId xmlns:a16="http://schemas.microsoft.com/office/drawing/2014/main" id="{69002426-033B-400A-C519-AF4C659C4F05}"/>
              </a:ext>
              <a:ext uri="{C183D7F6-B498-43B3-948B-1728B52AA6E4}">
                <adec:decorative xmlns:adec="http://schemas.microsoft.com/office/drawing/2017/decorative" val="1"/>
              </a:ext>
            </a:extLst>
          </p:cNvPr>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Content Placeholder 6">
            <a:extLst>
              <a:ext uri="{FF2B5EF4-FFF2-40B4-BE49-F238E27FC236}">
                <a16:creationId xmlns:a16="http://schemas.microsoft.com/office/drawing/2014/main" id="{13980755-170E-8438-DC1B-7B3283F2A49D}"/>
              </a:ext>
            </a:extLst>
          </p:cNvPr>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5">
            <a:extLst>
              <a:ext uri="{FF2B5EF4-FFF2-40B4-BE49-F238E27FC236}">
                <a16:creationId xmlns:a16="http://schemas.microsoft.com/office/drawing/2014/main" id="{933C021B-6AA4-3C5D-099F-96D113A1495C}"/>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2429495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2">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6890132-DB42-A903-1EAB-CA29D3F04340}"/>
              </a:ext>
            </a:extLst>
          </p:cNvPr>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p>
        </p:txBody>
      </p:sp>
      <p:pic>
        <p:nvPicPr>
          <p:cNvPr id="9" name="Picture 8">
            <a:extLst>
              <a:ext uri="{FF2B5EF4-FFF2-40B4-BE49-F238E27FC236}">
                <a16:creationId xmlns:a16="http://schemas.microsoft.com/office/drawing/2014/main" id="{B5ED90D1-D640-D115-6711-35DE812FC014}"/>
              </a:ext>
              <a:ext uri="{C183D7F6-B498-43B3-948B-1728B52AA6E4}">
                <adec:decorative xmlns:adec="http://schemas.microsoft.com/office/drawing/2017/decorative" val="1"/>
              </a:ext>
            </a:extLst>
          </p:cNvPr>
          <p:cNvPicPr>
            <a:picLocks noChangeAspect="1"/>
          </p:cNvPicPr>
          <p:nvPr userDrawn="1"/>
        </p:nvPicPr>
        <p:blipFill rotWithShape="1">
          <a:blip r:embed="rId2">
            <a:alphaModFix/>
          </a:blip>
          <a:srcRect r="30186" b="9728"/>
          <a:stretch/>
        </p:blipFill>
        <p:spPr>
          <a:xfrm>
            <a:off x="6768197" y="1875319"/>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 uri="{C183D7F6-B498-43B3-948B-1728B52AA6E4}">
                <adec:decorative xmlns:adec="http://schemas.microsoft.com/office/drawing/2017/decorative" val="1"/>
              </a:ext>
            </a:extLst>
          </p:cNvPr>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36597113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Section Header 1">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D24A04BE-9BA3-80DD-EE68-A8B8BA08532B}"/>
              </a:ext>
              <a:ext uri="{C183D7F6-B498-43B3-948B-1728B52AA6E4}">
                <adec:decorative xmlns:adec="http://schemas.microsoft.com/office/drawing/2017/decorative" val="1"/>
              </a:ext>
            </a:extLst>
          </p:cNvPr>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 uri="{C183D7F6-B498-43B3-948B-1728B52AA6E4}">
                <adec:decorative xmlns:adec="http://schemas.microsoft.com/office/drawing/2017/decorative" val="1"/>
              </a:ext>
            </a:extLst>
          </p:cNvPr>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 uri="{C183D7F6-B498-43B3-948B-1728B52AA6E4}">
                <adec:decorative xmlns:adec="http://schemas.microsoft.com/office/drawing/2017/decorative" val="1"/>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852384F4-F6AD-F668-A66B-AEFD70995F3B}"/>
              </a:ext>
            </a:extLst>
          </p:cNvPr>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p>
        </p:txBody>
      </p:sp>
      <p:sp>
        <p:nvSpPr>
          <p:cNvPr id="5" name="Picture Placeholder 4">
            <a:extLst>
              <a:ext uri="{FF2B5EF4-FFF2-40B4-BE49-F238E27FC236}">
                <a16:creationId xmlns:a16="http://schemas.microsoft.com/office/drawing/2014/main" id="{1AA0A37B-4C20-7766-0623-4E06EA6A5C83}"/>
              </a:ext>
            </a:extLst>
          </p:cNvPr>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a:extLst>
              <a:ext uri="{FF2B5EF4-FFF2-40B4-BE49-F238E27FC236}">
                <a16:creationId xmlns:a16="http://schemas.microsoft.com/office/drawing/2014/main" id="{83E1E65B-8F03-21A6-6A59-95F0691D8856}"/>
              </a:ext>
            </a:extLst>
          </p:cNvPr>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22234440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 uri="{C183D7F6-B498-43B3-948B-1728B52AA6E4}">
                <adec:decorative xmlns:adec="http://schemas.microsoft.com/office/drawing/2017/decorative" val="1"/>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a:extLst>
              <a:ext uri="{FF2B5EF4-FFF2-40B4-BE49-F238E27FC236}">
                <a16:creationId xmlns:a16="http://schemas.microsoft.com/office/drawing/2014/main" id="{2FE03F25-D589-68A8-30C7-175547B6A9EE}"/>
              </a:ext>
              <a:ext uri="{C183D7F6-B498-43B3-948B-1728B52AA6E4}">
                <adec:decorative xmlns:adec="http://schemas.microsoft.com/office/drawing/2017/decorative" val="1"/>
              </a:ext>
            </a:extLst>
          </p:cNvPr>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pic>
        <p:nvPicPr>
          <p:cNvPr id="6" name="Graphic 5">
            <a:extLst>
              <a:ext uri="{FF2B5EF4-FFF2-40B4-BE49-F238E27FC236}">
                <a16:creationId xmlns:a16="http://schemas.microsoft.com/office/drawing/2014/main" id="{7CB19B63-2AAF-E86D-D7F1-B659DB36B5AC}"/>
              </a:ext>
              <a:ext uri="{C183D7F6-B498-43B3-948B-1728B52AA6E4}">
                <adec:decorative xmlns:adec="http://schemas.microsoft.com/office/drawing/2017/decorative" val="1"/>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a:extLst>
              <a:ext uri="{FF2B5EF4-FFF2-40B4-BE49-F238E27FC236}">
                <a16:creationId xmlns:a16="http://schemas.microsoft.com/office/drawing/2014/main" id="{83712F38-4391-A499-56E2-8F095A506D08}"/>
              </a:ext>
              <a:ext uri="{C183D7F6-B498-43B3-948B-1728B52AA6E4}">
                <adec:decorative xmlns:adec="http://schemas.microsoft.com/office/drawing/2017/decorative" val="1"/>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p>
        </p:txBody>
      </p:sp>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179F09D-FCEF-2378-FD6D-390137D19D7F}"/>
              </a:ext>
            </a:extLst>
          </p:cNvPr>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2" name="Content Placeholder 6">
            <a:extLst>
              <a:ext uri="{FF2B5EF4-FFF2-40B4-BE49-F238E27FC236}">
                <a16:creationId xmlns:a16="http://schemas.microsoft.com/office/drawing/2014/main" id="{43E2AC72-73DB-7038-4867-55751103F51A}"/>
              </a:ext>
            </a:extLst>
          </p:cNvPr>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6">
            <a:extLst>
              <a:ext uri="{FF2B5EF4-FFF2-40B4-BE49-F238E27FC236}">
                <a16:creationId xmlns:a16="http://schemas.microsoft.com/office/drawing/2014/main" id="{C4B21F26-677B-015C-5D71-238B3798DF57}"/>
              </a:ext>
            </a:extLst>
          </p:cNvPr>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6">
            <a:extLst>
              <a:ext uri="{FF2B5EF4-FFF2-40B4-BE49-F238E27FC236}">
                <a16:creationId xmlns:a16="http://schemas.microsoft.com/office/drawing/2014/main" id="{A3F1B258-8FBC-06A8-3A1F-466CEEDBBEF2}"/>
              </a:ext>
              <a:ext uri="{C183D7F6-B498-43B3-948B-1728B52AA6E4}">
                <adec:decorative xmlns:adec="http://schemas.microsoft.com/office/drawing/2017/decorative" val="1"/>
              </a:ext>
            </a:extLst>
          </p:cNvPr>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11">
            <a:extLst>
              <a:ext uri="{FF2B5EF4-FFF2-40B4-BE49-F238E27FC236}">
                <a16:creationId xmlns:a16="http://schemas.microsoft.com/office/drawing/2014/main" id="{8BAD4AF0-64CE-5C0E-5440-00F8FC6B3194}"/>
              </a:ext>
              <a:ext uri="{C183D7F6-B498-43B3-948B-1728B52AA6E4}">
                <adec:decorative xmlns:adec="http://schemas.microsoft.com/office/drawing/2017/decorative" val="1"/>
              </a:ext>
            </a:extLst>
          </p:cNvPr>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a:extLst>
              <a:ext uri="{FF2B5EF4-FFF2-40B4-BE49-F238E27FC236}">
                <a16:creationId xmlns:a16="http://schemas.microsoft.com/office/drawing/2014/main" id="{03D91060-B9BF-0FA6-BD7C-AF8E38E919D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45243351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DCD020E-88CF-303D-F947-8EE980AC8093}"/>
              </a:ext>
              <a:ext uri="{C183D7F6-B498-43B3-948B-1728B52AA6E4}">
                <adec:decorative xmlns:adec="http://schemas.microsoft.com/office/drawing/2017/decorative" val="1"/>
              </a:ext>
            </a:extLst>
          </p:cNvPr>
          <p:cNvGrpSpPr/>
          <p:nvPr userDrawn="1"/>
        </p:nvGrpSpPr>
        <p:grpSpPr>
          <a:xfrm>
            <a:off x="1" y="1"/>
            <a:ext cx="12192000" cy="6800411"/>
            <a:chOff x="1" y="1"/>
            <a:chExt cx="12192000" cy="6800411"/>
          </a:xfrm>
        </p:grpSpPr>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p>
        </p:txBody>
      </p:sp>
      <p:sp>
        <p:nvSpPr>
          <p:cNvPr id="10" name="Content Placeholder 6">
            <a:extLst>
              <a:ext uri="{FF2B5EF4-FFF2-40B4-BE49-F238E27FC236}">
                <a16:creationId xmlns:a16="http://schemas.microsoft.com/office/drawing/2014/main" id="{75BC41E0-D44A-D8E0-DC48-F6520F28F71A}"/>
              </a:ext>
            </a:extLst>
          </p:cNvPr>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6">
            <a:extLst>
              <a:ext uri="{FF2B5EF4-FFF2-40B4-BE49-F238E27FC236}">
                <a16:creationId xmlns:a16="http://schemas.microsoft.com/office/drawing/2014/main" id="{25E9E434-8C66-15D8-D6B1-5DBED995F9B5}"/>
              </a:ext>
            </a:extLst>
          </p:cNvPr>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a:extLst>
              <a:ext uri="{FF2B5EF4-FFF2-40B4-BE49-F238E27FC236}">
                <a16:creationId xmlns:a16="http://schemas.microsoft.com/office/drawing/2014/main" id="{0BFE17F0-931A-B121-FFD2-AF3DBB5D6CFB}"/>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271636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le Content and Picture">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 uri="{C183D7F6-B498-43B3-948B-1728B52AA6E4}">
                <adec:decorative xmlns:adec="http://schemas.microsoft.com/office/drawing/2017/decorative" val="1"/>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 uri="{C183D7F6-B498-43B3-948B-1728B52AA6E4}">
                <adec:decorative xmlns:adec="http://schemas.microsoft.com/office/drawing/2017/decorative" val="1"/>
              </a:ext>
            </a:extLst>
          </p:cNvPr>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2A01A65B-D54F-AD53-7320-5D272BEC11D3}"/>
              </a:ext>
            </a:extLst>
          </p:cNvPr>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Picture Placeholder 4">
            <a:extLst>
              <a:ext uri="{FF2B5EF4-FFF2-40B4-BE49-F238E27FC236}">
                <a16:creationId xmlns:a16="http://schemas.microsoft.com/office/drawing/2014/main" id="{E724DBE4-044A-67D8-93C0-EB245AFBB297}"/>
              </a:ext>
            </a:extLst>
          </p:cNvPr>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 fmla="*/ 3943 w 4577531"/>
              <a:gd name="connsiteY0" fmla="*/ 3278407 h 6556814"/>
              <a:gd name="connsiteX1" fmla="*/ 1909737 w 4577531"/>
              <a:gd name="connsiteY1" fmla="*/ 0 h 6556814"/>
              <a:gd name="connsiteX2" fmla="*/ 4577531 w 4577531"/>
              <a:gd name="connsiteY2" fmla="*/ 3278407 h 6556814"/>
              <a:gd name="connsiteX3" fmla="*/ 2290737 w 4577531"/>
              <a:gd name="connsiteY3" fmla="*/ 6556814 h 6556814"/>
              <a:gd name="connsiteX4" fmla="*/ 3943 w 4577531"/>
              <a:gd name="connsiteY4" fmla="*/ 3278407 h 6556814"/>
              <a:gd name="connsiteX0" fmla="*/ 2372 w 4749832"/>
              <a:gd name="connsiteY0" fmla="*/ 3670402 h 6948809"/>
              <a:gd name="connsiteX1" fmla="*/ 1908166 w 4749832"/>
              <a:gd name="connsiteY1" fmla="*/ 391995 h 6948809"/>
              <a:gd name="connsiteX2" fmla="*/ 4460073 w 4749832"/>
              <a:gd name="connsiteY2" fmla="*/ 424182 h 6948809"/>
              <a:gd name="connsiteX3" fmla="*/ 4575960 w 4749832"/>
              <a:gd name="connsiteY3" fmla="*/ 3670402 h 6948809"/>
              <a:gd name="connsiteX4" fmla="*/ 2289166 w 4749832"/>
              <a:gd name="connsiteY4" fmla="*/ 6948809 h 6948809"/>
              <a:gd name="connsiteX5" fmla="*/ 2372 w 4749832"/>
              <a:gd name="connsiteY5" fmla="*/ 3670402 h 6948809"/>
              <a:gd name="connsiteX0" fmla="*/ 2372 w 4749832"/>
              <a:gd name="connsiteY0" fmla="*/ 3515592 h 6793999"/>
              <a:gd name="connsiteX1" fmla="*/ 1908166 w 4749832"/>
              <a:gd name="connsiteY1" fmla="*/ 237185 h 6793999"/>
              <a:gd name="connsiteX2" fmla="*/ 4460073 w 4749832"/>
              <a:gd name="connsiteY2" fmla="*/ 269372 h 6793999"/>
              <a:gd name="connsiteX3" fmla="*/ 4575960 w 4749832"/>
              <a:gd name="connsiteY3" fmla="*/ 3515592 h 6793999"/>
              <a:gd name="connsiteX4" fmla="*/ 2289166 w 4749832"/>
              <a:gd name="connsiteY4" fmla="*/ 6793999 h 6793999"/>
              <a:gd name="connsiteX5" fmla="*/ 2372 w 4749832"/>
              <a:gd name="connsiteY5" fmla="*/ 3515592 h 679399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3695 w 4751155"/>
              <a:gd name="connsiteY0" fmla="*/ 3278452 h 6556859"/>
              <a:gd name="connsiteX1" fmla="*/ 1909489 w 4751155"/>
              <a:gd name="connsiteY1" fmla="*/ 45 h 6556859"/>
              <a:gd name="connsiteX2" fmla="*/ 4461396 w 4751155"/>
              <a:gd name="connsiteY2" fmla="*/ 32232 h 6556859"/>
              <a:gd name="connsiteX3" fmla="*/ 4577283 w 4751155"/>
              <a:gd name="connsiteY3" fmla="*/ 3278452 h 6556859"/>
              <a:gd name="connsiteX4" fmla="*/ 2290489 w 4751155"/>
              <a:gd name="connsiteY4" fmla="*/ 6556859 h 6556859"/>
              <a:gd name="connsiteX5" fmla="*/ 3695 w 4751155"/>
              <a:gd name="connsiteY5" fmla="*/ 3278452 h 6556859"/>
              <a:gd name="connsiteX0" fmla="*/ 2433 w 4711793"/>
              <a:gd name="connsiteY0" fmla="*/ 4771380 h 6899113"/>
              <a:gd name="connsiteX1" fmla="*/ 1870127 w 4711793"/>
              <a:gd name="connsiteY1" fmla="*/ 321398 h 6899113"/>
              <a:gd name="connsiteX2" fmla="*/ 4422034 w 4711793"/>
              <a:gd name="connsiteY2" fmla="*/ 353585 h 6899113"/>
              <a:gd name="connsiteX3" fmla="*/ 4537921 w 4711793"/>
              <a:gd name="connsiteY3" fmla="*/ 3599805 h 6899113"/>
              <a:gd name="connsiteX4" fmla="*/ 2251127 w 4711793"/>
              <a:gd name="connsiteY4" fmla="*/ 6878212 h 6899113"/>
              <a:gd name="connsiteX5" fmla="*/ 2433 w 4711793"/>
              <a:gd name="connsiteY5" fmla="*/ 4771380 h 6899113"/>
              <a:gd name="connsiteX0" fmla="*/ 2433 w 4711793"/>
              <a:gd name="connsiteY0" fmla="*/ 4736101 h 6863719"/>
              <a:gd name="connsiteX1" fmla="*/ 1870127 w 4711793"/>
              <a:gd name="connsiteY1" fmla="*/ 333744 h 6863719"/>
              <a:gd name="connsiteX2" fmla="*/ 4422034 w 4711793"/>
              <a:gd name="connsiteY2" fmla="*/ 318306 h 6863719"/>
              <a:gd name="connsiteX3" fmla="*/ 4537921 w 4711793"/>
              <a:gd name="connsiteY3" fmla="*/ 3564526 h 6863719"/>
              <a:gd name="connsiteX4" fmla="*/ 2251127 w 4711793"/>
              <a:gd name="connsiteY4" fmla="*/ 6842933 h 6863719"/>
              <a:gd name="connsiteX5" fmla="*/ 2433 w 4711793"/>
              <a:gd name="connsiteY5" fmla="*/ 4736101 h 6863719"/>
              <a:gd name="connsiteX0" fmla="*/ 2995 w 4712355"/>
              <a:gd name="connsiteY0" fmla="*/ 4417795 h 6545413"/>
              <a:gd name="connsiteX1" fmla="*/ 1870689 w 4712355"/>
              <a:gd name="connsiteY1" fmla="*/ 15438 h 6545413"/>
              <a:gd name="connsiteX2" fmla="*/ 4422596 w 4712355"/>
              <a:gd name="connsiteY2" fmla="*/ 0 h 6545413"/>
              <a:gd name="connsiteX3" fmla="*/ 4538483 w 4712355"/>
              <a:gd name="connsiteY3" fmla="*/ 3246220 h 6545413"/>
              <a:gd name="connsiteX4" fmla="*/ 2251689 w 4712355"/>
              <a:gd name="connsiteY4" fmla="*/ 6524627 h 6545413"/>
              <a:gd name="connsiteX5" fmla="*/ 2995 w 4712355"/>
              <a:gd name="connsiteY5" fmla="*/ 4417795 h 6545413"/>
              <a:gd name="connsiteX0" fmla="*/ 3403 w 4712763"/>
              <a:gd name="connsiteY0" fmla="*/ 4724021 h 6851639"/>
              <a:gd name="connsiteX1" fmla="*/ 1871097 w 4712763"/>
              <a:gd name="connsiteY1" fmla="*/ 321664 h 6851639"/>
              <a:gd name="connsiteX2" fmla="*/ 4423004 w 4712763"/>
              <a:gd name="connsiteY2" fmla="*/ 306226 h 6851639"/>
              <a:gd name="connsiteX3" fmla="*/ 4538891 w 4712763"/>
              <a:gd name="connsiteY3" fmla="*/ 3552446 h 6851639"/>
              <a:gd name="connsiteX4" fmla="*/ 2252097 w 4712763"/>
              <a:gd name="connsiteY4" fmla="*/ 6830853 h 6851639"/>
              <a:gd name="connsiteX5" fmla="*/ 3403 w 4712763"/>
              <a:gd name="connsiteY5" fmla="*/ 4724021 h 6851639"/>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3172 w 4712532"/>
              <a:gd name="connsiteY0" fmla="*/ 4417795 h 6545413"/>
              <a:gd name="connsiteX1" fmla="*/ 1870866 w 4712532"/>
              <a:gd name="connsiteY1" fmla="*/ 15438 h 6545413"/>
              <a:gd name="connsiteX2" fmla="*/ 4422773 w 4712532"/>
              <a:gd name="connsiteY2" fmla="*/ 0 h 6545413"/>
              <a:gd name="connsiteX3" fmla="*/ 4538660 w 4712532"/>
              <a:gd name="connsiteY3" fmla="*/ 3246220 h 6545413"/>
              <a:gd name="connsiteX4" fmla="*/ 2251866 w 4712532"/>
              <a:gd name="connsiteY4" fmla="*/ 6524627 h 6545413"/>
              <a:gd name="connsiteX5" fmla="*/ 3172 w 4712532"/>
              <a:gd name="connsiteY5" fmla="*/ 4417795 h 6545413"/>
              <a:gd name="connsiteX0" fmla="*/ 12060 w 4721420"/>
              <a:gd name="connsiteY0" fmla="*/ 4417795 h 6545413"/>
              <a:gd name="connsiteX1" fmla="*/ 1879754 w 4721420"/>
              <a:gd name="connsiteY1" fmla="*/ 15438 h 6545413"/>
              <a:gd name="connsiteX2" fmla="*/ 4431661 w 4721420"/>
              <a:gd name="connsiteY2" fmla="*/ 0 h 6545413"/>
              <a:gd name="connsiteX3" fmla="*/ 4547548 w 4721420"/>
              <a:gd name="connsiteY3" fmla="*/ 3246220 h 6545413"/>
              <a:gd name="connsiteX4" fmla="*/ 2260754 w 4721420"/>
              <a:gd name="connsiteY4" fmla="*/ 6524627 h 6545413"/>
              <a:gd name="connsiteX5" fmla="*/ 12060 w 4721420"/>
              <a:gd name="connsiteY5" fmla="*/ 4417795 h 6545413"/>
              <a:gd name="connsiteX0" fmla="*/ 17431 w 4726791"/>
              <a:gd name="connsiteY0" fmla="*/ 4417795 h 6545976"/>
              <a:gd name="connsiteX1" fmla="*/ 1885125 w 4726791"/>
              <a:gd name="connsiteY1" fmla="*/ 15438 h 6545976"/>
              <a:gd name="connsiteX2" fmla="*/ 4437032 w 4726791"/>
              <a:gd name="connsiteY2" fmla="*/ 0 h 6545976"/>
              <a:gd name="connsiteX3" fmla="*/ 4552919 w 4726791"/>
              <a:gd name="connsiteY3" fmla="*/ 3246220 h 6545976"/>
              <a:gd name="connsiteX4" fmla="*/ 2266125 w 4726791"/>
              <a:gd name="connsiteY4" fmla="*/ 6524627 h 6545976"/>
              <a:gd name="connsiteX5" fmla="*/ 17431 w 4726791"/>
              <a:gd name="connsiteY5" fmla="*/ 4417795 h 6545976"/>
              <a:gd name="connsiteX0" fmla="*/ 32352 w 4741712"/>
              <a:gd name="connsiteY0" fmla="*/ 4417795 h 6542761"/>
              <a:gd name="connsiteX1" fmla="*/ 1900046 w 4741712"/>
              <a:gd name="connsiteY1" fmla="*/ 15438 h 6542761"/>
              <a:gd name="connsiteX2" fmla="*/ 4451953 w 4741712"/>
              <a:gd name="connsiteY2" fmla="*/ 0 h 6542761"/>
              <a:gd name="connsiteX3" fmla="*/ 4567840 w 4741712"/>
              <a:gd name="connsiteY3" fmla="*/ 3246220 h 6542761"/>
              <a:gd name="connsiteX4" fmla="*/ 2281046 w 4741712"/>
              <a:gd name="connsiteY4" fmla="*/ 6524627 h 6542761"/>
              <a:gd name="connsiteX5" fmla="*/ 32352 w 4741712"/>
              <a:gd name="connsiteY5" fmla="*/ 4417795 h 6542761"/>
              <a:gd name="connsiteX0" fmla="*/ 29235 w 4738595"/>
              <a:gd name="connsiteY0" fmla="*/ 4417795 h 6545413"/>
              <a:gd name="connsiteX1" fmla="*/ 1896929 w 4738595"/>
              <a:gd name="connsiteY1" fmla="*/ 15438 h 6545413"/>
              <a:gd name="connsiteX2" fmla="*/ 4448836 w 4738595"/>
              <a:gd name="connsiteY2" fmla="*/ 0 h 6545413"/>
              <a:gd name="connsiteX3" fmla="*/ 4564723 w 4738595"/>
              <a:gd name="connsiteY3" fmla="*/ 3246220 h 6545413"/>
              <a:gd name="connsiteX4" fmla="*/ 2620829 w 4738595"/>
              <a:gd name="connsiteY4" fmla="*/ 6524627 h 6545413"/>
              <a:gd name="connsiteX5" fmla="*/ 29235 w 4738595"/>
              <a:gd name="connsiteY5" fmla="*/ 4417795 h 6545413"/>
              <a:gd name="connsiteX0" fmla="*/ 23668 w 4733028"/>
              <a:gd name="connsiteY0" fmla="*/ 4417795 h 6545413"/>
              <a:gd name="connsiteX1" fmla="*/ 1891362 w 4733028"/>
              <a:gd name="connsiteY1" fmla="*/ 15438 h 6545413"/>
              <a:gd name="connsiteX2" fmla="*/ 4443269 w 4733028"/>
              <a:gd name="connsiteY2" fmla="*/ 0 h 6545413"/>
              <a:gd name="connsiteX3" fmla="*/ 4559156 w 4733028"/>
              <a:gd name="connsiteY3" fmla="*/ 3246220 h 6545413"/>
              <a:gd name="connsiteX4" fmla="*/ 2615262 w 4733028"/>
              <a:gd name="connsiteY4" fmla="*/ 6524627 h 6545413"/>
              <a:gd name="connsiteX5" fmla="*/ 23668 w 4733028"/>
              <a:gd name="connsiteY5" fmla="*/ 4417795 h 6545413"/>
              <a:gd name="connsiteX0" fmla="*/ 4994 w 4714354"/>
              <a:gd name="connsiteY0" fmla="*/ 4417795 h 6549476"/>
              <a:gd name="connsiteX1" fmla="*/ 1872688 w 4714354"/>
              <a:gd name="connsiteY1" fmla="*/ 15438 h 6549476"/>
              <a:gd name="connsiteX2" fmla="*/ 4424595 w 4714354"/>
              <a:gd name="connsiteY2" fmla="*/ 0 h 6549476"/>
              <a:gd name="connsiteX3" fmla="*/ 4540482 w 4714354"/>
              <a:gd name="connsiteY3" fmla="*/ 3246220 h 6549476"/>
              <a:gd name="connsiteX4" fmla="*/ 2596588 w 4714354"/>
              <a:gd name="connsiteY4" fmla="*/ 6524627 h 6549476"/>
              <a:gd name="connsiteX5" fmla="*/ 4994 w 4714354"/>
              <a:gd name="connsiteY5" fmla="*/ 4417795 h 6549476"/>
              <a:gd name="connsiteX0" fmla="*/ 26445 w 4735805"/>
              <a:gd name="connsiteY0" fmla="*/ 4417795 h 6543881"/>
              <a:gd name="connsiteX1" fmla="*/ 1894139 w 4735805"/>
              <a:gd name="connsiteY1" fmla="*/ 15438 h 6543881"/>
              <a:gd name="connsiteX2" fmla="*/ 4446046 w 4735805"/>
              <a:gd name="connsiteY2" fmla="*/ 0 h 6543881"/>
              <a:gd name="connsiteX3" fmla="*/ 4561933 w 4735805"/>
              <a:gd name="connsiteY3" fmla="*/ 3246220 h 6543881"/>
              <a:gd name="connsiteX4" fmla="*/ 2618039 w 4735805"/>
              <a:gd name="connsiteY4" fmla="*/ 6524627 h 6543881"/>
              <a:gd name="connsiteX5" fmla="*/ 26445 w 4735805"/>
              <a:gd name="connsiteY5" fmla="*/ 4417795 h 6543881"/>
              <a:gd name="connsiteX0" fmla="*/ 26445 w 4735805"/>
              <a:gd name="connsiteY0" fmla="*/ 4417795 h 6524810"/>
              <a:gd name="connsiteX1" fmla="*/ 1894139 w 4735805"/>
              <a:gd name="connsiteY1" fmla="*/ 15438 h 6524810"/>
              <a:gd name="connsiteX2" fmla="*/ 4446046 w 4735805"/>
              <a:gd name="connsiteY2" fmla="*/ 0 h 6524810"/>
              <a:gd name="connsiteX3" fmla="*/ 4561933 w 4735805"/>
              <a:gd name="connsiteY3" fmla="*/ 3246220 h 6524810"/>
              <a:gd name="connsiteX4" fmla="*/ 2618039 w 4735805"/>
              <a:gd name="connsiteY4" fmla="*/ 6524627 h 6524810"/>
              <a:gd name="connsiteX5" fmla="*/ 26445 w 4735805"/>
              <a:gd name="connsiteY5" fmla="*/ 4417795 h 6524810"/>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710448"/>
              <a:gd name="connsiteY0" fmla="*/ 4417795 h 6610217"/>
              <a:gd name="connsiteX1" fmla="*/ 1894139 w 4710448"/>
              <a:gd name="connsiteY1" fmla="*/ 15438 h 6610217"/>
              <a:gd name="connsiteX2" fmla="*/ 4446046 w 4710448"/>
              <a:gd name="connsiteY2" fmla="*/ 0 h 6610217"/>
              <a:gd name="connsiteX3" fmla="*/ 4504783 w 4710448"/>
              <a:gd name="connsiteY3" fmla="*/ 5627470 h 6610217"/>
              <a:gd name="connsiteX4" fmla="*/ 2618039 w 4710448"/>
              <a:gd name="connsiteY4" fmla="*/ 6524627 h 6610217"/>
              <a:gd name="connsiteX5" fmla="*/ 26445 w 4710448"/>
              <a:gd name="connsiteY5" fmla="*/ 4417795 h 6610217"/>
              <a:gd name="connsiteX0" fmla="*/ 26445 w 4681167"/>
              <a:gd name="connsiteY0" fmla="*/ 4417795 h 6610217"/>
              <a:gd name="connsiteX1" fmla="*/ 1894139 w 4681167"/>
              <a:gd name="connsiteY1" fmla="*/ 15438 h 6610217"/>
              <a:gd name="connsiteX2" fmla="*/ 4446046 w 4681167"/>
              <a:gd name="connsiteY2" fmla="*/ 0 h 6610217"/>
              <a:gd name="connsiteX3" fmla="*/ 4504783 w 4681167"/>
              <a:gd name="connsiteY3" fmla="*/ 5627470 h 6610217"/>
              <a:gd name="connsiteX4" fmla="*/ 2618039 w 4681167"/>
              <a:gd name="connsiteY4" fmla="*/ 6524627 h 6610217"/>
              <a:gd name="connsiteX5" fmla="*/ 26445 w 4681167"/>
              <a:gd name="connsiteY5" fmla="*/ 4417795 h 6610217"/>
              <a:gd name="connsiteX0" fmla="*/ 26445 w 4706902"/>
              <a:gd name="connsiteY0" fmla="*/ 4417795 h 6614982"/>
              <a:gd name="connsiteX1" fmla="*/ 1894139 w 4706902"/>
              <a:gd name="connsiteY1" fmla="*/ 15438 h 6614982"/>
              <a:gd name="connsiteX2" fmla="*/ 4446046 w 4706902"/>
              <a:gd name="connsiteY2" fmla="*/ 0 h 6614982"/>
              <a:gd name="connsiteX3" fmla="*/ 4571458 w 4706902"/>
              <a:gd name="connsiteY3" fmla="*/ 5646520 h 6614982"/>
              <a:gd name="connsiteX4" fmla="*/ 2618039 w 4706902"/>
              <a:gd name="connsiteY4" fmla="*/ 6524627 h 6614982"/>
              <a:gd name="connsiteX5" fmla="*/ 26445 w 4706902"/>
              <a:gd name="connsiteY5" fmla="*/ 4417795 h 6614982"/>
              <a:gd name="connsiteX0" fmla="*/ 26445 w 4688588"/>
              <a:gd name="connsiteY0" fmla="*/ 4417795 h 6614982"/>
              <a:gd name="connsiteX1" fmla="*/ 1894139 w 4688588"/>
              <a:gd name="connsiteY1" fmla="*/ 15438 h 6614982"/>
              <a:gd name="connsiteX2" fmla="*/ 4446046 w 4688588"/>
              <a:gd name="connsiteY2" fmla="*/ 0 h 6614982"/>
              <a:gd name="connsiteX3" fmla="*/ 4571458 w 4688588"/>
              <a:gd name="connsiteY3" fmla="*/ 5646520 h 6614982"/>
              <a:gd name="connsiteX4" fmla="*/ 2618039 w 4688588"/>
              <a:gd name="connsiteY4" fmla="*/ 6524627 h 6614982"/>
              <a:gd name="connsiteX5" fmla="*/ 26445 w 4688588"/>
              <a:gd name="connsiteY5" fmla="*/ 4417795 h 6614982"/>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97839 h 6695026"/>
              <a:gd name="connsiteX1" fmla="*/ 1894139 w 4713932"/>
              <a:gd name="connsiteY1" fmla="*/ 95482 h 6695026"/>
              <a:gd name="connsiteX2" fmla="*/ 4446046 w 4713932"/>
              <a:gd name="connsiteY2" fmla="*/ 80044 h 6695026"/>
              <a:gd name="connsiteX3" fmla="*/ 4550821 w 4713932"/>
              <a:gd name="connsiteY3" fmla="*/ 603919 h 6695026"/>
              <a:gd name="connsiteX4" fmla="*/ 4571458 w 4713932"/>
              <a:gd name="connsiteY4" fmla="*/ 5726564 h 6695026"/>
              <a:gd name="connsiteX5" fmla="*/ 2618039 w 4713932"/>
              <a:gd name="connsiteY5" fmla="*/ 6604671 h 6695026"/>
              <a:gd name="connsiteX6" fmla="*/ 26445 w 4713932"/>
              <a:gd name="connsiteY6" fmla="*/ 4497839 h 6695026"/>
              <a:gd name="connsiteX0" fmla="*/ 26445 w 4713932"/>
              <a:gd name="connsiteY0" fmla="*/ 4447608 h 6644795"/>
              <a:gd name="connsiteX1" fmla="*/ 1894139 w 4713932"/>
              <a:gd name="connsiteY1" fmla="*/ 45251 h 6644795"/>
              <a:gd name="connsiteX2" fmla="*/ 4446046 w 4713932"/>
              <a:gd name="connsiteY2" fmla="*/ 29813 h 6644795"/>
              <a:gd name="connsiteX3" fmla="*/ 4550821 w 4713932"/>
              <a:gd name="connsiteY3" fmla="*/ 553688 h 6644795"/>
              <a:gd name="connsiteX4" fmla="*/ 4571458 w 4713932"/>
              <a:gd name="connsiteY4" fmla="*/ 5676333 h 6644795"/>
              <a:gd name="connsiteX5" fmla="*/ 2618039 w 4713932"/>
              <a:gd name="connsiteY5" fmla="*/ 6554440 h 6644795"/>
              <a:gd name="connsiteX6" fmla="*/ 26445 w 4713932"/>
              <a:gd name="connsiteY6" fmla="*/ 4447608 h 6644795"/>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5238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28951 h 6626138"/>
              <a:gd name="connsiteX1" fmla="*/ 1894139 w 4713932"/>
              <a:gd name="connsiteY1" fmla="*/ 26594 h 6626138"/>
              <a:gd name="connsiteX2" fmla="*/ 4446046 w 4713932"/>
              <a:gd name="connsiteY2" fmla="*/ 11156 h 6626138"/>
              <a:gd name="connsiteX3" fmla="*/ 4550821 w 4713932"/>
              <a:gd name="connsiteY3" fmla="*/ 128631 h 6626138"/>
              <a:gd name="connsiteX4" fmla="*/ 4571458 w 4713932"/>
              <a:gd name="connsiteY4" fmla="*/ 5657676 h 6626138"/>
              <a:gd name="connsiteX5" fmla="*/ 2618039 w 4713932"/>
              <a:gd name="connsiteY5" fmla="*/ 6535783 h 6626138"/>
              <a:gd name="connsiteX6" fmla="*/ 26445 w 4713932"/>
              <a:gd name="connsiteY6" fmla="*/ 4428951 h 6626138"/>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7795 h 6614982"/>
              <a:gd name="connsiteX1" fmla="*/ 1894139 w 4713932"/>
              <a:gd name="connsiteY1" fmla="*/ 15438 h 6614982"/>
              <a:gd name="connsiteX2" fmla="*/ 4446046 w 4713932"/>
              <a:gd name="connsiteY2" fmla="*/ 0 h 6614982"/>
              <a:gd name="connsiteX3" fmla="*/ 4550821 w 4713932"/>
              <a:gd name="connsiteY3" fmla="*/ 117475 h 6614982"/>
              <a:gd name="connsiteX4" fmla="*/ 4571458 w 4713932"/>
              <a:gd name="connsiteY4" fmla="*/ 5646520 h 6614982"/>
              <a:gd name="connsiteX5" fmla="*/ 2618039 w 4713932"/>
              <a:gd name="connsiteY5" fmla="*/ 6524627 h 6614982"/>
              <a:gd name="connsiteX6" fmla="*/ 26445 w 4713932"/>
              <a:gd name="connsiteY6" fmla="*/ 4417795 h 6614982"/>
              <a:gd name="connsiteX0" fmla="*/ 26445 w 4713932"/>
              <a:gd name="connsiteY0" fmla="*/ 4419590 h 6616777"/>
              <a:gd name="connsiteX1" fmla="*/ 1894139 w 4713932"/>
              <a:gd name="connsiteY1" fmla="*/ 17233 h 6616777"/>
              <a:gd name="connsiteX2" fmla="*/ 444604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19590 h 6616777"/>
              <a:gd name="connsiteX1" fmla="*/ 1894139 w 4713932"/>
              <a:gd name="connsiteY1" fmla="*/ 17233 h 6616777"/>
              <a:gd name="connsiteX2" fmla="*/ 4400326 w 4713932"/>
              <a:gd name="connsiteY2" fmla="*/ 1795 h 6616777"/>
              <a:gd name="connsiteX3" fmla="*/ 4550821 w 4713932"/>
              <a:gd name="connsiteY3" fmla="*/ 119270 h 6616777"/>
              <a:gd name="connsiteX4" fmla="*/ 4571458 w 4713932"/>
              <a:gd name="connsiteY4" fmla="*/ 5648315 h 6616777"/>
              <a:gd name="connsiteX5" fmla="*/ 2618039 w 4713932"/>
              <a:gd name="connsiteY5" fmla="*/ 6526422 h 6616777"/>
              <a:gd name="connsiteX6" fmla="*/ 26445 w 4713932"/>
              <a:gd name="connsiteY6" fmla="*/ 4419590 h 6616777"/>
              <a:gd name="connsiteX0" fmla="*/ 26445 w 4713932"/>
              <a:gd name="connsiteY0" fmla="*/ 4439546 h 6636733"/>
              <a:gd name="connsiteX1" fmla="*/ 1894139 w 4713932"/>
              <a:gd name="connsiteY1" fmla="*/ 37189 h 6636733"/>
              <a:gd name="connsiteX2" fmla="*/ 4374926 w 4713932"/>
              <a:gd name="connsiteY2" fmla="*/ 1431 h 6636733"/>
              <a:gd name="connsiteX3" fmla="*/ 4550821 w 4713932"/>
              <a:gd name="connsiteY3" fmla="*/ 139226 h 6636733"/>
              <a:gd name="connsiteX4" fmla="*/ 4571458 w 4713932"/>
              <a:gd name="connsiteY4" fmla="*/ 5668271 h 6636733"/>
              <a:gd name="connsiteX5" fmla="*/ 2618039 w 4713932"/>
              <a:gd name="connsiteY5" fmla="*/ 6546378 h 6636733"/>
              <a:gd name="connsiteX6" fmla="*/ 26445 w 4713932"/>
              <a:gd name="connsiteY6" fmla="*/ 4439546 h 6636733"/>
              <a:gd name="connsiteX0" fmla="*/ 26445 w 4713932"/>
              <a:gd name="connsiteY0" fmla="*/ 4439063 h 6636250"/>
              <a:gd name="connsiteX1" fmla="*/ 1894139 w 4713932"/>
              <a:gd name="connsiteY1" fmla="*/ 36706 h 6636250"/>
              <a:gd name="connsiteX2" fmla="*/ 4374926 w 4713932"/>
              <a:gd name="connsiteY2" fmla="*/ 948 h 6636250"/>
              <a:gd name="connsiteX3" fmla="*/ 4550821 w 4713932"/>
              <a:gd name="connsiteY3" fmla="*/ 189543 h 6636250"/>
              <a:gd name="connsiteX4" fmla="*/ 4571458 w 4713932"/>
              <a:gd name="connsiteY4" fmla="*/ 5667788 h 6636250"/>
              <a:gd name="connsiteX5" fmla="*/ 2618039 w 4713932"/>
              <a:gd name="connsiteY5" fmla="*/ 6545895 h 6636250"/>
              <a:gd name="connsiteX6" fmla="*/ 26445 w 4713932"/>
              <a:gd name="connsiteY6" fmla="*/ 4439063 h 6636250"/>
              <a:gd name="connsiteX0" fmla="*/ 21007 w 4708494"/>
              <a:gd name="connsiteY0" fmla="*/ 4439063 h 6636250"/>
              <a:gd name="connsiteX1" fmla="*/ 1919181 w 4708494"/>
              <a:gd name="connsiteY1" fmla="*/ 6226 h 6636250"/>
              <a:gd name="connsiteX2" fmla="*/ 4369488 w 4708494"/>
              <a:gd name="connsiteY2" fmla="*/ 948 h 6636250"/>
              <a:gd name="connsiteX3" fmla="*/ 4545383 w 4708494"/>
              <a:gd name="connsiteY3" fmla="*/ 189543 h 6636250"/>
              <a:gd name="connsiteX4" fmla="*/ 4566020 w 4708494"/>
              <a:gd name="connsiteY4" fmla="*/ 5667788 h 6636250"/>
              <a:gd name="connsiteX5" fmla="*/ 2612601 w 4708494"/>
              <a:gd name="connsiteY5" fmla="*/ 6545895 h 6636250"/>
              <a:gd name="connsiteX6" fmla="*/ 21007 w 4708494"/>
              <a:gd name="connsiteY6" fmla="*/ 4439063 h 6636250"/>
              <a:gd name="connsiteX0" fmla="*/ 19363 w 4706850"/>
              <a:gd name="connsiteY0" fmla="*/ 4448077 h 6645264"/>
              <a:gd name="connsiteX1" fmla="*/ 1937857 w 4706850"/>
              <a:gd name="connsiteY1" fmla="*/ 0 h 6645264"/>
              <a:gd name="connsiteX2" fmla="*/ 4367844 w 4706850"/>
              <a:gd name="connsiteY2" fmla="*/ 9962 h 6645264"/>
              <a:gd name="connsiteX3" fmla="*/ 4543739 w 4706850"/>
              <a:gd name="connsiteY3" fmla="*/ 198557 h 6645264"/>
              <a:gd name="connsiteX4" fmla="*/ 4564376 w 4706850"/>
              <a:gd name="connsiteY4" fmla="*/ 5676802 h 6645264"/>
              <a:gd name="connsiteX5" fmla="*/ 2610957 w 4706850"/>
              <a:gd name="connsiteY5" fmla="*/ 6554909 h 6645264"/>
              <a:gd name="connsiteX6" fmla="*/ 19363 w 4706850"/>
              <a:gd name="connsiteY6" fmla="*/ 4448077 h 6645264"/>
              <a:gd name="connsiteX0" fmla="*/ 17092 w 4704579"/>
              <a:gd name="connsiteY0" fmla="*/ 4448077 h 6645264"/>
              <a:gd name="connsiteX1" fmla="*/ 1935586 w 4704579"/>
              <a:gd name="connsiteY1" fmla="*/ 0 h 6645264"/>
              <a:gd name="connsiteX2" fmla="*/ 4365573 w 4704579"/>
              <a:gd name="connsiteY2" fmla="*/ 9962 h 6645264"/>
              <a:gd name="connsiteX3" fmla="*/ 4541468 w 4704579"/>
              <a:gd name="connsiteY3" fmla="*/ 198557 h 6645264"/>
              <a:gd name="connsiteX4" fmla="*/ 4562105 w 4704579"/>
              <a:gd name="connsiteY4" fmla="*/ 5676802 h 6645264"/>
              <a:gd name="connsiteX5" fmla="*/ 2608686 w 4704579"/>
              <a:gd name="connsiteY5" fmla="*/ 6554909 h 6645264"/>
              <a:gd name="connsiteX6" fmla="*/ 17092 w 4704579"/>
              <a:gd name="connsiteY6" fmla="*/ 4448077 h 6645264"/>
              <a:gd name="connsiteX0" fmla="*/ 17092 w 4702381"/>
              <a:gd name="connsiteY0" fmla="*/ 4448077 h 6645264"/>
              <a:gd name="connsiteX1" fmla="*/ 1935586 w 4702381"/>
              <a:gd name="connsiteY1" fmla="*/ 0 h 6645264"/>
              <a:gd name="connsiteX2" fmla="*/ 4365573 w 4702381"/>
              <a:gd name="connsiteY2" fmla="*/ 9962 h 6645264"/>
              <a:gd name="connsiteX3" fmla="*/ 4541468 w 4702381"/>
              <a:gd name="connsiteY3" fmla="*/ 198557 h 6645264"/>
              <a:gd name="connsiteX4" fmla="*/ 4562105 w 4702381"/>
              <a:gd name="connsiteY4" fmla="*/ 5676802 h 6645264"/>
              <a:gd name="connsiteX5" fmla="*/ 2608686 w 4702381"/>
              <a:gd name="connsiteY5" fmla="*/ 6554909 h 6645264"/>
              <a:gd name="connsiteX6" fmla="*/ 17092 w 4702381"/>
              <a:gd name="connsiteY6" fmla="*/ 4448077 h 6645264"/>
              <a:gd name="connsiteX0" fmla="*/ 17092 w 4701301"/>
              <a:gd name="connsiteY0" fmla="*/ 4448077 h 6645264"/>
              <a:gd name="connsiteX1" fmla="*/ 1935586 w 4701301"/>
              <a:gd name="connsiteY1" fmla="*/ 0 h 6645264"/>
              <a:gd name="connsiteX2" fmla="*/ 4365573 w 4701301"/>
              <a:gd name="connsiteY2" fmla="*/ 9962 h 6645264"/>
              <a:gd name="connsiteX3" fmla="*/ 4541468 w 4701301"/>
              <a:gd name="connsiteY3" fmla="*/ 198557 h 6645264"/>
              <a:gd name="connsiteX4" fmla="*/ 4562105 w 4701301"/>
              <a:gd name="connsiteY4" fmla="*/ 5676802 h 6645264"/>
              <a:gd name="connsiteX5" fmla="*/ 2608686 w 4701301"/>
              <a:gd name="connsiteY5" fmla="*/ 6554909 h 6645264"/>
              <a:gd name="connsiteX6" fmla="*/ 17092 w 4701301"/>
              <a:gd name="connsiteY6" fmla="*/ 4448077 h 6645264"/>
              <a:gd name="connsiteX0" fmla="*/ 17092 w 4562105"/>
              <a:gd name="connsiteY0" fmla="*/ 4448077 h 6645264"/>
              <a:gd name="connsiteX1" fmla="*/ 1935586 w 4562105"/>
              <a:gd name="connsiteY1" fmla="*/ 0 h 6645264"/>
              <a:gd name="connsiteX2" fmla="*/ 4365573 w 4562105"/>
              <a:gd name="connsiteY2" fmla="*/ 9962 h 6645264"/>
              <a:gd name="connsiteX3" fmla="*/ 4541468 w 4562105"/>
              <a:gd name="connsiteY3" fmla="*/ 198557 h 6645264"/>
              <a:gd name="connsiteX4" fmla="*/ 4562105 w 4562105"/>
              <a:gd name="connsiteY4" fmla="*/ 5676802 h 6645264"/>
              <a:gd name="connsiteX5" fmla="*/ 2608686 w 4562105"/>
              <a:gd name="connsiteY5" fmla="*/ 6554909 h 6645264"/>
              <a:gd name="connsiteX6" fmla="*/ 17092 w 4562105"/>
              <a:gd name="connsiteY6" fmla="*/ 4448077 h 6645264"/>
              <a:gd name="connsiteX0" fmla="*/ 17092 w 4562105"/>
              <a:gd name="connsiteY0" fmla="*/ 4448077 h 6592556"/>
              <a:gd name="connsiteX1" fmla="*/ 1935586 w 4562105"/>
              <a:gd name="connsiteY1" fmla="*/ 0 h 6592556"/>
              <a:gd name="connsiteX2" fmla="*/ 4365573 w 4562105"/>
              <a:gd name="connsiteY2" fmla="*/ 9962 h 6592556"/>
              <a:gd name="connsiteX3" fmla="*/ 4541468 w 4562105"/>
              <a:gd name="connsiteY3" fmla="*/ 198557 h 6592556"/>
              <a:gd name="connsiteX4" fmla="*/ 4562105 w 4562105"/>
              <a:gd name="connsiteY4" fmla="*/ 5676802 h 6592556"/>
              <a:gd name="connsiteX5" fmla="*/ 2608686 w 4562105"/>
              <a:gd name="connsiteY5" fmla="*/ 6554909 h 6592556"/>
              <a:gd name="connsiteX6" fmla="*/ 17092 w 4562105"/>
              <a:gd name="connsiteY6" fmla="*/ 4448077 h 6592556"/>
              <a:gd name="connsiteX0" fmla="*/ 17092 w 4562105"/>
              <a:gd name="connsiteY0" fmla="*/ 4448077 h 6561473"/>
              <a:gd name="connsiteX1" fmla="*/ 1935586 w 4562105"/>
              <a:gd name="connsiteY1" fmla="*/ 0 h 6561473"/>
              <a:gd name="connsiteX2" fmla="*/ 4365573 w 4562105"/>
              <a:gd name="connsiteY2" fmla="*/ 9962 h 6561473"/>
              <a:gd name="connsiteX3" fmla="*/ 4541468 w 4562105"/>
              <a:gd name="connsiteY3" fmla="*/ 198557 h 6561473"/>
              <a:gd name="connsiteX4" fmla="*/ 4562105 w 4562105"/>
              <a:gd name="connsiteY4" fmla="*/ 5676802 h 6561473"/>
              <a:gd name="connsiteX5" fmla="*/ 2608686 w 4562105"/>
              <a:gd name="connsiteY5" fmla="*/ 6554909 h 6561473"/>
              <a:gd name="connsiteX6" fmla="*/ 17092 w 4562105"/>
              <a:gd name="connsiteY6" fmla="*/ 4448077 h 6561473"/>
              <a:gd name="connsiteX0" fmla="*/ 18334 w 4563347"/>
              <a:gd name="connsiteY0" fmla="*/ 4448077 h 6561473"/>
              <a:gd name="connsiteX1" fmla="*/ 1936828 w 4563347"/>
              <a:gd name="connsiteY1" fmla="*/ 0 h 6561473"/>
              <a:gd name="connsiteX2" fmla="*/ 4366815 w 4563347"/>
              <a:gd name="connsiteY2" fmla="*/ 9962 h 6561473"/>
              <a:gd name="connsiteX3" fmla="*/ 4542710 w 4563347"/>
              <a:gd name="connsiteY3" fmla="*/ 198557 h 6561473"/>
              <a:gd name="connsiteX4" fmla="*/ 4563347 w 4563347"/>
              <a:gd name="connsiteY4" fmla="*/ 5676802 h 6561473"/>
              <a:gd name="connsiteX5" fmla="*/ 2609928 w 4563347"/>
              <a:gd name="connsiteY5" fmla="*/ 6554909 h 6561473"/>
              <a:gd name="connsiteX6" fmla="*/ 18334 w 4563347"/>
              <a:gd name="connsiteY6" fmla="*/ 4448077 h 6561473"/>
              <a:gd name="connsiteX0" fmla="*/ 20715 w 4565728"/>
              <a:gd name="connsiteY0" fmla="*/ 4448077 h 6564701"/>
              <a:gd name="connsiteX1" fmla="*/ 1939209 w 4565728"/>
              <a:gd name="connsiteY1" fmla="*/ 0 h 6564701"/>
              <a:gd name="connsiteX2" fmla="*/ 4369196 w 4565728"/>
              <a:gd name="connsiteY2" fmla="*/ 9962 h 6564701"/>
              <a:gd name="connsiteX3" fmla="*/ 4545091 w 4565728"/>
              <a:gd name="connsiteY3" fmla="*/ 198557 h 6564701"/>
              <a:gd name="connsiteX4" fmla="*/ 4565728 w 4565728"/>
              <a:gd name="connsiteY4" fmla="*/ 5676802 h 6564701"/>
              <a:gd name="connsiteX5" fmla="*/ 2612309 w 4565728"/>
              <a:gd name="connsiteY5" fmla="*/ 6554909 h 6564701"/>
              <a:gd name="connsiteX6" fmla="*/ 1024651 w 4565728"/>
              <a:gd name="connsiteY6" fmla="*/ 6039287 h 6564701"/>
              <a:gd name="connsiteX7" fmla="*/ 20715 w 4565728"/>
              <a:gd name="connsiteY7" fmla="*/ 4448077 h 6564701"/>
              <a:gd name="connsiteX0" fmla="*/ 20715 w 4565728"/>
              <a:gd name="connsiteY0" fmla="*/ 4448077 h 6562037"/>
              <a:gd name="connsiteX1" fmla="*/ 1939209 w 4565728"/>
              <a:gd name="connsiteY1" fmla="*/ 0 h 6562037"/>
              <a:gd name="connsiteX2" fmla="*/ 4369196 w 4565728"/>
              <a:gd name="connsiteY2" fmla="*/ 9962 h 6562037"/>
              <a:gd name="connsiteX3" fmla="*/ 4545091 w 4565728"/>
              <a:gd name="connsiteY3" fmla="*/ 198557 h 6562037"/>
              <a:gd name="connsiteX4" fmla="*/ 4565728 w 4565728"/>
              <a:gd name="connsiteY4" fmla="*/ 5676802 h 6562037"/>
              <a:gd name="connsiteX5" fmla="*/ 2612309 w 4565728"/>
              <a:gd name="connsiteY5" fmla="*/ 6554909 h 6562037"/>
              <a:gd name="connsiteX6" fmla="*/ 1024651 w 4565728"/>
              <a:gd name="connsiteY6" fmla="*/ 6039287 h 6562037"/>
              <a:gd name="connsiteX7" fmla="*/ 20715 w 4565728"/>
              <a:gd name="connsiteY7" fmla="*/ 4448077 h 6562037"/>
              <a:gd name="connsiteX0" fmla="*/ 20715 w 4565728"/>
              <a:gd name="connsiteY0" fmla="*/ 4448077 h 6556271"/>
              <a:gd name="connsiteX1" fmla="*/ 1939209 w 4565728"/>
              <a:gd name="connsiteY1" fmla="*/ 0 h 6556271"/>
              <a:gd name="connsiteX2" fmla="*/ 4369196 w 4565728"/>
              <a:gd name="connsiteY2" fmla="*/ 9962 h 6556271"/>
              <a:gd name="connsiteX3" fmla="*/ 4545091 w 4565728"/>
              <a:gd name="connsiteY3" fmla="*/ 198557 h 6556271"/>
              <a:gd name="connsiteX4" fmla="*/ 4565728 w 4565728"/>
              <a:gd name="connsiteY4" fmla="*/ 5676802 h 6556271"/>
              <a:gd name="connsiteX5" fmla="*/ 2612309 w 4565728"/>
              <a:gd name="connsiteY5" fmla="*/ 6554909 h 6556271"/>
              <a:gd name="connsiteX6" fmla="*/ 1024651 w 4565728"/>
              <a:gd name="connsiteY6" fmla="*/ 6039287 h 6556271"/>
              <a:gd name="connsiteX7" fmla="*/ 20715 w 4565728"/>
              <a:gd name="connsiteY7" fmla="*/ 4448077 h 6556271"/>
              <a:gd name="connsiteX0" fmla="*/ 14580 w 4559593"/>
              <a:gd name="connsiteY0" fmla="*/ 4448077 h 6556271"/>
              <a:gd name="connsiteX1" fmla="*/ 1933074 w 4559593"/>
              <a:gd name="connsiteY1" fmla="*/ 0 h 6556271"/>
              <a:gd name="connsiteX2" fmla="*/ 4363061 w 4559593"/>
              <a:gd name="connsiteY2" fmla="*/ 9962 h 6556271"/>
              <a:gd name="connsiteX3" fmla="*/ 4538956 w 4559593"/>
              <a:gd name="connsiteY3" fmla="*/ 198557 h 6556271"/>
              <a:gd name="connsiteX4" fmla="*/ 4559593 w 4559593"/>
              <a:gd name="connsiteY4" fmla="*/ 5676802 h 6556271"/>
              <a:gd name="connsiteX5" fmla="*/ 2606174 w 4559593"/>
              <a:gd name="connsiteY5" fmla="*/ 6554909 h 6556271"/>
              <a:gd name="connsiteX6" fmla="*/ 1018516 w 4559593"/>
              <a:gd name="connsiteY6" fmla="*/ 6039287 h 6556271"/>
              <a:gd name="connsiteX7" fmla="*/ 14580 w 4559593"/>
              <a:gd name="connsiteY7" fmla="*/ 4448077 h 6556271"/>
              <a:gd name="connsiteX0" fmla="*/ 22013 w 4567026"/>
              <a:gd name="connsiteY0" fmla="*/ 4448077 h 6562037"/>
              <a:gd name="connsiteX1" fmla="*/ 1940507 w 4567026"/>
              <a:gd name="connsiteY1" fmla="*/ 0 h 6562037"/>
              <a:gd name="connsiteX2" fmla="*/ 4370494 w 4567026"/>
              <a:gd name="connsiteY2" fmla="*/ 9962 h 6562037"/>
              <a:gd name="connsiteX3" fmla="*/ 4546389 w 4567026"/>
              <a:gd name="connsiteY3" fmla="*/ 198557 h 6562037"/>
              <a:gd name="connsiteX4" fmla="*/ 4567026 w 4567026"/>
              <a:gd name="connsiteY4" fmla="*/ 5676802 h 6562037"/>
              <a:gd name="connsiteX5" fmla="*/ 2613607 w 4567026"/>
              <a:gd name="connsiteY5" fmla="*/ 6554909 h 6562037"/>
              <a:gd name="connsiteX6" fmla="*/ 1005629 w 4567026"/>
              <a:gd name="connsiteY6" fmla="*/ 6039287 h 6562037"/>
              <a:gd name="connsiteX7" fmla="*/ 22013 w 4567026"/>
              <a:gd name="connsiteY7" fmla="*/ 4448077 h 6562037"/>
              <a:gd name="connsiteX0" fmla="*/ 22013 w 4567026"/>
              <a:gd name="connsiteY0" fmla="*/ 4448077 h 6561948"/>
              <a:gd name="connsiteX1" fmla="*/ 1940507 w 4567026"/>
              <a:gd name="connsiteY1" fmla="*/ 0 h 6561948"/>
              <a:gd name="connsiteX2" fmla="*/ 4370494 w 4567026"/>
              <a:gd name="connsiteY2" fmla="*/ 9962 h 6561948"/>
              <a:gd name="connsiteX3" fmla="*/ 4546389 w 4567026"/>
              <a:gd name="connsiteY3" fmla="*/ 198557 h 6561948"/>
              <a:gd name="connsiteX4" fmla="*/ 4567026 w 4567026"/>
              <a:gd name="connsiteY4" fmla="*/ 5676802 h 6561948"/>
              <a:gd name="connsiteX5" fmla="*/ 2613607 w 4567026"/>
              <a:gd name="connsiteY5" fmla="*/ 6554909 h 6561948"/>
              <a:gd name="connsiteX6" fmla="*/ 1005629 w 4567026"/>
              <a:gd name="connsiteY6" fmla="*/ 6039287 h 6561948"/>
              <a:gd name="connsiteX7" fmla="*/ 22013 w 4567026"/>
              <a:gd name="connsiteY7" fmla="*/ 4448077 h 6561948"/>
              <a:gd name="connsiteX0" fmla="*/ 22013 w 4567026"/>
              <a:gd name="connsiteY0" fmla="*/ 4448077 h 6554958"/>
              <a:gd name="connsiteX1" fmla="*/ 1940507 w 4567026"/>
              <a:gd name="connsiteY1" fmla="*/ 0 h 6554958"/>
              <a:gd name="connsiteX2" fmla="*/ 4370494 w 4567026"/>
              <a:gd name="connsiteY2" fmla="*/ 9962 h 6554958"/>
              <a:gd name="connsiteX3" fmla="*/ 4546389 w 4567026"/>
              <a:gd name="connsiteY3" fmla="*/ 198557 h 6554958"/>
              <a:gd name="connsiteX4" fmla="*/ 4567026 w 4567026"/>
              <a:gd name="connsiteY4" fmla="*/ 5676802 h 6554958"/>
              <a:gd name="connsiteX5" fmla="*/ 2613607 w 4567026"/>
              <a:gd name="connsiteY5" fmla="*/ 6554909 h 6554958"/>
              <a:gd name="connsiteX6" fmla="*/ 1005629 w 4567026"/>
              <a:gd name="connsiteY6" fmla="*/ 6039287 h 6554958"/>
              <a:gd name="connsiteX7" fmla="*/ 22013 w 4567026"/>
              <a:gd name="connsiteY7" fmla="*/ 4448077 h 6554958"/>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65849"/>
              <a:gd name="connsiteX1" fmla="*/ 1940507 w 4567026"/>
              <a:gd name="connsiteY1" fmla="*/ 0 h 6565849"/>
              <a:gd name="connsiteX2" fmla="*/ 4370494 w 4567026"/>
              <a:gd name="connsiteY2" fmla="*/ 9962 h 6565849"/>
              <a:gd name="connsiteX3" fmla="*/ 4546389 w 4567026"/>
              <a:gd name="connsiteY3" fmla="*/ 198557 h 6565849"/>
              <a:gd name="connsiteX4" fmla="*/ 4567026 w 4567026"/>
              <a:gd name="connsiteY4" fmla="*/ 5676802 h 6565849"/>
              <a:gd name="connsiteX5" fmla="*/ 3682789 w 4567026"/>
              <a:gd name="connsiteY5" fmla="*/ 6333927 h 6565849"/>
              <a:gd name="connsiteX6" fmla="*/ 2613607 w 4567026"/>
              <a:gd name="connsiteY6" fmla="*/ 6554909 h 6565849"/>
              <a:gd name="connsiteX7" fmla="*/ 1005629 w 4567026"/>
              <a:gd name="connsiteY7" fmla="*/ 6039287 h 6565849"/>
              <a:gd name="connsiteX8" fmla="*/ 22013 w 4567026"/>
              <a:gd name="connsiteY8" fmla="*/ 4448077 h 6565849"/>
              <a:gd name="connsiteX0" fmla="*/ 22013 w 4567026"/>
              <a:gd name="connsiteY0" fmla="*/ 4448077 h 6555026"/>
              <a:gd name="connsiteX1" fmla="*/ 1940507 w 4567026"/>
              <a:gd name="connsiteY1" fmla="*/ 0 h 6555026"/>
              <a:gd name="connsiteX2" fmla="*/ 4370494 w 4567026"/>
              <a:gd name="connsiteY2" fmla="*/ 9962 h 6555026"/>
              <a:gd name="connsiteX3" fmla="*/ 4546389 w 4567026"/>
              <a:gd name="connsiteY3" fmla="*/ 198557 h 6555026"/>
              <a:gd name="connsiteX4" fmla="*/ 4567026 w 4567026"/>
              <a:gd name="connsiteY4" fmla="*/ 5676802 h 6555026"/>
              <a:gd name="connsiteX5" fmla="*/ 3682789 w 4567026"/>
              <a:gd name="connsiteY5" fmla="*/ 6333927 h 6555026"/>
              <a:gd name="connsiteX6" fmla="*/ 2613607 w 4567026"/>
              <a:gd name="connsiteY6" fmla="*/ 6554909 h 6555026"/>
              <a:gd name="connsiteX7" fmla="*/ 1005629 w 4567026"/>
              <a:gd name="connsiteY7" fmla="*/ 6039287 h 6555026"/>
              <a:gd name="connsiteX8" fmla="*/ 22013 w 4567026"/>
              <a:gd name="connsiteY8" fmla="*/ 4448077 h 6555026"/>
              <a:gd name="connsiteX0" fmla="*/ 44498 w 4589511"/>
              <a:gd name="connsiteY0" fmla="*/ 4448077 h 6555026"/>
              <a:gd name="connsiteX1" fmla="*/ 1962992 w 4589511"/>
              <a:gd name="connsiteY1" fmla="*/ 0 h 6555026"/>
              <a:gd name="connsiteX2" fmla="*/ 4392979 w 4589511"/>
              <a:gd name="connsiteY2" fmla="*/ 9962 h 6555026"/>
              <a:gd name="connsiteX3" fmla="*/ 4568874 w 4589511"/>
              <a:gd name="connsiteY3" fmla="*/ 198557 h 6555026"/>
              <a:gd name="connsiteX4" fmla="*/ 4589511 w 4589511"/>
              <a:gd name="connsiteY4" fmla="*/ 5676802 h 6555026"/>
              <a:gd name="connsiteX5" fmla="*/ 3705274 w 4589511"/>
              <a:gd name="connsiteY5" fmla="*/ 6333927 h 6555026"/>
              <a:gd name="connsiteX6" fmla="*/ 2636092 w 4589511"/>
              <a:gd name="connsiteY6" fmla="*/ 6554909 h 6555026"/>
              <a:gd name="connsiteX7" fmla="*/ 1028114 w 4589511"/>
              <a:gd name="connsiteY7" fmla="*/ 6039287 h 6555026"/>
              <a:gd name="connsiteX8" fmla="*/ 44498 w 4589511"/>
              <a:gd name="connsiteY8" fmla="*/ 4448077 h 6555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a:extLst>
              <a:ext uri="{FF2B5EF4-FFF2-40B4-BE49-F238E27FC236}">
                <a16:creationId xmlns:a16="http://schemas.microsoft.com/office/drawing/2014/main" id="{2FA893C5-3725-2BF8-B201-6C4123C13131}"/>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and Two Content 2">
    <p:spTree>
      <p:nvGrpSpPr>
        <p:cNvPr id="1" name=""/>
        <p:cNvGrpSpPr/>
        <p:nvPr/>
      </p:nvGrpSpPr>
      <p:grpSpPr>
        <a:xfrm>
          <a:off x="0" y="0"/>
          <a:ext cx="0" cy="0"/>
          <a:chOff x="0" y="0"/>
          <a:chExt cx="0" cy="0"/>
        </a:xfrm>
      </p:grpSpPr>
      <p:sp>
        <p:nvSpPr>
          <p:cNvPr id="17" name="Freeform: Shape 51">
            <a:extLst>
              <a:ext uri="{FF2B5EF4-FFF2-40B4-BE49-F238E27FC236}">
                <a16:creationId xmlns:a16="http://schemas.microsoft.com/office/drawing/2014/main" id="{4A781A8E-199F-1F48-C80E-B6501B563323}"/>
              </a:ext>
              <a:ext uri="{C183D7F6-B498-43B3-948B-1728B52AA6E4}">
                <adec:decorative xmlns:adec="http://schemas.microsoft.com/office/drawing/2017/decorative" val="1"/>
              </a:ext>
            </a:extLst>
          </p:cNvPr>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11C6679A-1B60-DCCD-7295-255649B92C60}"/>
              </a:ext>
              <a:ext uri="{C183D7F6-B498-43B3-948B-1728B52AA6E4}">
                <adec:decorative xmlns:adec="http://schemas.microsoft.com/office/drawing/2017/decorative" val="1"/>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6" name="Freeform: Shape 22">
            <a:extLst>
              <a:ext uri="{FF2B5EF4-FFF2-40B4-BE49-F238E27FC236}">
                <a16:creationId xmlns:a16="http://schemas.microsoft.com/office/drawing/2014/main" id="{1C466053-4CA7-4CBB-C1D2-19FE899BEDFC}"/>
              </a:ext>
              <a:ext uri="{C183D7F6-B498-43B3-948B-1728B52AA6E4}">
                <adec:decorative xmlns:adec="http://schemas.microsoft.com/office/drawing/2017/decorative" val="1"/>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cxnSp>
        <p:nvCxnSpPr>
          <p:cNvPr id="18" name="Straight Connector 17">
            <a:extLst>
              <a:ext uri="{FF2B5EF4-FFF2-40B4-BE49-F238E27FC236}">
                <a16:creationId xmlns:a16="http://schemas.microsoft.com/office/drawing/2014/main" id="{1100480F-88D3-CF82-FAF8-9527C86BCAE2}"/>
              </a:ext>
              <a:ext uri="{C183D7F6-B498-43B3-948B-1728B52AA6E4}">
                <adec:decorative xmlns:adec="http://schemas.microsoft.com/office/drawing/2017/decorative" val="1"/>
              </a:ext>
            </a:extLst>
          </p:cNvPr>
          <p:cNvCxnSpPr>
            <a:cxnSpLocks/>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05F17713-1E50-F9DA-1134-DEB4A4AEA114}"/>
              </a:ext>
            </a:extLst>
          </p:cNvPr>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a:extLst>
              <a:ext uri="{FF2B5EF4-FFF2-40B4-BE49-F238E27FC236}">
                <a16:creationId xmlns:a16="http://schemas.microsoft.com/office/drawing/2014/main" id="{05A7D8CB-7B8B-DA38-6E7E-0DAEB7D29967}"/>
              </a:ext>
            </a:extLst>
          </p:cNvPr>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6">
            <a:extLst>
              <a:ext uri="{FF2B5EF4-FFF2-40B4-BE49-F238E27FC236}">
                <a16:creationId xmlns:a16="http://schemas.microsoft.com/office/drawing/2014/main" id="{CE441B96-235E-1744-83C7-22A1E6ED8BB3}"/>
              </a:ext>
            </a:extLst>
          </p:cNvPr>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CF605979-8A00-C008-E1AA-6AC1F9EABEAF}"/>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236171487"/>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B05A86D8-26B0-1ADB-0CE2-B445D2A2866D}"/>
              </a:ext>
              <a:ext uri="{C183D7F6-B498-43B3-948B-1728B52AA6E4}">
                <adec:decorative xmlns:adec="http://schemas.microsoft.com/office/drawing/2017/decorative" val="1"/>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 uri="{C183D7F6-B498-43B3-948B-1728B52AA6E4}">
                <adec:decorative xmlns:adec="http://schemas.microsoft.com/office/drawing/2017/decorative" val="1"/>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0" name="Title 1">
            <a:extLst>
              <a:ext uri="{FF2B5EF4-FFF2-40B4-BE49-F238E27FC236}">
                <a16:creationId xmlns:a16="http://schemas.microsoft.com/office/drawing/2014/main" id="{20AE86F9-DD66-DE05-383C-6220D559B0DF}"/>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6" name="Content Placeholder 6">
            <a:extLst>
              <a:ext uri="{FF2B5EF4-FFF2-40B4-BE49-F238E27FC236}">
                <a16:creationId xmlns:a16="http://schemas.microsoft.com/office/drawing/2014/main" id="{1B0F4867-5345-BF6B-3402-DEEC3D2DDF90}"/>
              </a:ext>
            </a:extLst>
          </p:cNvPr>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6">
            <a:extLst>
              <a:ext uri="{FF2B5EF4-FFF2-40B4-BE49-F238E27FC236}">
                <a16:creationId xmlns:a16="http://schemas.microsoft.com/office/drawing/2014/main" id="{B693A8C2-EDAB-3C2B-00D3-3B9F9D64ACDC}"/>
              </a:ext>
            </a:extLst>
          </p:cNvPr>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5">
            <a:extLst>
              <a:ext uri="{FF2B5EF4-FFF2-40B4-BE49-F238E27FC236}">
                <a16:creationId xmlns:a16="http://schemas.microsoft.com/office/drawing/2014/main" id="{4CE52DCD-6B80-A17A-B12C-76D628BAF304}"/>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394231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Content 5">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CADEA8BB-3550-ABDA-99A6-455084D5D432}"/>
              </a:ext>
              <a:ext uri="{C183D7F6-B498-43B3-948B-1728B52AA6E4}">
                <adec:decorative xmlns:adec="http://schemas.microsoft.com/office/drawing/2017/decorative" val="1"/>
              </a:ext>
            </a:extLst>
          </p:cNvPr>
          <p:cNvSpPr>
            <a:spLocks/>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F0A8F0DB-3D3D-DC0F-84AC-4386B58AD6E5}"/>
              </a:ext>
              <a:ext uri="{C183D7F6-B498-43B3-948B-1728B52AA6E4}">
                <adec:decorative xmlns:adec="http://schemas.microsoft.com/office/drawing/2017/decorative" val="1"/>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p>
        </p:txBody>
      </p:sp>
      <p:sp>
        <p:nvSpPr>
          <p:cNvPr id="7" name="Table Placeholder 4">
            <a:extLst>
              <a:ext uri="{FF2B5EF4-FFF2-40B4-BE49-F238E27FC236}">
                <a16:creationId xmlns:a16="http://schemas.microsoft.com/office/drawing/2014/main" id="{A8715227-A125-7CA3-B8F5-9D5894E8C981}"/>
              </a:ext>
            </a:extLst>
          </p:cNvPr>
          <p:cNvSpPr>
            <a:spLocks noGrp="1"/>
          </p:cNvSpPr>
          <p:nvPr>
            <p:ph type="tbl" sz="quarter" idx="14"/>
          </p:nvPr>
        </p:nvSpPr>
        <p:spPr>
          <a:xfrm>
            <a:off x="914400" y="2039111"/>
            <a:ext cx="10360025" cy="3374136"/>
          </a:xfrm>
        </p:spPr>
        <p:txBody>
          <a:bodyPr/>
          <a:lstStyle/>
          <a:p>
            <a:r>
              <a:rPr lang="en-US"/>
              <a:t>Click icon to add table</a:t>
            </a:r>
          </a:p>
        </p:txBody>
      </p:sp>
      <p:sp>
        <p:nvSpPr>
          <p:cNvPr id="3" name="Slide Number Placeholder 5">
            <a:extLst>
              <a:ext uri="{FF2B5EF4-FFF2-40B4-BE49-F238E27FC236}">
                <a16:creationId xmlns:a16="http://schemas.microsoft.com/office/drawing/2014/main" id="{CEC2E35B-5EFD-B330-984C-15A012C90B8A}"/>
              </a:ext>
            </a:extLst>
          </p:cNvPr>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230627489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686C03E6-655F-A394-4461-7BC878C418BB}"/>
              </a:ext>
              <a:ext uri="{C183D7F6-B498-43B3-948B-1728B52AA6E4}">
                <adec:decorative xmlns:adec="http://schemas.microsoft.com/office/drawing/2017/decorative" val="1"/>
              </a:ext>
            </a:extLst>
          </p:cNvPr>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BF7A62BA-11D3-585A-8CBD-5E0FB4DE522D}"/>
              </a:ext>
              <a:ext uri="{C183D7F6-B498-43B3-948B-1728B52AA6E4}">
                <adec:decorative xmlns:adec="http://schemas.microsoft.com/office/drawing/2017/decorative" val="1"/>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 uri="{C183D7F6-B498-43B3-948B-1728B52AA6E4}">
                <adec:decorative xmlns:adec="http://schemas.microsoft.com/office/drawing/2017/decorative" val="1"/>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p>
        </p:txBody>
      </p:sp>
      <p:sp>
        <p:nvSpPr>
          <p:cNvPr id="3" name="Content Placeholder 6">
            <a:extLst>
              <a:ext uri="{FF2B5EF4-FFF2-40B4-BE49-F238E27FC236}">
                <a16:creationId xmlns:a16="http://schemas.microsoft.com/office/drawing/2014/main" id="{436A1765-4F66-C345-840A-D6C73BD96BB8}"/>
              </a:ext>
            </a:extLst>
          </p:cNvPr>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571584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DCC72F6-C144-5508-40C5-E1B3FC085B94}"/>
              </a:ext>
              <a:ext uri="{C183D7F6-B498-43B3-948B-1728B52AA6E4}">
                <adec:decorative xmlns:adec="http://schemas.microsoft.com/office/drawing/2017/decorative" val="1"/>
              </a:ext>
            </a:extLst>
          </p:cNvPr>
          <p:cNvGrpSpPr/>
          <p:nvPr userDrawn="1"/>
        </p:nvGrpSpPr>
        <p:grpSpPr>
          <a:xfrm flipH="1">
            <a:off x="8970744" y="5209684"/>
            <a:ext cx="3221255" cy="1682471"/>
            <a:chOff x="-1483620" y="3988558"/>
            <a:chExt cx="4239452" cy="2903598"/>
          </a:xfrm>
        </p:grpSpPr>
        <p:sp>
          <p:nvSpPr>
            <p:cNvPr id="4" name="Freeform: Shape 3">
              <a:extLst>
                <a:ext uri="{FF2B5EF4-FFF2-40B4-BE49-F238E27FC236}">
                  <a16:creationId xmlns:a16="http://schemas.microsoft.com/office/drawing/2014/main" id="{FF76D2EA-2C6E-B0B2-DC0D-F9EF636E5856}"/>
                </a:ext>
                <a:ext uri="{C183D7F6-B498-43B3-948B-1728B52AA6E4}">
                  <adec:decorative xmlns:adec="http://schemas.microsoft.com/office/drawing/2017/decorative" val="1"/>
                </a:ext>
              </a:extLst>
            </p:cNvPr>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5" name="Freeform: Shape 4">
              <a:extLst>
                <a:ext uri="{FF2B5EF4-FFF2-40B4-BE49-F238E27FC236}">
                  <a16:creationId xmlns:a16="http://schemas.microsoft.com/office/drawing/2014/main" id="{90315871-F40F-D512-8E3F-B40F36BD4224}"/>
                </a:ext>
                <a:ext uri="{C183D7F6-B498-43B3-948B-1728B52AA6E4}">
                  <adec:decorative xmlns:adec="http://schemas.microsoft.com/office/drawing/2017/decorative" val="1"/>
                </a:ext>
              </a:extLst>
            </p:cNvPr>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grpSp>
      <p:sp>
        <p:nvSpPr>
          <p:cNvPr id="6" name="Freeform: Shape 5">
            <a:extLst>
              <a:ext uri="{FF2B5EF4-FFF2-40B4-BE49-F238E27FC236}">
                <a16:creationId xmlns:a16="http://schemas.microsoft.com/office/drawing/2014/main" id="{10C11C1A-EFCF-278A-D083-93F07D4DEA67}"/>
              </a:ext>
              <a:ext uri="{C183D7F6-B498-43B3-948B-1728B52AA6E4}">
                <adec:decorative xmlns:adec="http://schemas.microsoft.com/office/drawing/2017/decorative" val="1"/>
              </a:ext>
            </a:extLst>
          </p:cNvPr>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Slide Number Placeholder 5">
            <a:extLst>
              <a:ext uri="{FF2B5EF4-FFF2-40B4-BE49-F238E27FC236}">
                <a16:creationId xmlns:a16="http://schemas.microsoft.com/office/drawing/2014/main" id="{5B1E4400-E511-F21B-0AFD-0D362BA52FF0}"/>
              </a:ext>
            </a:extLst>
          </p:cNvPr>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pPr/>
              <a:t>‹#›</a:t>
            </a:fld>
            <a:endParaRPr lang="en-US" dirty="0"/>
          </a:p>
        </p:txBody>
      </p:sp>
    </p:spTree>
    <p:extLst>
      <p:ext uri="{BB962C8B-B14F-4D97-AF65-F5344CB8AC3E}">
        <p14:creationId xmlns:p14="http://schemas.microsoft.com/office/powerpoint/2010/main" val="30217827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58FB4751-880F-D840-AAA9-3A15815CC996}" type="slidenum">
              <a:rPr lang="en-US" smtClean="0"/>
              <a:pPr/>
              <a:t>‹#›</a:t>
            </a:fld>
            <a:endParaRPr lang="en-US" dirty="0"/>
          </a:p>
        </p:txBody>
      </p:sp>
      <p:cxnSp>
        <p:nvCxnSpPr>
          <p:cNvPr id="8" name="Straight Connector 7">
            <a:extLst>
              <a:ext uri="{FF2B5EF4-FFF2-40B4-BE49-F238E27FC236}">
                <a16:creationId xmlns:a16="http://schemas.microsoft.com/office/drawing/2014/main" id="{8B8B7AED-5AEB-3382-6418-A6FEA1E0E388}"/>
              </a:ext>
            </a:extLst>
          </p:cNvPr>
          <p:cNvCxnSpPr>
            <a:cxnSpLocks/>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51194135"/>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675" r:id="rId14"/>
    <p:sldLayoutId id="2147483651" r:id="rId15"/>
    <p:sldLayoutId id="2147483661" r:id="rId16"/>
    <p:sldLayoutId id="2147483670" r:id="rId17"/>
    <p:sldLayoutId id="2147483678" r:id="rId18"/>
    <p:sldLayoutId id="2147483664" r:id="rId19"/>
    <p:sldLayoutId id="2147483680" r:id="rId20"/>
    <p:sldLayoutId id="2147483681" r:id="rId21"/>
    <p:sldLayoutId id="2147483682" r:id="rId22"/>
    <p:sldLayoutId id="2147483666" r:id="rId23"/>
    <p:sldLayoutId id="2147483654" r:id="rId2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92719-D5D9-FEC2-B9D6-942BD02028E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45A4A65-E8B8-40CF-7ABD-97EA8FA97521}"/>
              </a:ext>
            </a:extLst>
          </p:cNvPr>
          <p:cNvSpPr>
            <a:spLocks noGrp="1"/>
          </p:cNvSpPr>
          <p:nvPr>
            <p:ph type="ctrTitle"/>
          </p:nvPr>
        </p:nvSpPr>
        <p:spPr>
          <a:xfrm>
            <a:off x="2748116" y="2374208"/>
            <a:ext cx="7403690" cy="1301323"/>
          </a:xfrm>
        </p:spPr>
        <p:txBody>
          <a:bodyPr anchor="ctr">
            <a:normAutofit/>
          </a:bodyPr>
          <a:lstStyle/>
          <a:p>
            <a:r>
              <a:rPr lang="en-US" sz="3200" b="1" dirty="0"/>
              <a:t>Food Trends Understanding Customer Preferences</a:t>
            </a:r>
          </a:p>
        </p:txBody>
      </p:sp>
      <p:sp>
        <p:nvSpPr>
          <p:cNvPr id="2" name="TextBox 1">
            <a:extLst>
              <a:ext uri="{FF2B5EF4-FFF2-40B4-BE49-F238E27FC236}">
                <a16:creationId xmlns:a16="http://schemas.microsoft.com/office/drawing/2014/main" id="{2BB0CFA0-5AD3-7588-A9B5-5DE0D908AB70}"/>
              </a:ext>
            </a:extLst>
          </p:cNvPr>
          <p:cNvSpPr txBox="1"/>
          <p:nvPr/>
        </p:nvSpPr>
        <p:spPr>
          <a:xfrm>
            <a:off x="7590503" y="4973485"/>
            <a:ext cx="3873910" cy="1318181"/>
          </a:xfrm>
          <a:prstGeom prst="rect">
            <a:avLst/>
          </a:prstGeom>
          <a:noFill/>
        </p:spPr>
        <p:txBody>
          <a:bodyPr wrap="square" rtlCol="0">
            <a:spAutoFit/>
          </a:bodyPr>
          <a:lstStyle/>
          <a:p>
            <a:pPr>
              <a:lnSpc>
                <a:spcPct val="150000"/>
              </a:lnSpc>
            </a:pPr>
            <a:r>
              <a:rPr lang="en-US" sz="2800" b="1" dirty="0"/>
              <a:t>Presentation By: </a:t>
            </a:r>
            <a:r>
              <a:rPr lang="en-US" sz="2800" dirty="0"/>
              <a:t>Vasanthi Kakkera</a:t>
            </a:r>
          </a:p>
        </p:txBody>
      </p:sp>
      <p:sp>
        <p:nvSpPr>
          <p:cNvPr id="4" name="TextBox 3">
            <a:extLst>
              <a:ext uri="{FF2B5EF4-FFF2-40B4-BE49-F238E27FC236}">
                <a16:creationId xmlns:a16="http://schemas.microsoft.com/office/drawing/2014/main" id="{A4A2EF9E-8BFE-B63F-FC35-2C7D074BE99C}"/>
              </a:ext>
            </a:extLst>
          </p:cNvPr>
          <p:cNvSpPr txBox="1"/>
          <p:nvPr/>
        </p:nvSpPr>
        <p:spPr>
          <a:xfrm>
            <a:off x="2644877" y="1225424"/>
            <a:ext cx="7610168" cy="1354217"/>
          </a:xfrm>
          <a:prstGeom prst="rect">
            <a:avLst/>
          </a:prstGeom>
          <a:noFill/>
        </p:spPr>
        <p:txBody>
          <a:bodyPr wrap="square" rtlCol="0">
            <a:spAutoFit/>
          </a:bodyPr>
          <a:lstStyle/>
          <a:p>
            <a:pPr algn="ctr"/>
            <a:r>
              <a:rPr lang="en-US" sz="3200" b="1" dirty="0"/>
              <a:t>Infosys Springboard Data Visualization Domain Internship Batch – 11 Group-1</a:t>
            </a:r>
          </a:p>
          <a:p>
            <a:endParaRPr lang="en-IN" dirty="0"/>
          </a:p>
        </p:txBody>
      </p:sp>
      <p:sp>
        <p:nvSpPr>
          <p:cNvPr id="7" name="TextBox 6">
            <a:extLst>
              <a:ext uri="{FF2B5EF4-FFF2-40B4-BE49-F238E27FC236}">
                <a16:creationId xmlns:a16="http://schemas.microsoft.com/office/drawing/2014/main" id="{6F8A210A-8B6D-BECA-0F96-6B702C4BCB05}"/>
              </a:ext>
            </a:extLst>
          </p:cNvPr>
          <p:cNvSpPr txBox="1"/>
          <p:nvPr/>
        </p:nvSpPr>
        <p:spPr>
          <a:xfrm>
            <a:off x="2330244" y="4955466"/>
            <a:ext cx="3657600" cy="1318181"/>
          </a:xfrm>
          <a:prstGeom prst="rect">
            <a:avLst/>
          </a:prstGeom>
          <a:noFill/>
        </p:spPr>
        <p:txBody>
          <a:bodyPr wrap="square" rtlCol="0">
            <a:spAutoFit/>
          </a:bodyPr>
          <a:lstStyle/>
          <a:p>
            <a:pPr>
              <a:lnSpc>
                <a:spcPct val="150000"/>
              </a:lnSpc>
            </a:pPr>
            <a:r>
              <a:rPr lang="en-US" sz="2800" b="1" dirty="0"/>
              <a:t>Mentor:</a:t>
            </a:r>
          </a:p>
          <a:p>
            <a:pPr>
              <a:lnSpc>
                <a:spcPct val="150000"/>
              </a:lnSpc>
            </a:pPr>
            <a:r>
              <a:rPr lang="en-US" sz="2800" dirty="0"/>
              <a:t>MS Nityasree</a:t>
            </a:r>
            <a:endParaRPr lang="en-IN" sz="2800" dirty="0"/>
          </a:p>
        </p:txBody>
      </p:sp>
      <p:sp>
        <p:nvSpPr>
          <p:cNvPr id="8" name="TextBox 7">
            <a:extLst>
              <a:ext uri="{FF2B5EF4-FFF2-40B4-BE49-F238E27FC236}">
                <a16:creationId xmlns:a16="http://schemas.microsoft.com/office/drawing/2014/main" id="{300ACCE8-6F45-4076-AD76-89226259D3F5}"/>
              </a:ext>
            </a:extLst>
          </p:cNvPr>
          <p:cNvSpPr txBox="1"/>
          <p:nvPr/>
        </p:nvSpPr>
        <p:spPr>
          <a:xfrm>
            <a:off x="4365521" y="3615985"/>
            <a:ext cx="4955459" cy="523220"/>
          </a:xfrm>
          <a:prstGeom prst="rect">
            <a:avLst/>
          </a:prstGeom>
          <a:noFill/>
        </p:spPr>
        <p:txBody>
          <a:bodyPr wrap="square" rtlCol="0">
            <a:spAutoFit/>
          </a:bodyPr>
          <a:lstStyle/>
          <a:p>
            <a:r>
              <a:rPr lang="en-US" sz="2800" b="1" dirty="0"/>
              <a:t>Domain:  </a:t>
            </a:r>
            <a:r>
              <a:rPr lang="en-US" sz="2800" dirty="0"/>
              <a:t>Data Visualization</a:t>
            </a:r>
            <a:endParaRPr lang="en-IN" sz="2800" dirty="0"/>
          </a:p>
        </p:txBody>
      </p:sp>
    </p:spTree>
    <p:extLst>
      <p:ext uri="{BB962C8B-B14F-4D97-AF65-F5344CB8AC3E}">
        <p14:creationId xmlns:p14="http://schemas.microsoft.com/office/powerpoint/2010/main" val="1338167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5CD8724-E0C4-57DE-6AC9-EFE37770F9C0}"/>
              </a:ext>
            </a:extLst>
          </p:cNvPr>
          <p:cNvSpPr>
            <a:spLocks noGrp="1"/>
          </p:cNvSpPr>
          <p:nvPr>
            <p:ph type="title"/>
          </p:nvPr>
        </p:nvSpPr>
        <p:spPr>
          <a:xfrm>
            <a:off x="983226" y="737419"/>
            <a:ext cx="7534656" cy="914400"/>
          </a:xfrm>
        </p:spPr>
        <p:txBody>
          <a:bodyPr>
            <a:normAutofit/>
          </a:bodyPr>
          <a:lstStyle/>
          <a:p>
            <a:r>
              <a:rPr lang="en-IN" sz="3600" b="1" dirty="0"/>
              <a:t>Objective and Description</a:t>
            </a:r>
          </a:p>
        </p:txBody>
      </p:sp>
      <p:sp>
        <p:nvSpPr>
          <p:cNvPr id="5" name="Content Placeholder 4">
            <a:extLst>
              <a:ext uri="{FF2B5EF4-FFF2-40B4-BE49-F238E27FC236}">
                <a16:creationId xmlns:a16="http://schemas.microsoft.com/office/drawing/2014/main" id="{EE315FD7-F950-5EF7-D64F-466164CD5CF9}"/>
              </a:ext>
            </a:extLst>
          </p:cNvPr>
          <p:cNvSpPr>
            <a:spLocks noGrp="1"/>
          </p:cNvSpPr>
          <p:nvPr>
            <p:ph sz="quarter" idx="10"/>
          </p:nvPr>
        </p:nvSpPr>
        <p:spPr>
          <a:xfrm>
            <a:off x="914400" y="2039112"/>
            <a:ext cx="9763432" cy="3904488"/>
          </a:xfrm>
        </p:spPr>
        <p:txBody>
          <a:bodyPr/>
          <a:lstStyle/>
          <a:p>
            <a:pPr algn="just">
              <a:lnSpc>
                <a:spcPct val="150000"/>
              </a:lnSpc>
            </a:pPr>
            <a:r>
              <a:rPr lang="en-US" b="1" dirty="0">
                <a:solidFill>
                  <a:schemeClr val="accent6">
                    <a:lumMod val="10000"/>
                  </a:schemeClr>
                </a:solidFill>
              </a:rPr>
              <a:t>Objective: </a:t>
            </a:r>
            <a:r>
              <a:rPr lang="en-US" dirty="0">
                <a:solidFill>
                  <a:schemeClr val="accent6">
                    <a:lumMod val="10000"/>
                  </a:schemeClr>
                </a:solidFill>
              </a:rPr>
              <a:t>To architect a multi-layered </a:t>
            </a:r>
            <a:r>
              <a:rPr lang="en-US" dirty="0" err="1">
                <a:solidFill>
                  <a:schemeClr val="accent6">
                    <a:lumMod val="10000"/>
                  </a:schemeClr>
                </a:solidFill>
              </a:rPr>
              <a:t>PowerBI</a:t>
            </a:r>
            <a:r>
              <a:rPr lang="en-US" dirty="0">
                <a:solidFill>
                  <a:schemeClr val="accent6">
                    <a:lumMod val="10000"/>
                  </a:schemeClr>
                </a:solidFill>
              </a:rPr>
              <a:t> dashboard that transforms raw transactional data into strategic business intelligence for restaurant stakeholders.</a:t>
            </a:r>
          </a:p>
          <a:p>
            <a:pPr algn="just">
              <a:lnSpc>
                <a:spcPct val="150000"/>
              </a:lnSpc>
            </a:pPr>
            <a:r>
              <a:rPr lang="en-US" b="1" dirty="0">
                <a:solidFill>
                  <a:schemeClr val="accent6">
                    <a:lumMod val="10000"/>
                  </a:schemeClr>
                </a:solidFill>
              </a:rPr>
              <a:t>Description: </a:t>
            </a:r>
            <a:r>
              <a:rPr lang="en-US" dirty="0">
                <a:solidFill>
                  <a:schemeClr val="accent6">
                    <a:lumMod val="10000"/>
                  </a:schemeClr>
                </a:solidFill>
              </a:rPr>
              <a:t>This project involves the comprehensive analysis of a food delivery ecosystem. By processing over 1.47 Lakh orders, the dashboard provides visibility into revenue streams, customer segmentation, and product performance. The goal is to identify why certain regions outperform others and how customer demographics influence ordering frequency.</a:t>
            </a:r>
            <a:endParaRPr lang="en-IN" dirty="0">
              <a:solidFill>
                <a:schemeClr val="accent6">
                  <a:lumMod val="10000"/>
                </a:schemeClr>
              </a:solidFill>
            </a:endParaRPr>
          </a:p>
        </p:txBody>
      </p:sp>
    </p:spTree>
    <p:extLst>
      <p:ext uri="{BB962C8B-B14F-4D97-AF65-F5344CB8AC3E}">
        <p14:creationId xmlns:p14="http://schemas.microsoft.com/office/powerpoint/2010/main" val="3389978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DA8B5-750C-54E7-124E-8042777BF76B}"/>
              </a:ext>
            </a:extLst>
          </p:cNvPr>
          <p:cNvSpPr>
            <a:spLocks noGrp="1"/>
          </p:cNvSpPr>
          <p:nvPr>
            <p:ph type="title"/>
          </p:nvPr>
        </p:nvSpPr>
        <p:spPr>
          <a:xfrm>
            <a:off x="594360" y="396240"/>
            <a:ext cx="9875520" cy="1356360"/>
          </a:xfrm>
        </p:spPr>
        <p:txBody>
          <a:bodyPr/>
          <a:lstStyle/>
          <a:p>
            <a:r>
              <a:rPr lang="en-US" b="1" dirty="0"/>
              <a:t>Top Visualizations Used in the Project</a:t>
            </a:r>
            <a:endParaRPr lang="en-IN" b="1" dirty="0"/>
          </a:p>
        </p:txBody>
      </p:sp>
      <p:sp>
        <p:nvSpPr>
          <p:cNvPr id="3" name="Content Placeholder 2">
            <a:extLst>
              <a:ext uri="{FF2B5EF4-FFF2-40B4-BE49-F238E27FC236}">
                <a16:creationId xmlns:a16="http://schemas.microsoft.com/office/drawing/2014/main" id="{F15C064C-77FC-4271-DC13-D6ADA548ECEF}"/>
              </a:ext>
            </a:extLst>
          </p:cNvPr>
          <p:cNvSpPr>
            <a:spLocks noGrp="1"/>
          </p:cNvSpPr>
          <p:nvPr>
            <p:ph idx="1"/>
          </p:nvPr>
        </p:nvSpPr>
        <p:spPr>
          <a:xfrm>
            <a:off x="594361" y="1752600"/>
            <a:ext cx="7330439" cy="4526280"/>
          </a:xfrm>
        </p:spPr>
        <p:txBody>
          <a:bodyPr>
            <a:normAutofit/>
          </a:bodyPr>
          <a:lstStyle/>
          <a:p>
            <a:r>
              <a:rPr lang="en-US" b="1" dirty="0"/>
              <a:t>KPI Cards </a:t>
            </a:r>
            <a:r>
              <a:rPr lang="en-US" dirty="0"/>
              <a:t>– Revenue, Orders, Average Order Value</a:t>
            </a:r>
          </a:p>
          <a:p>
            <a:pPr marL="45720" indent="0">
              <a:buNone/>
            </a:pPr>
            <a:r>
              <a:rPr lang="en-US" dirty="0"/>
              <a:t>• </a:t>
            </a:r>
            <a:r>
              <a:rPr lang="en-US" b="1" dirty="0"/>
              <a:t>Bar Charts </a:t>
            </a:r>
            <a:r>
              <a:rPr lang="en-US" dirty="0"/>
              <a:t>– City, Cuisine, and Restaurant-wise performance</a:t>
            </a:r>
          </a:p>
          <a:p>
            <a:pPr marL="45720" indent="0">
              <a:buNone/>
            </a:pPr>
            <a:r>
              <a:rPr lang="en-US" dirty="0"/>
              <a:t>• </a:t>
            </a:r>
            <a:r>
              <a:rPr lang="en-US" b="1" dirty="0"/>
              <a:t>Line Charts </a:t>
            </a:r>
            <a:r>
              <a:rPr lang="en-US" dirty="0"/>
              <a:t>– Order and revenue trends over time</a:t>
            </a:r>
          </a:p>
          <a:p>
            <a:pPr marL="45720" indent="0">
              <a:buNone/>
            </a:pPr>
            <a:r>
              <a:rPr lang="en-US" dirty="0"/>
              <a:t>• </a:t>
            </a:r>
            <a:r>
              <a:rPr lang="en-US" b="1" dirty="0"/>
              <a:t>Donut &amp; Pie Charts </a:t>
            </a:r>
            <a:r>
              <a:rPr lang="en-US" dirty="0"/>
              <a:t>– Demographic and food category analysis</a:t>
            </a:r>
          </a:p>
          <a:p>
            <a:pPr marL="45720" indent="0">
              <a:buNone/>
            </a:pPr>
            <a:r>
              <a:rPr lang="en-US" dirty="0"/>
              <a:t>• </a:t>
            </a:r>
            <a:r>
              <a:rPr lang="en-US" b="1" dirty="0"/>
              <a:t>Maps</a:t>
            </a:r>
            <a:r>
              <a:rPr lang="en-US" dirty="0"/>
              <a:t> – Geographic distribution of restaurants and ratings</a:t>
            </a:r>
          </a:p>
          <a:p>
            <a:pPr marL="45720" indent="0">
              <a:buNone/>
            </a:pPr>
            <a:r>
              <a:rPr lang="en-US" dirty="0"/>
              <a:t>• </a:t>
            </a:r>
            <a:r>
              <a:rPr lang="en-US" b="1" dirty="0"/>
              <a:t>Tables &amp; Matrix </a:t>
            </a:r>
            <a:r>
              <a:rPr lang="en-US" dirty="0"/>
              <a:t>– Detailed restaurant and product-level insights</a:t>
            </a:r>
          </a:p>
          <a:p>
            <a:pPr marL="45720" indent="0">
              <a:buNone/>
            </a:pPr>
            <a:endParaRPr lang="en-IN" dirty="0"/>
          </a:p>
        </p:txBody>
      </p:sp>
      <p:pic>
        <p:nvPicPr>
          <p:cNvPr id="15" name="Picture 14">
            <a:extLst>
              <a:ext uri="{FF2B5EF4-FFF2-40B4-BE49-F238E27FC236}">
                <a16:creationId xmlns:a16="http://schemas.microsoft.com/office/drawing/2014/main" id="{B3E34AA9-A849-421F-137F-CC6717538BDA}"/>
              </a:ext>
            </a:extLst>
          </p:cNvPr>
          <p:cNvPicPr>
            <a:picLocks noChangeAspect="1"/>
          </p:cNvPicPr>
          <p:nvPr/>
        </p:nvPicPr>
        <p:blipFill>
          <a:blip r:embed="rId2"/>
          <a:stretch>
            <a:fillRect/>
          </a:stretch>
        </p:blipFill>
        <p:spPr>
          <a:xfrm>
            <a:off x="7762240" y="1534160"/>
            <a:ext cx="3942080" cy="410464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0783016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49545-52AB-3E07-57E0-B47DEB8EE71D}"/>
              </a:ext>
            </a:extLst>
          </p:cNvPr>
          <p:cNvSpPr>
            <a:spLocks noGrp="1"/>
          </p:cNvSpPr>
          <p:nvPr>
            <p:ph type="title"/>
          </p:nvPr>
        </p:nvSpPr>
        <p:spPr>
          <a:xfrm>
            <a:off x="1052052" y="589936"/>
            <a:ext cx="7534656" cy="914400"/>
          </a:xfrm>
        </p:spPr>
        <p:txBody>
          <a:bodyPr/>
          <a:lstStyle/>
          <a:p>
            <a:r>
              <a:rPr lang="en-IN" b="1" dirty="0"/>
              <a:t>Project Execution Milestones</a:t>
            </a:r>
          </a:p>
        </p:txBody>
      </p:sp>
      <p:sp>
        <p:nvSpPr>
          <p:cNvPr id="3" name="Content Placeholder 2">
            <a:extLst>
              <a:ext uri="{FF2B5EF4-FFF2-40B4-BE49-F238E27FC236}">
                <a16:creationId xmlns:a16="http://schemas.microsoft.com/office/drawing/2014/main" id="{F66545E7-0438-34C6-0FE1-DC0A3B4805F9}"/>
              </a:ext>
            </a:extLst>
          </p:cNvPr>
          <p:cNvSpPr>
            <a:spLocks noGrp="1"/>
          </p:cNvSpPr>
          <p:nvPr>
            <p:ph sz="quarter" idx="10"/>
          </p:nvPr>
        </p:nvSpPr>
        <p:spPr>
          <a:xfrm>
            <a:off x="963561" y="1694982"/>
            <a:ext cx="10058400" cy="4469844"/>
          </a:xfrm>
        </p:spPr>
        <p:txBody>
          <a:bodyPr>
            <a:normAutofit fontScale="92500" lnSpcReduction="20000"/>
          </a:bodyPr>
          <a:lstStyle/>
          <a:p>
            <a:pPr algn="just">
              <a:lnSpc>
                <a:spcPct val="150000"/>
              </a:lnSpc>
            </a:pPr>
            <a:r>
              <a:rPr lang="en-US" b="1" dirty="0"/>
              <a:t>Milestone 1 (Data Foundation): </a:t>
            </a:r>
            <a:r>
              <a:rPr lang="en-US" dirty="0"/>
              <a:t>Performed ETL (Extract, Transform, Load) processes in Power Query to clean the dataset and establish a robust Star Schema.</a:t>
            </a:r>
          </a:p>
          <a:p>
            <a:pPr algn="just">
              <a:lnSpc>
                <a:spcPct val="150000"/>
              </a:lnSpc>
            </a:pPr>
            <a:r>
              <a:rPr lang="en-US" b="1" dirty="0"/>
              <a:t>Milestone 2 (Core Metrics): </a:t>
            </a:r>
            <a:r>
              <a:rPr lang="en-US" dirty="0"/>
              <a:t>Developed the Business Snapshot, Customer Analysis, and Restaurant Performance views (Business overview, Customer Analysis, Restaurant Performance) to track high-level KPIs. </a:t>
            </a:r>
          </a:p>
          <a:p>
            <a:pPr algn="just">
              <a:lnSpc>
                <a:spcPct val="150000"/>
              </a:lnSpc>
            </a:pPr>
            <a:r>
              <a:rPr lang="en-US" b="1" dirty="0"/>
              <a:t>Milestone 3 (Product Intelligence): </a:t>
            </a:r>
            <a:r>
              <a:rPr lang="en-US" dirty="0"/>
              <a:t>Constructed the Menu Analysis and Product Trends views (Food vs Menu, Ordering Insights), focusing on item popularity and price sensitivity. </a:t>
            </a:r>
          </a:p>
          <a:p>
            <a:pPr algn="just">
              <a:lnSpc>
                <a:spcPct val="150000"/>
              </a:lnSpc>
            </a:pPr>
            <a:r>
              <a:rPr lang="en-US" b="1" dirty="0"/>
              <a:t>Milestone 4 (Operational Strategy): </a:t>
            </a:r>
            <a:r>
              <a:rPr lang="en-US" dirty="0" err="1"/>
              <a:t>Finalised</a:t>
            </a:r>
            <a:r>
              <a:rPr lang="en-US" dirty="0"/>
              <a:t> the Demographic Profiling and Geographic Mapping views (Customer Demographics, Customer </a:t>
            </a:r>
            <a:r>
              <a:rPr lang="en-US" dirty="0" err="1"/>
              <a:t>Loyality</a:t>
            </a:r>
            <a:r>
              <a:rPr lang="en-US" dirty="0"/>
              <a:t>) to provide actionable location-based insights.</a:t>
            </a:r>
            <a:endParaRPr lang="en-IN" dirty="0"/>
          </a:p>
        </p:txBody>
      </p:sp>
    </p:spTree>
    <p:extLst>
      <p:ext uri="{BB962C8B-B14F-4D97-AF65-F5344CB8AC3E}">
        <p14:creationId xmlns:p14="http://schemas.microsoft.com/office/powerpoint/2010/main" val="2502859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B1018C4C-11CE-3F12-AD04-D858D0D15B24}"/>
              </a:ext>
            </a:extLst>
          </p:cNvPr>
          <p:cNvCxnSpPr/>
          <p:nvPr/>
        </p:nvCxnSpPr>
        <p:spPr>
          <a:xfrm>
            <a:off x="754626" y="3628104"/>
            <a:ext cx="10599174" cy="0"/>
          </a:xfrm>
          <a:prstGeom prst="line">
            <a:avLst/>
          </a:prstGeom>
        </p:spPr>
        <p:style>
          <a:lnRef idx="1">
            <a:schemeClr val="accent1"/>
          </a:lnRef>
          <a:fillRef idx="0">
            <a:schemeClr val="accent1"/>
          </a:fillRef>
          <a:effectRef idx="0">
            <a:schemeClr val="accent1"/>
          </a:effectRef>
          <a:fontRef idx="minor">
            <a:schemeClr val="tx1"/>
          </a:fontRef>
        </p:style>
      </p:cxnSp>
      <p:pic>
        <p:nvPicPr>
          <p:cNvPr id="14" name="Content Placeholder 13">
            <a:extLst>
              <a:ext uri="{FF2B5EF4-FFF2-40B4-BE49-F238E27FC236}">
                <a16:creationId xmlns:a16="http://schemas.microsoft.com/office/drawing/2014/main" id="{39A62CAB-845A-8B80-BFA3-AAF001DFAD95}"/>
              </a:ext>
            </a:extLst>
          </p:cNvPr>
          <p:cNvPicPr>
            <a:picLocks noGrp="1" noChangeAspect="1"/>
          </p:cNvPicPr>
          <p:nvPr>
            <p:ph sz="quarter" idx="10"/>
          </p:nvPr>
        </p:nvPicPr>
        <p:blipFill>
          <a:blip r:embed="rId2"/>
          <a:stretch>
            <a:fillRect/>
          </a:stretch>
        </p:blipFill>
        <p:spPr>
          <a:xfrm>
            <a:off x="1514167" y="1101208"/>
            <a:ext cx="4424516" cy="2327785"/>
          </a:xfrm>
          <a:prstGeom prst="rect">
            <a:avLst/>
          </a:prstGeom>
        </p:spPr>
      </p:pic>
      <p:pic>
        <p:nvPicPr>
          <p:cNvPr id="16" name="Picture 15">
            <a:extLst>
              <a:ext uri="{FF2B5EF4-FFF2-40B4-BE49-F238E27FC236}">
                <a16:creationId xmlns:a16="http://schemas.microsoft.com/office/drawing/2014/main" id="{6B854555-6877-1082-1FFB-3AFE4D58C357}"/>
              </a:ext>
            </a:extLst>
          </p:cNvPr>
          <p:cNvPicPr>
            <a:picLocks noChangeAspect="1"/>
          </p:cNvPicPr>
          <p:nvPr/>
        </p:nvPicPr>
        <p:blipFill>
          <a:blip r:embed="rId3"/>
          <a:stretch>
            <a:fillRect/>
          </a:stretch>
        </p:blipFill>
        <p:spPr>
          <a:xfrm>
            <a:off x="6744930" y="1064344"/>
            <a:ext cx="4070554" cy="2327784"/>
          </a:xfrm>
          <a:prstGeom prst="rect">
            <a:avLst/>
          </a:prstGeom>
        </p:spPr>
      </p:pic>
      <p:pic>
        <p:nvPicPr>
          <p:cNvPr id="18" name="Picture 17">
            <a:extLst>
              <a:ext uri="{FF2B5EF4-FFF2-40B4-BE49-F238E27FC236}">
                <a16:creationId xmlns:a16="http://schemas.microsoft.com/office/drawing/2014/main" id="{6F5D1D64-B09C-08C9-533F-AF57E0F0120B}"/>
              </a:ext>
            </a:extLst>
          </p:cNvPr>
          <p:cNvPicPr>
            <a:picLocks noChangeAspect="1"/>
          </p:cNvPicPr>
          <p:nvPr/>
        </p:nvPicPr>
        <p:blipFill>
          <a:blip r:embed="rId4"/>
          <a:stretch>
            <a:fillRect/>
          </a:stretch>
        </p:blipFill>
        <p:spPr>
          <a:xfrm>
            <a:off x="1514168" y="3864081"/>
            <a:ext cx="4424516" cy="2290916"/>
          </a:xfrm>
          <a:prstGeom prst="rect">
            <a:avLst/>
          </a:prstGeom>
        </p:spPr>
      </p:pic>
      <p:pic>
        <p:nvPicPr>
          <p:cNvPr id="20" name="Picture 19">
            <a:extLst>
              <a:ext uri="{FF2B5EF4-FFF2-40B4-BE49-F238E27FC236}">
                <a16:creationId xmlns:a16="http://schemas.microsoft.com/office/drawing/2014/main" id="{B04235F9-5C6C-DB7C-8A1C-BB1F607157C2}"/>
              </a:ext>
            </a:extLst>
          </p:cNvPr>
          <p:cNvPicPr>
            <a:picLocks noChangeAspect="1"/>
          </p:cNvPicPr>
          <p:nvPr/>
        </p:nvPicPr>
        <p:blipFill>
          <a:blip r:embed="rId5"/>
          <a:stretch>
            <a:fillRect/>
          </a:stretch>
        </p:blipFill>
        <p:spPr>
          <a:xfrm>
            <a:off x="6744930" y="3864081"/>
            <a:ext cx="4070554" cy="2290916"/>
          </a:xfrm>
          <a:prstGeom prst="rect">
            <a:avLst/>
          </a:prstGeom>
        </p:spPr>
      </p:pic>
      <p:sp>
        <p:nvSpPr>
          <p:cNvPr id="21" name="TextBox 20">
            <a:extLst>
              <a:ext uri="{FF2B5EF4-FFF2-40B4-BE49-F238E27FC236}">
                <a16:creationId xmlns:a16="http://schemas.microsoft.com/office/drawing/2014/main" id="{45CC8765-7C51-AE0A-C104-1649A5055347}"/>
              </a:ext>
            </a:extLst>
          </p:cNvPr>
          <p:cNvSpPr txBox="1"/>
          <p:nvPr/>
        </p:nvSpPr>
        <p:spPr>
          <a:xfrm>
            <a:off x="4719484" y="342012"/>
            <a:ext cx="5456903" cy="523220"/>
          </a:xfrm>
          <a:prstGeom prst="rect">
            <a:avLst/>
          </a:prstGeom>
          <a:noFill/>
        </p:spPr>
        <p:txBody>
          <a:bodyPr wrap="square" rtlCol="0">
            <a:spAutoFit/>
          </a:bodyPr>
          <a:lstStyle/>
          <a:p>
            <a:r>
              <a:rPr lang="en-US" sz="2800" b="1" dirty="0"/>
              <a:t>Dashboard Images</a:t>
            </a:r>
            <a:endParaRPr lang="en-IN" sz="2800" b="1" dirty="0"/>
          </a:p>
        </p:txBody>
      </p:sp>
    </p:spTree>
    <p:extLst>
      <p:ext uri="{BB962C8B-B14F-4D97-AF65-F5344CB8AC3E}">
        <p14:creationId xmlns:p14="http://schemas.microsoft.com/office/powerpoint/2010/main" val="2776201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Content Placeholder 9">
            <a:extLst>
              <a:ext uri="{FF2B5EF4-FFF2-40B4-BE49-F238E27FC236}">
                <a16:creationId xmlns:a16="http://schemas.microsoft.com/office/drawing/2014/main" id="{AE03E714-ABBF-AD7C-718F-921CBF84CA74}"/>
              </a:ext>
            </a:extLst>
          </p:cNvPr>
          <p:cNvPicPr>
            <a:picLocks noGrp="1" noChangeAspect="1"/>
          </p:cNvPicPr>
          <p:nvPr>
            <p:ph sz="quarter" idx="10"/>
          </p:nvPr>
        </p:nvPicPr>
        <p:blipFill>
          <a:blip r:embed="rId2"/>
          <a:stretch>
            <a:fillRect/>
          </a:stretch>
        </p:blipFill>
        <p:spPr>
          <a:xfrm>
            <a:off x="1297858" y="586864"/>
            <a:ext cx="4650658" cy="2884537"/>
          </a:xfrm>
          <a:prstGeom prst="rect">
            <a:avLst/>
          </a:prstGeom>
        </p:spPr>
      </p:pic>
      <p:cxnSp>
        <p:nvCxnSpPr>
          <p:cNvPr id="8" name="Straight Connector 7">
            <a:extLst>
              <a:ext uri="{FF2B5EF4-FFF2-40B4-BE49-F238E27FC236}">
                <a16:creationId xmlns:a16="http://schemas.microsoft.com/office/drawing/2014/main" id="{B5171904-F46F-007F-6366-DB7DDEAE4B67}"/>
              </a:ext>
            </a:extLst>
          </p:cNvPr>
          <p:cNvCxnSpPr/>
          <p:nvPr/>
        </p:nvCxnSpPr>
        <p:spPr>
          <a:xfrm>
            <a:off x="914400" y="3598607"/>
            <a:ext cx="10569678" cy="0"/>
          </a:xfrm>
          <a:prstGeom prst="line">
            <a:avLst/>
          </a:prstGeom>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587C5D4A-2D6D-FCA1-6CD5-6CB0D7D192EC}"/>
              </a:ext>
            </a:extLst>
          </p:cNvPr>
          <p:cNvPicPr>
            <a:picLocks noChangeAspect="1"/>
          </p:cNvPicPr>
          <p:nvPr/>
        </p:nvPicPr>
        <p:blipFill>
          <a:blip r:embed="rId3"/>
          <a:stretch>
            <a:fillRect/>
          </a:stretch>
        </p:blipFill>
        <p:spPr>
          <a:xfrm>
            <a:off x="6331974" y="629266"/>
            <a:ext cx="4650658" cy="2799734"/>
          </a:xfrm>
          <a:prstGeom prst="rect">
            <a:avLst/>
          </a:prstGeom>
        </p:spPr>
      </p:pic>
      <p:pic>
        <p:nvPicPr>
          <p:cNvPr id="14" name="Picture 13">
            <a:extLst>
              <a:ext uri="{FF2B5EF4-FFF2-40B4-BE49-F238E27FC236}">
                <a16:creationId xmlns:a16="http://schemas.microsoft.com/office/drawing/2014/main" id="{E1DF5AE5-D201-FE5A-ED7F-F89E13535608}"/>
              </a:ext>
            </a:extLst>
          </p:cNvPr>
          <p:cNvPicPr>
            <a:picLocks noChangeAspect="1"/>
          </p:cNvPicPr>
          <p:nvPr/>
        </p:nvPicPr>
        <p:blipFill>
          <a:blip r:embed="rId4"/>
          <a:stretch>
            <a:fillRect/>
          </a:stretch>
        </p:blipFill>
        <p:spPr>
          <a:xfrm>
            <a:off x="2911069" y="3850559"/>
            <a:ext cx="6369862" cy="2584286"/>
          </a:xfrm>
          <a:prstGeom prst="rect">
            <a:avLst/>
          </a:prstGeom>
        </p:spPr>
      </p:pic>
    </p:spTree>
    <p:extLst>
      <p:ext uri="{BB962C8B-B14F-4D97-AF65-F5344CB8AC3E}">
        <p14:creationId xmlns:p14="http://schemas.microsoft.com/office/powerpoint/2010/main" val="19227874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6552AA8-ABA1-F00E-0B39-79C1A4B7937E}"/>
              </a:ext>
            </a:extLst>
          </p:cNvPr>
          <p:cNvSpPr txBox="1"/>
          <p:nvPr/>
        </p:nvSpPr>
        <p:spPr>
          <a:xfrm>
            <a:off x="4041058" y="213296"/>
            <a:ext cx="4109884" cy="584775"/>
          </a:xfrm>
          <a:prstGeom prst="rect">
            <a:avLst/>
          </a:prstGeom>
          <a:noFill/>
        </p:spPr>
        <p:txBody>
          <a:bodyPr wrap="square" rtlCol="0">
            <a:spAutoFit/>
          </a:bodyPr>
          <a:lstStyle/>
          <a:p>
            <a:r>
              <a:rPr lang="en-US" sz="3200" b="1" dirty="0"/>
              <a:t>Project </a:t>
            </a:r>
            <a:r>
              <a:rPr lang="en-US" sz="3200" b="1" dirty="0" err="1"/>
              <a:t>WorkFlow</a:t>
            </a:r>
            <a:endParaRPr lang="en-IN" sz="3200" b="1" dirty="0"/>
          </a:p>
        </p:txBody>
      </p:sp>
      <p:pic>
        <p:nvPicPr>
          <p:cNvPr id="5" name="Picture 4">
            <a:extLst>
              <a:ext uri="{FF2B5EF4-FFF2-40B4-BE49-F238E27FC236}">
                <a16:creationId xmlns:a16="http://schemas.microsoft.com/office/drawing/2014/main" id="{CD6C1148-068A-3EB2-957C-1A9257E3CA32}"/>
              </a:ext>
            </a:extLst>
          </p:cNvPr>
          <p:cNvPicPr>
            <a:picLocks noChangeAspect="1"/>
          </p:cNvPicPr>
          <p:nvPr/>
        </p:nvPicPr>
        <p:blipFill>
          <a:blip r:embed="rId2"/>
          <a:stretch>
            <a:fillRect/>
          </a:stretch>
        </p:blipFill>
        <p:spPr>
          <a:xfrm>
            <a:off x="3067666" y="798071"/>
            <a:ext cx="7128386" cy="5688450"/>
          </a:xfrm>
          <a:prstGeom prst="rect">
            <a:avLst/>
          </a:prstGeom>
        </p:spPr>
      </p:pic>
    </p:spTree>
    <p:extLst>
      <p:ext uri="{BB962C8B-B14F-4D97-AF65-F5344CB8AC3E}">
        <p14:creationId xmlns:p14="http://schemas.microsoft.com/office/powerpoint/2010/main" val="2549210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9F8B-4D44-5CC5-4825-67EEC37BF2B3}"/>
              </a:ext>
            </a:extLst>
          </p:cNvPr>
          <p:cNvSpPr>
            <a:spLocks noGrp="1"/>
          </p:cNvSpPr>
          <p:nvPr>
            <p:ph type="title"/>
          </p:nvPr>
        </p:nvSpPr>
        <p:spPr>
          <a:xfrm>
            <a:off x="914399" y="550607"/>
            <a:ext cx="7534656" cy="914400"/>
          </a:xfrm>
        </p:spPr>
        <p:txBody>
          <a:bodyPr/>
          <a:lstStyle/>
          <a:p>
            <a:r>
              <a:rPr lang="en-IN" b="1" dirty="0"/>
              <a:t>Dataset (Source Name)</a:t>
            </a:r>
          </a:p>
        </p:txBody>
      </p:sp>
      <p:sp>
        <p:nvSpPr>
          <p:cNvPr id="3" name="Content Placeholder 2">
            <a:extLst>
              <a:ext uri="{FF2B5EF4-FFF2-40B4-BE49-F238E27FC236}">
                <a16:creationId xmlns:a16="http://schemas.microsoft.com/office/drawing/2014/main" id="{B2232897-3BFA-2A64-AA4B-D3A253565583}"/>
              </a:ext>
            </a:extLst>
          </p:cNvPr>
          <p:cNvSpPr>
            <a:spLocks noGrp="1"/>
          </p:cNvSpPr>
          <p:nvPr>
            <p:ph sz="quarter" idx="10"/>
          </p:nvPr>
        </p:nvSpPr>
        <p:spPr>
          <a:xfrm>
            <a:off x="914399" y="1645821"/>
            <a:ext cx="10439401" cy="4342023"/>
          </a:xfrm>
        </p:spPr>
        <p:txBody>
          <a:bodyPr>
            <a:normAutofit lnSpcReduction="10000"/>
          </a:bodyPr>
          <a:lstStyle/>
          <a:p>
            <a:pPr>
              <a:lnSpc>
                <a:spcPct val="150000"/>
              </a:lnSpc>
            </a:pPr>
            <a:r>
              <a:rPr lang="en-US" dirty="0"/>
              <a:t>Source: Kaggle ( Zomato Dataset)</a:t>
            </a:r>
          </a:p>
          <a:p>
            <a:pPr>
              <a:lnSpc>
                <a:spcPct val="150000"/>
              </a:lnSpc>
            </a:pPr>
            <a:r>
              <a:rPr lang="en-US" dirty="0"/>
              <a:t>Total Revenue Analyzed: ₹96.43 Crores </a:t>
            </a:r>
          </a:p>
          <a:p>
            <a:pPr>
              <a:lnSpc>
                <a:spcPct val="150000"/>
              </a:lnSpc>
            </a:pPr>
            <a:r>
              <a:rPr lang="en-US" dirty="0"/>
              <a:t>Data Volume: 147,402 unique orders across 12,117 restaurants</a:t>
            </a:r>
          </a:p>
          <a:p>
            <a:pPr>
              <a:lnSpc>
                <a:spcPct val="150000"/>
              </a:lnSpc>
            </a:pPr>
            <a:r>
              <a:rPr lang="en-US" b="1" dirty="0"/>
              <a:t> Key Parameters:</a:t>
            </a:r>
          </a:p>
          <a:p>
            <a:pPr lvl="1">
              <a:lnSpc>
                <a:spcPct val="150000"/>
              </a:lnSpc>
              <a:buFont typeface="Wingdings" panose="05000000000000000000" pitchFamily="2" charset="2"/>
              <a:buChar char="ü"/>
            </a:pPr>
            <a:r>
              <a:rPr lang="en-US" sz="2000" dirty="0"/>
              <a:t> Temporal: Order Date, Time of Day.</a:t>
            </a:r>
          </a:p>
          <a:p>
            <a:pPr lvl="1">
              <a:lnSpc>
                <a:spcPct val="150000"/>
              </a:lnSpc>
              <a:buFont typeface="Wingdings" panose="05000000000000000000" pitchFamily="2" charset="2"/>
              <a:buChar char="ü"/>
            </a:pPr>
            <a:r>
              <a:rPr lang="en-US" sz="2000" dirty="0"/>
              <a:t> Demographic: User Age, Gender, Family Size, Marital Status.</a:t>
            </a:r>
          </a:p>
          <a:p>
            <a:pPr lvl="1">
              <a:lnSpc>
                <a:spcPct val="150000"/>
              </a:lnSpc>
              <a:buFont typeface="Wingdings" panose="05000000000000000000" pitchFamily="2" charset="2"/>
              <a:buChar char="ü"/>
            </a:pPr>
            <a:r>
              <a:rPr lang="en-US" sz="2000" dirty="0"/>
              <a:t>Geographic: City, Location Coordinates, Ratings. </a:t>
            </a:r>
          </a:p>
          <a:p>
            <a:pPr lvl="1">
              <a:lnSpc>
                <a:spcPct val="150000"/>
              </a:lnSpc>
              <a:buFont typeface="Wingdings" panose="05000000000000000000" pitchFamily="2" charset="2"/>
              <a:buChar char="ü"/>
            </a:pPr>
            <a:r>
              <a:rPr lang="en-US" sz="2000" dirty="0"/>
              <a:t>Financial: Sales Amount, Order Quantity, Item Price.</a:t>
            </a:r>
            <a:endParaRPr lang="en-IN" sz="2000" dirty="0"/>
          </a:p>
        </p:txBody>
      </p:sp>
    </p:spTree>
    <p:extLst>
      <p:ext uri="{BB962C8B-B14F-4D97-AF65-F5344CB8AC3E}">
        <p14:creationId xmlns:p14="http://schemas.microsoft.com/office/powerpoint/2010/main" val="3072704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65849-42EC-8E9B-175A-29065F57B2C1}"/>
              </a:ext>
            </a:extLst>
          </p:cNvPr>
          <p:cNvSpPr>
            <a:spLocks noGrp="1"/>
          </p:cNvSpPr>
          <p:nvPr>
            <p:ph type="title"/>
          </p:nvPr>
        </p:nvSpPr>
        <p:spPr>
          <a:xfrm>
            <a:off x="1143000" y="383950"/>
            <a:ext cx="9875520" cy="1356360"/>
          </a:xfrm>
        </p:spPr>
        <p:txBody>
          <a:bodyPr/>
          <a:lstStyle/>
          <a:p>
            <a:pPr algn="ctr"/>
            <a:r>
              <a:rPr lang="en-IN" b="1" dirty="0"/>
              <a:t>Challenges Faced and Resolution</a:t>
            </a:r>
            <a:endParaRPr lang="en-IN" dirty="0"/>
          </a:p>
        </p:txBody>
      </p:sp>
      <p:sp>
        <p:nvSpPr>
          <p:cNvPr id="4" name="Slide Number Placeholder 3">
            <a:extLst>
              <a:ext uri="{FF2B5EF4-FFF2-40B4-BE49-F238E27FC236}">
                <a16:creationId xmlns:a16="http://schemas.microsoft.com/office/drawing/2014/main" id="{0D109D45-971D-9064-8E82-4B98E3B727FE}"/>
              </a:ext>
            </a:extLst>
          </p:cNvPr>
          <p:cNvSpPr>
            <a:spLocks noGrp="1"/>
          </p:cNvSpPr>
          <p:nvPr>
            <p:ph type="sldNum" sz="quarter" idx="12"/>
          </p:nvPr>
        </p:nvSpPr>
        <p:spPr/>
        <p:txBody>
          <a:bodyPr/>
          <a:lstStyle/>
          <a:p>
            <a:fld id="{58FB4751-880F-D840-AAA9-3A15815CC996}" type="slidenum">
              <a:rPr lang="en-US" smtClean="0"/>
              <a:pPr/>
              <a:t>9</a:t>
            </a:fld>
            <a:endParaRPr lang="en-US" dirty="0"/>
          </a:p>
        </p:txBody>
      </p:sp>
      <p:sp>
        <p:nvSpPr>
          <p:cNvPr id="7" name="Rectangle: Rounded Corners 6">
            <a:extLst>
              <a:ext uri="{FF2B5EF4-FFF2-40B4-BE49-F238E27FC236}">
                <a16:creationId xmlns:a16="http://schemas.microsoft.com/office/drawing/2014/main" id="{4FE8C957-564B-4B3A-DEBF-10ADCCFA5E94}"/>
              </a:ext>
            </a:extLst>
          </p:cNvPr>
          <p:cNvSpPr/>
          <p:nvPr/>
        </p:nvSpPr>
        <p:spPr>
          <a:xfrm>
            <a:off x="809193" y="1806125"/>
            <a:ext cx="5335475" cy="44166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Rectangle: Rounded Corners 7">
            <a:extLst>
              <a:ext uri="{FF2B5EF4-FFF2-40B4-BE49-F238E27FC236}">
                <a16:creationId xmlns:a16="http://schemas.microsoft.com/office/drawing/2014/main" id="{5421A3EA-F6E1-25D3-6E20-93D5BF86A903}"/>
              </a:ext>
            </a:extLst>
          </p:cNvPr>
          <p:cNvSpPr/>
          <p:nvPr/>
        </p:nvSpPr>
        <p:spPr>
          <a:xfrm>
            <a:off x="6478474" y="1740310"/>
            <a:ext cx="5171768" cy="44660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0" name="TextBox 9">
            <a:extLst>
              <a:ext uri="{FF2B5EF4-FFF2-40B4-BE49-F238E27FC236}">
                <a16:creationId xmlns:a16="http://schemas.microsoft.com/office/drawing/2014/main" id="{439F1FC3-28BC-64C0-0244-B449B883941E}"/>
              </a:ext>
            </a:extLst>
          </p:cNvPr>
          <p:cNvSpPr txBox="1"/>
          <p:nvPr/>
        </p:nvSpPr>
        <p:spPr>
          <a:xfrm>
            <a:off x="1247466" y="3003842"/>
            <a:ext cx="4264743" cy="646331"/>
          </a:xfrm>
          <a:prstGeom prst="rect">
            <a:avLst/>
          </a:prstGeom>
          <a:noFill/>
        </p:spPr>
        <p:txBody>
          <a:bodyPr wrap="square" rtlCol="0">
            <a:spAutoFit/>
          </a:bodyPr>
          <a:lstStyle/>
          <a:p>
            <a:r>
              <a:rPr lang="en-US" dirty="0">
                <a:solidFill>
                  <a:schemeClr val="bg1"/>
                </a:solidFill>
              </a:rPr>
              <a:t>System Performance: High row count</a:t>
            </a:r>
          </a:p>
          <a:p>
            <a:r>
              <a:rPr lang="en-US" dirty="0">
                <a:solidFill>
                  <a:schemeClr val="bg1"/>
                </a:solidFill>
              </a:rPr>
              <a:t> (1.4 Lakh+) caused slow visual rendering</a:t>
            </a:r>
            <a:endParaRPr lang="en-IN" dirty="0">
              <a:solidFill>
                <a:schemeClr val="bg1"/>
              </a:solidFill>
            </a:endParaRPr>
          </a:p>
        </p:txBody>
      </p:sp>
      <p:sp>
        <p:nvSpPr>
          <p:cNvPr id="11" name="TextBox 10">
            <a:extLst>
              <a:ext uri="{FF2B5EF4-FFF2-40B4-BE49-F238E27FC236}">
                <a16:creationId xmlns:a16="http://schemas.microsoft.com/office/drawing/2014/main" id="{1BF033E3-F1AA-DC3A-43AA-4A5A479FAC97}"/>
              </a:ext>
            </a:extLst>
          </p:cNvPr>
          <p:cNvSpPr txBox="1"/>
          <p:nvPr/>
        </p:nvSpPr>
        <p:spPr>
          <a:xfrm>
            <a:off x="1155542" y="4185257"/>
            <a:ext cx="4020165" cy="923330"/>
          </a:xfrm>
          <a:prstGeom prst="rect">
            <a:avLst/>
          </a:prstGeom>
          <a:noFill/>
        </p:spPr>
        <p:txBody>
          <a:bodyPr wrap="square" rtlCol="0">
            <a:spAutoFit/>
          </a:bodyPr>
          <a:lstStyle/>
          <a:p>
            <a:r>
              <a:rPr lang="en-US" dirty="0">
                <a:solidFill>
                  <a:schemeClr val="bg1"/>
                </a:solidFill>
              </a:rPr>
              <a:t>Data Inconsistency: Encountered non-</a:t>
            </a:r>
            <a:r>
              <a:rPr lang="en-US" dirty="0" err="1">
                <a:solidFill>
                  <a:schemeClr val="bg1"/>
                </a:solidFill>
              </a:rPr>
              <a:t>standardised</a:t>
            </a:r>
            <a:r>
              <a:rPr lang="en-US" dirty="0">
                <a:solidFill>
                  <a:schemeClr val="bg1"/>
                </a:solidFill>
              </a:rPr>
              <a:t> entries in "Cuisine" and "Veg/Non-Veg" fields</a:t>
            </a:r>
            <a:endParaRPr lang="en-IN" dirty="0">
              <a:solidFill>
                <a:schemeClr val="bg1"/>
              </a:solidFill>
            </a:endParaRPr>
          </a:p>
        </p:txBody>
      </p:sp>
      <p:sp>
        <p:nvSpPr>
          <p:cNvPr id="12" name="TextBox 11">
            <a:extLst>
              <a:ext uri="{FF2B5EF4-FFF2-40B4-BE49-F238E27FC236}">
                <a16:creationId xmlns:a16="http://schemas.microsoft.com/office/drawing/2014/main" id="{61E48DBF-304C-72CA-F3D5-A4C604EF18D2}"/>
              </a:ext>
            </a:extLst>
          </p:cNvPr>
          <p:cNvSpPr txBox="1"/>
          <p:nvPr/>
        </p:nvSpPr>
        <p:spPr>
          <a:xfrm>
            <a:off x="2588594" y="2196851"/>
            <a:ext cx="1582486" cy="461665"/>
          </a:xfrm>
          <a:prstGeom prst="rect">
            <a:avLst/>
          </a:prstGeom>
          <a:noFill/>
        </p:spPr>
        <p:txBody>
          <a:bodyPr wrap="none" rtlCol="0">
            <a:spAutoFit/>
          </a:bodyPr>
          <a:lstStyle/>
          <a:p>
            <a:pPr algn="ctr"/>
            <a:r>
              <a:rPr lang="en-US" sz="2400" dirty="0">
                <a:solidFill>
                  <a:schemeClr val="bg1"/>
                </a:solidFill>
              </a:rPr>
              <a:t>Challenges</a:t>
            </a:r>
            <a:endParaRPr lang="en-IN" dirty="0">
              <a:solidFill>
                <a:schemeClr val="bg1"/>
              </a:solidFill>
            </a:endParaRPr>
          </a:p>
        </p:txBody>
      </p:sp>
      <p:sp>
        <p:nvSpPr>
          <p:cNvPr id="13" name="TextBox 12">
            <a:extLst>
              <a:ext uri="{FF2B5EF4-FFF2-40B4-BE49-F238E27FC236}">
                <a16:creationId xmlns:a16="http://schemas.microsoft.com/office/drawing/2014/main" id="{D9A67B21-9342-FDFE-A14C-DEA18DF21116}"/>
              </a:ext>
            </a:extLst>
          </p:cNvPr>
          <p:cNvSpPr txBox="1"/>
          <p:nvPr/>
        </p:nvSpPr>
        <p:spPr>
          <a:xfrm>
            <a:off x="8355766" y="2195905"/>
            <a:ext cx="1664623" cy="461665"/>
          </a:xfrm>
          <a:prstGeom prst="rect">
            <a:avLst/>
          </a:prstGeom>
          <a:noFill/>
        </p:spPr>
        <p:txBody>
          <a:bodyPr wrap="none" rtlCol="0">
            <a:spAutoFit/>
          </a:bodyPr>
          <a:lstStyle/>
          <a:p>
            <a:r>
              <a:rPr lang="en-US" sz="2400" dirty="0">
                <a:solidFill>
                  <a:schemeClr val="bg1"/>
                </a:solidFill>
              </a:rPr>
              <a:t>Resolutions</a:t>
            </a:r>
            <a:endParaRPr lang="en-IN" sz="2400" dirty="0">
              <a:solidFill>
                <a:schemeClr val="bg1"/>
              </a:solidFill>
            </a:endParaRPr>
          </a:p>
        </p:txBody>
      </p:sp>
      <p:sp>
        <p:nvSpPr>
          <p:cNvPr id="14" name="TextBox 13">
            <a:extLst>
              <a:ext uri="{FF2B5EF4-FFF2-40B4-BE49-F238E27FC236}">
                <a16:creationId xmlns:a16="http://schemas.microsoft.com/office/drawing/2014/main" id="{A59BA073-75DF-E147-6FEE-14EE067CA8BF}"/>
              </a:ext>
            </a:extLst>
          </p:cNvPr>
          <p:cNvSpPr txBox="1"/>
          <p:nvPr/>
        </p:nvSpPr>
        <p:spPr>
          <a:xfrm>
            <a:off x="6878587" y="2895672"/>
            <a:ext cx="4601555" cy="1200329"/>
          </a:xfrm>
          <a:prstGeom prst="rect">
            <a:avLst/>
          </a:prstGeom>
          <a:noFill/>
        </p:spPr>
        <p:txBody>
          <a:bodyPr wrap="square" rtlCol="0">
            <a:spAutoFit/>
          </a:bodyPr>
          <a:lstStyle/>
          <a:p>
            <a:r>
              <a:rPr lang="en-US" dirty="0">
                <a:solidFill>
                  <a:schemeClr val="bg1"/>
                </a:solidFill>
              </a:rPr>
              <a:t>Optimized the data model by removing redundant columns and utilizing DAX       Measures instead of calculated columns to reduce memory overhead</a:t>
            </a:r>
            <a:endParaRPr lang="en-IN" dirty="0">
              <a:solidFill>
                <a:schemeClr val="bg1"/>
              </a:solidFill>
            </a:endParaRPr>
          </a:p>
        </p:txBody>
      </p:sp>
      <p:sp>
        <p:nvSpPr>
          <p:cNvPr id="17" name="TextBox 16">
            <a:extLst>
              <a:ext uri="{FF2B5EF4-FFF2-40B4-BE49-F238E27FC236}">
                <a16:creationId xmlns:a16="http://schemas.microsoft.com/office/drawing/2014/main" id="{3E522337-ACD4-FD1B-94B9-7315320333C6}"/>
              </a:ext>
            </a:extLst>
          </p:cNvPr>
          <p:cNvSpPr txBox="1"/>
          <p:nvPr/>
        </p:nvSpPr>
        <p:spPr>
          <a:xfrm>
            <a:off x="6903597" y="4334104"/>
            <a:ext cx="4321522" cy="923330"/>
          </a:xfrm>
          <a:prstGeom prst="rect">
            <a:avLst/>
          </a:prstGeom>
          <a:noFill/>
        </p:spPr>
        <p:txBody>
          <a:bodyPr wrap="square" rtlCol="0">
            <a:spAutoFit/>
          </a:bodyPr>
          <a:lstStyle/>
          <a:p>
            <a:r>
              <a:rPr lang="en-US" dirty="0">
                <a:solidFill>
                  <a:schemeClr val="bg1"/>
                </a:solidFill>
              </a:rPr>
              <a:t>Applied Fuzzy Grouping and conditional columns in Power Query to normalize         categories</a:t>
            </a:r>
            <a:endParaRPr lang="en-IN" dirty="0">
              <a:solidFill>
                <a:schemeClr val="bg1"/>
              </a:solidFill>
            </a:endParaRPr>
          </a:p>
        </p:txBody>
      </p:sp>
    </p:spTree>
    <p:extLst>
      <p:ext uri="{BB962C8B-B14F-4D97-AF65-F5344CB8AC3E}">
        <p14:creationId xmlns:p14="http://schemas.microsoft.com/office/powerpoint/2010/main" val="132769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64BFD7B-B8BB-815E-45D0-ADC7D53FB88F}"/>
              </a:ext>
            </a:extLst>
          </p:cNvPr>
          <p:cNvPicPr>
            <a:picLocks noGrp="1" noChangeAspect="1"/>
          </p:cNvPicPr>
          <p:nvPr>
            <p:ph sz="quarter" idx="10"/>
          </p:nvPr>
        </p:nvPicPr>
        <p:blipFill>
          <a:blip r:embed="rId2"/>
          <a:stretch>
            <a:fillRect/>
          </a:stretch>
        </p:blipFill>
        <p:spPr>
          <a:xfrm>
            <a:off x="243840" y="284480"/>
            <a:ext cx="11724640" cy="6370319"/>
          </a:xfrm>
          <a:prstGeom prst="rect">
            <a:avLst/>
          </a:prstGeom>
          <a:ln>
            <a:noFill/>
          </a:ln>
          <a:effectLst>
            <a:softEdge rad="112500"/>
          </a:effectLst>
          <a:scene3d>
            <a:camera prst="perspectiveFront"/>
            <a:lightRig rig="threePt" dir="t"/>
          </a:scene3d>
        </p:spPr>
      </p:pic>
    </p:spTree>
    <p:extLst>
      <p:ext uri="{BB962C8B-B14F-4D97-AF65-F5344CB8AC3E}">
        <p14:creationId xmlns:p14="http://schemas.microsoft.com/office/powerpoint/2010/main" val="2853658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17999-B7E5-6E61-E360-3F84F4717A60}"/>
              </a:ext>
            </a:extLst>
          </p:cNvPr>
          <p:cNvSpPr>
            <a:spLocks noGrp="1"/>
          </p:cNvSpPr>
          <p:nvPr>
            <p:ph type="title"/>
          </p:nvPr>
        </p:nvSpPr>
        <p:spPr>
          <a:xfrm>
            <a:off x="914400" y="599440"/>
            <a:ext cx="7534656" cy="914400"/>
          </a:xfrm>
        </p:spPr>
        <p:txBody>
          <a:bodyPr/>
          <a:lstStyle/>
          <a:p>
            <a:r>
              <a:rPr lang="en-IN" b="1" dirty="0"/>
              <a:t>Feature Enhancements</a:t>
            </a:r>
          </a:p>
        </p:txBody>
      </p:sp>
      <p:sp>
        <p:nvSpPr>
          <p:cNvPr id="3" name="Content Placeholder 2">
            <a:extLst>
              <a:ext uri="{FF2B5EF4-FFF2-40B4-BE49-F238E27FC236}">
                <a16:creationId xmlns:a16="http://schemas.microsoft.com/office/drawing/2014/main" id="{A664DFD5-6243-BBDF-3C99-8730CA19F938}"/>
              </a:ext>
            </a:extLst>
          </p:cNvPr>
          <p:cNvSpPr>
            <a:spLocks noGrp="1"/>
          </p:cNvSpPr>
          <p:nvPr>
            <p:ph sz="quarter" idx="10"/>
          </p:nvPr>
        </p:nvSpPr>
        <p:spPr>
          <a:xfrm>
            <a:off x="843280" y="1653032"/>
            <a:ext cx="9674942" cy="4115882"/>
          </a:xfrm>
        </p:spPr>
        <p:txBody>
          <a:bodyPr>
            <a:normAutofit lnSpcReduction="10000"/>
          </a:bodyPr>
          <a:lstStyle/>
          <a:p>
            <a:pPr algn="just">
              <a:lnSpc>
                <a:spcPct val="150000"/>
              </a:lnSpc>
            </a:pPr>
            <a:r>
              <a:rPr lang="en-US" b="1" dirty="0"/>
              <a:t>Advanced Geospatial Analysis: </a:t>
            </a:r>
            <a:r>
              <a:rPr lang="en-US" dirty="0"/>
              <a:t>Integrated interactive maps on Page 7 to visualize restaurant density vs. average ratings.</a:t>
            </a:r>
          </a:p>
          <a:p>
            <a:pPr algn="just">
              <a:lnSpc>
                <a:spcPct val="150000"/>
              </a:lnSpc>
            </a:pPr>
            <a:r>
              <a:rPr lang="en-US" b="1" dirty="0"/>
              <a:t>Dynamic Demographic Filtering: </a:t>
            </a:r>
            <a:r>
              <a:rPr lang="en-US" dirty="0"/>
              <a:t>Added the ability to slice the entire dashboard by Marital Status and Age Groups to see hyper-local trends.</a:t>
            </a:r>
          </a:p>
          <a:p>
            <a:pPr algn="just">
              <a:lnSpc>
                <a:spcPct val="150000"/>
              </a:lnSpc>
            </a:pPr>
            <a:r>
              <a:rPr lang="en-US" b="1" dirty="0"/>
              <a:t>Volatility Indexing</a:t>
            </a:r>
            <a:r>
              <a:rPr lang="en-US" dirty="0"/>
              <a:t>: Created a custom visual to track order fluctuations, allowing businesses to predict staffing needs based on order spikes.</a:t>
            </a:r>
          </a:p>
          <a:p>
            <a:pPr algn="just">
              <a:lnSpc>
                <a:spcPct val="150000"/>
              </a:lnSpc>
            </a:pPr>
            <a:r>
              <a:rPr lang="en-US" b="1" dirty="0"/>
              <a:t>User Persona Branding: </a:t>
            </a:r>
            <a:r>
              <a:rPr lang="en-US" dirty="0"/>
              <a:t>Used custom formatting to distinguish between high-value "Premium" customers and high-frequency "Budget" customers.</a:t>
            </a:r>
            <a:endParaRPr lang="en-IN" dirty="0"/>
          </a:p>
        </p:txBody>
      </p:sp>
    </p:spTree>
    <p:extLst>
      <p:ext uri="{BB962C8B-B14F-4D97-AF65-F5344CB8AC3E}">
        <p14:creationId xmlns:p14="http://schemas.microsoft.com/office/powerpoint/2010/main" val="123419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366F7-CF80-A949-E3B7-3421583283BE}"/>
              </a:ext>
            </a:extLst>
          </p:cNvPr>
          <p:cNvSpPr>
            <a:spLocks noGrp="1"/>
          </p:cNvSpPr>
          <p:nvPr>
            <p:ph type="title"/>
          </p:nvPr>
        </p:nvSpPr>
        <p:spPr>
          <a:xfrm>
            <a:off x="1061884" y="432619"/>
            <a:ext cx="7534656" cy="914400"/>
          </a:xfrm>
        </p:spPr>
        <p:txBody>
          <a:bodyPr/>
          <a:lstStyle/>
          <a:p>
            <a:r>
              <a:rPr lang="en-IN" b="1" dirty="0"/>
              <a:t>Conclusion</a:t>
            </a:r>
          </a:p>
        </p:txBody>
      </p:sp>
      <p:sp>
        <p:nvSpPr>
          <p:cNvPr id="3" name="Content Placeholder 2">
            <a:extLst>
              <a:ext uri="{FF2B5EF4-FFF2-40B4-BE49-F238E27FC236}">
                <a16:creationId xmlns:a16="http://schemas.microsoft.com/office/drawing/2014/main" id="{72FF01F0-EB43-5E19-4897-64CF1C07AC31}"/>
              </a:ext>
            </a:extLst>
          </p:cNvPr>
          <p:cNvSpPr>
            <a:spLocks noGrp="1"/>
          </p:cNvSpPr>
          <p:nvPr>
            <p:ph sz="quarter" idx="10"/>
          </p:nvPr>
        </p:nvSpPr>
        <p:spPr>
          <a:xfrm>
            <a:off x="875069" y="1612490"/>
            <a:ext cx="9547123" cy="4999703"/>
          </a:xfrm>
        </p:spPr>
        <p:txBody>
          <a:bodyPr/>
          <a:lstStyle/>
          <a:p>
            <a:pPr algn="just">
              <a:lnSpc>
                <a:spcPct val="100000"/>
              </a:lnSpc>
            </a:pPr>
            <a:r>
              <a:rPr lang="en-US" dirty="0"/>
              <a:t>Revenue growth is mainly driven by young urban customers aged 20–25.</a:t>
            </a:r>
            <a:br>
              <a:rPr lang="en-US" dirty="0"/>
            </a:br>
            <a:r>
              <a:rPr lang="en-US" dirty="0"/>
              <a:t>This segment forms the core customer base in Tier-1 cities.</a:t>
            </a:r>
          </a:p>
          <a:p>
            <a:pPr algn="just">
              <a:lnSpc>
                <a:spcPct val="100000"/>
              </a:lnSpc>
            </a:pPr>
            <a:r>
              <a:rPr lang="en-US" dirty="0"/>
              <a:t>Friday and weekend orders are significantly higher than other days.</a:t>
            </a:r>
            <a:br>
              <a:rPr lang="en-US" dirty="0"/>
            </a:br>
            <a:r>
              <a:rPr lang="en-US" dirty="0"/>
              <a:t>This shows a strong weekend-start consumption pattern.</a:t>
            </a:r>
          </a:p>
          <a:p>
            <a:pPr algn="just">
              <a:lnSpc>
                <a:spcPct val="100000"/>
              </a:lnSpc>
            </a:pPr>
            <a:r>
              <a:rPr lang="en-US" dirty="0"/>
              <a:t>Peak-day demand allows better logistics and staffing planning.</a:t>
            </a:r>
            <a:br>
              <a:rPr lang="en-US" dirty="0"/>
            </a:br>
            <a:r>
              <a:rPr lang="en-US" dirty="0"/>
              <a:t>Restaurants can </a:t>
            </a:r>
            <a:r>
              <a:rPr lang="en-US" dirty="0" err="1"/>
              <a:t>optimise</a:t>
            </a:r>
            <a:r>
              <a:rPr lang="en-US" dirty="0"/>
              <a:t> inventory and delivery operations accordingly.</a:t>
            </a:r>
          </a:p>
          <a:p>
            <a:pPr algn="just">
              <a:lnSpc>
                <a:spcPct val="100000"/>
              </a:lnSpc>
            </a:pPr>
            <a:r>
              <a:rPr lang="en-US" dirty="0"/>
              <a:t>North Indian cuisine contributes the highest order volume.</a:t>
            </a:r>
            <a:br>
              <a:rPr lang="en-US" dirty="0"/>
            </a:br>
            <a:r>
              <a:rPr lang="en-US" dirty="0"/>
              <a:t>It acts as a stable and consistent revenue driver.</a:t>
            </a:r>
          </a:p>
          <a:p>
            <a:pPr algn="just">
              <a:lnSpc>
                <a:spcPct val="100000"/>
              </a:lnSpc>
            </a:pPr>
            <a:r>
              <a:rPr lang="en-US" dirty="0"/>
              <a:t>Snack items like Pakoras show high demand during peak hours.</a:t>
            </a:r>
            <a:br>
              <a:rPr lang="en-US" dirty="0"/>
            </a:br>
            <a:r>
              <a:rPr lang="en-US" dirty="0"/>
              <a:t>Expanding snack combos can increase sales during Fridays.</a:t>
            </a:r>
          </a:p>
          <a:p>
            <a:pPr algn="just">
              <a:lnSpc>
                <a:spcPct val="100000"/>
              </a:lnSpc>
            </a:pPr>
            <a:r>
              <a:rPr lang="en-US" dirty="0"/>
              <a:t>Tier-1 city expansion offers strong growth potential. Personalized loyalty programs can improve retention and ROI.</a:t>
            </a:r>
          </a:p>
        </p:txBody>
      </p:sp>
      <p:sp>
        <p:nvSpPr>
          <p:cNvPr id="4" name="Slide Number Placeholder 3">
            <a:extLst>
              <a:ext uri="{FF2B5EF4-FFF2-40B4-BE49-F238E27FC236}">
                <a16:creationId xmlns:a16="http://schemas.microsoft.com/office/drawing/2014/main" id="{C2D9BD32-B031-B865-9C5B-FC8298CBA65B}"/>
              </a:ext>
            </a:extLst>
          </p:cNvPr>
          <p:cNvSpPr>
            <a:spLocks noGrp="1"/>
          </p:cNvSpPr>
          <p:nvPr>
            <p:ph type="sldNum" sz="quarter" idx="4"/>
          </p:nvPr>
        </p:nvSpPr>
        <p:spPr/>
        <p:txBody>
          <a:bodyPr/>
          <a:lstStyle/>
          <a:p>
            <a:fld id="{58FB4751-880F-D840-AAA9-3A15815CC996}" type="slidenum">
              <a:rPr lang="en-US" smtClean="0"/>
              <a:pPr/>
              <a:t>12</a:t>
            </a:fld>
            <a:endParaRPr lang="en-US" dirty="0"/>
          </a:p>
        </p:txBody>
      </p:sp>
    </p:spTree>
    <p:extLst>
      <p:ext uri="{BB962C8B-B14F-4D97-AF65-F5344CB8AC3E}">
        <p14:creationId xmlns:p14="http://schemas.microsoft.com/office/powerpoint/2010/main" val="1077197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130B0-0F17-E917-CA37-AFD4ACBAC97B}"/>
              </a:ext>
            </a:extLst>
          </p:cNvPr>
          <p:cNvSpPr>
            <a:spLocks noGrp="1"/>
          </p:cNvSpPr>
          <p:nvPr>
            <p:ph type="title"/>
          </p:nvPr>
        </p:nvSpPr>
        <p:spPr>
          <a:xfrm>
            <a:off x="914399" y="521110"/>
            <a:ext cx="7534656" cy="914400"/>
          </a:xfrm>
        </p:spPr>
        <p:txBody>
          <a:bodyPr/>
          <a:lstStyle/>
          <a:p>
            <a:r>
              <a:rPr lang="en-IN" b="1" dirty="0"/>
              <a:t>Acknowledge and References</a:t>
            </a:r>
          </a:p>
        </p:txBody>
      </p:sp>
      <p:sp>
        <p:nvSpPr>
          <p:cNvPr id="3" name="Content Placeholder 2">
            <a:extLst>
              <a:ext uri="{FF2B5EF4-FFF2-40B4-BE49-F238E27FC236}">
                <a16:creationId xmlns:a16="http://schemas.microsoft.com/office/drawing/2014/main" id="{B51F4909-219D-FFFA-E5F7-802FEED6958C}"/>
              </a:ext>
            </a:extLst>
          </p:cNvPr>
          <p:cNvSpPr>
            <a:spLocks noGrp="1"/>
          </p:cNvSpPr>
          <p:nvPr>
            <p:ph sz="quarter" idx="10"/>
          </p:nvPr>
        </p:nvSpPr>
        <p:spPr>
          <a:xfrm>
            <a:off x="914399" y="1582995"/>
            <a:ext cx="9802762" cy="4463844"/>
          </a:xfrm>
        </p:spPr>
        <p:txBody>
          <a:bodyPr>
            <a:normAutofit/>
          </a:bodyPr>
          <a:lstStyle/>
          <a:p>
            <a:pPr marL="45720" indent="0">
              <a:lnSpc>
                <a:spcPct val="100000"/>
              </a:lnSpc>
              <a:buNone/>
            </a:pPr>
            <a:r>
              <a:rPr lang="en-US" dirty="0"/>
              <a:t>I want to express our heartfelt gratitude to:</a:t>
            </a:r>
          </a:p>
          <a:p>
            <a:pPr marL="45720" indent="0">
              <a:lnSpc>
                <a:spcPct val="100000"/>
              </a:lnSpc>
              <a:buNone/>
            </a:pPr>
            <a:r>
              <a:rPr lang="en-US" b="1" dirty="0"/>
              <a:t>Infosys Springboard Team</a:t>
            </a:r>
            <a:r>
              <a:rPr lang="en-US" dirty="0"/>
              <a:t>– for </a:t>
            </a:r>
            <a:r>
              <a:rPr lang="en-US" dirty="0" err="1"/>
              <a:t>organising</a:t>
            </a:r>
            <a:r>
              <a:rPr lang="en-US" dirty="0"/>
              <a:t> this valuable internship opportunity.</a:t>
            </a:r>
          </a:p>
          <a:p>
            <a:pPr marL="45720" indent="0">
              <a:lnSpc>
                <a:spcPct val="100000"/>
              </a:lnSpc>
              <a:buNone/>
            </a:pPr>
            <a:r>
              <a:rPr lang="en-US" b="1" dirty="0"/>
              <a:t>Our Mentor</a:t>
            </a:r>
            <a:r>
              <a:rPr lang="en-US" dirty="0"/>
              <a:t>– for her continuous support and feedback.</a:t>
            </a:r>
          </a:p>
          <a:p>
            <a:pPr marL="45720" indent="0">
              <a:lnSpc>
                <a:spcPct val="100000"/>
              </a:lnSpc>
              <a:buNone/>
            </a:pPr>
            <a:r>
              <a:rPr lang="en-US" b="1" dirty="0"/>
              <a:t>My Teammates </a:t>
            </a:r>
            <a:r>
              <a:rPr lang="en-US" dirty="0"/>
              <a:t>– for collaboration, encouragement, and insights.</a:t>
            </a:r>
          </a:p>
          <a:p>
            <a:pPr marL="45720" indent="0">
              <a:lnSpc>
                <a:spcPct val="150000"/>
              </a:lnSpc>
              <a:buNone/>
            </a:pPr>
            <a:r>
              <a:rPr lang="en-US" dirty="0"/>
              <a:t>This internship has been a significant step in our professional growth and technical journey</a:t>
            </a:r>
            <a:br>
              <a:rPr lang="en-US" dirty="0"/>
            </a:br>
            <a:r>
              <a:rPr lang="en-US" b="1" dirty="0"/>
              <a:t>References:</a:t>
            </a:r>
          </a:p>
          <a:p>
            <a:pPr>
              <a:lnSpc>
                <a:spcPct val="100000"/>
              </a:lnSpc>
            </a:pPr>
            <a:r>
              <a:rPr lang="en-US" dirty="0"/>
              <a:t>Kaggle Zomato Dataset</a:t>
            </a:r>
          </a:p>
          <a:p>
            <a:pPr>
              <a:lnSpc>
                <a:spcPct val="100000"/>
              </a:lnSpc>
            </a:pPr>
            <a:r>
              <a:rPr lang="en-US" dirty="0"/>
              <a:t>Microsoft Power BI Documentation</a:t>
            </a:r>
          </a:p>
          <a:p>
            <a:pPr>
              <a:lnSpc>
                <a:spcPct val="100000"/>
              </a:lnSpc>
            </a:pPr>
            <a:r>
              <a:rPr lang="en-US" dirty="0"/>
              <a:t>Infosys Springboard Virtual Internship course materials</a:t>
            </a:r>
            <a:endParaRPr lang="en-IN" sz="2000" dirty="0"/>
          </a:p>
        </p:txBody>
      </p:sp>
    </p:spTree>
    <p:extLst>
      <p:ext uri="{BB962C8B-B14F-4D97-AF65-F5344CB8AC3E}">
        <p14:creationId xmlns:p14="http://schemas.microsoft.com/office/powerpoint/2010/main" val="17980031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A1A2E-3CF2-A5A3-70F8-6E1F16C46427}"/>
              </a:ext>
            </a:extLst>
          </p:cNvPr>
          <p:cNvSpPr>
            <a:spLocks noGrp="1"/>
          </p:cNvSpPr>
          <p:nvPr>
            <p:ph type="title"/>
          </p:nvPr>
        </p:nvSpPr>
        <p:spPr>
          <a:xfrm>
            <a:off x="3883743" y="2971800"/>
            <a:ext cx="4621161" cy="914400"/>
          </a:xfrm>
        </p:spPr>
        <p:txBody>
          <a:bodyPr>
            <a:noAutofit/>
          </a:bodyPr>
          <a:lstStyle/>
          <a:p>
            <a:r>
              <a:rPr lang="en-US" sz="6600" dirty="0"/>
              <a:t>Thank You</a:t>
            </a:r>
            <a:endParaRPr lang="en-IN" sz="6600" dirty="0"/>
          </a:p>
        </p:txBody>
      </p:sp>
    </p:spTree>
    <p:extLst>
      <p:ext uri="{BB962C8B-B14F-4D97-AF65-F5344CB8AC3E}">
        <p14:creationId xmlns:p14="http://schemas.microsoft.com/office/powerpoint/2010/main" val="1944324060"/>
      </p:ext>
    </p:extLst>
  </p:cSld>
  <p:clrMapOvr>
    <a:masterClrMapping/>
  </p:clrMapOvr>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49AD37-9510-4A2D-B790-12C439A83F93}">
  <ds:schemaRefs>
    <ds:schemaRef ds:uri="http://schemas.microsoft.com/sharepoint/v3/contenttype/forms"/>
  </ds:schemaRefs>
</ds:datastoreItem>
</file>

<file path=customXml/itemProps2.xml><?xml version="1.0" encoding="utf-8"?>
<ds:datastoreItem xmlns:ds="http://schemas.openxmlformats.org/officeDocument/2006/customXml" ds:itemID="{85DF9CEC-52C2-4D14-B2F5-11176002A8B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D8B1D1D-0064-435C-8533-29A36067B8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Organic</Template>
  <TotalTime>323</TotalTime>
  <Words>736</Words>
  <Application>Microsoft Office PowerPoint</Application>
  <PresentationFormat>Widescreen</PresentationFormat>
  <Paragraphs>65</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Calibri</vt:lpstr>
      <vt:lpstr>Corbel</vt:lpstr>
      <vt:lpstr>Courier New</vt:lpstr>
      <vt:lpstr>Sagona Book</vt:lpstr>
      <vt:lpstr>Wingdings</vt:lpstr>
      <vt:lpstr>Basis</vt:lpstr>
      <vt:lpstr>Food Trends Understanding Customer Preferences</vt:lpstr>
      <vt:lpstr>Objective and Description</vt:lpstr>
      <vt:lpstr>Top Visualizations Used in the Project</vt:lpstr>
      <vt:lpstr>Project Execution Milestones</vt:lpstr>
      <vt:lpstr>PowerPoint Presentation</vt:lpstr>
      <vt:lpstr>PowerPoint Presentation</vt:lpstr>
      <vt:lpstr>PowerPoint Presentation</vt:lpstr>
      <vt:lpstr>Dataset (Source Name)</vt:lpstr>
      <vt:lpstr>Challenges Faced and Resolution</vt:lpstr>
      <vt:lpstr>PowerPoint Presentation</vt:lpstr>
      <vt:lpstr>Feature Enhancements</vt:lpstr>
      <vt:lpstr>Conclusion</vt:lpstr>
      <vt:lpstr>Acknowledge and 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vasanthi kakkera</dc:creator>
  <cp:lastModifiedBy>vasanthi kakkera</cp:lastModifiedBy>
  <cp:revision>15</cp:revision>
  <dcterms:created xsi:type="dcterms:W3CDTF">2026-02-07T13:49:50Z</dcterms:created>
  <dcterms:modified xsi:type="dcterms:W3CDTF">2026-02-20T15:08:59Z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