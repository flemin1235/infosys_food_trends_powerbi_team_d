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1" r:id="rId2"/>
    <p:sldId id="256" r:id="rId3"/>
    <p:sldId id="265" r:id="rId4"/>
    <p:sldId id="275" r:id="rId5"/>
    <p:sldId id="258" r:id="rId6"/>
    <p:sldId id="266" r:id="rId7"/>
    <p:sldId id="267" r:id="rId8"/>
    <p:sldId id="270" r:id="rId9"/>
    <p:sldId id="268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3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B07B-2A46-AC59-FB2A-4335808A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D3AFB-C32B-05F6-BB14-A1DEDC0A5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D7A67-CC94-51B8-A199-90EAB989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49E4E-E8A5-AC5D-D324-CC47051DC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1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57DD-84E2-2740-3DC5-38ED1C88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BA462-8C52-6EB7-AA5F-277A6B89C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18D87-2797-9B6A-89C9-A8E77710D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6BC4-B641-FC5D-7BE0-4E5EC9E80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7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5A14-25D5-0F9C-BF64-6E10FA46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7d6f1fd7-4ef5-4ec9-ba51-4f1960c10018/2018941483523170304:9a59714e6cddc06dd0f0cad037f74c0c:2:0_page_15_inp_img_lama_refine.png">
            <a:extLst>
              <a:ext uri="{FF2B5EF4-FFF2-40B4-BE49-F238E27FC236}">
                <a16:creationId xmlns:a16="http://schemas.microsoft.com/office/drawing/2014/main" id="{F4276F94-EE1B-01E1-EA0D-ED9423C5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B4A491E-C6AB-1F08-6B4D-050485D81862}"/>
              </a:ext>
            </a:extLst>
          </p:cNvPr>
          <p:cNvSpPr/>
          <p:nvPr/>
        </p:nvSpPr>
        <p:spPr>
          <a:xfrm>
            <a:off x="3103156" y="638175"/>
            <a:ext cx="6424732" cy="5554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73"/>
              </a:lnSpc>
              <a:buNone/>
            </a:pPr>
            <a:r>
              <a:rPr lang="en-US" sz="3675" b="1" dirty="0">
                <a:solidFill>
                  <a:srgbClr val="0083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Trends Understanding Customer Preferences</a:t>
            </a:r>
            <a:endParaRPr lang="en-US" sz="3675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9F397D-7F32-A6F4-7C10-0126793F1783}"/>
              </a:ext>
            </a:extLst>
          </p:cNvPr>
          <p:cNvSpPr/>
          <p:nvPr/>
        </p:nvSpPr>
        <p:spPr>
          <a:xfrm>
            <a:off x="1809750" y="1581150"/>
            <a:ext cx="9408765" cy="7125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806"/>
              </a:lnSpc>
              <a:buNone/>
            </a:pPr>
            <a:endParaRPr lang="en-US" sz="2175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BB6E6B-625C-44EA-E1DF-6FFAFE64D3E1}"/>
              </a:ext>
            </a:extLst>
          </p:cNvPr>
          <p:cNvSpPr/>
          <p:nvPr/>
        </p:nvSpPr>
        <p:spPr>
          <a:xfrm>
            <a:off x="3451454" y="2762312"/>
            <a:ext cx="7280326" cy="2065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11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Infosys Springboard Internship Group 1 Batch 11</a:t>
            </a:r>
          </a:p>
          <a:p>
            <a:pPr marL="0" indent="0">
              <a:lnSpc>
                <a:spcPts val="2711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Visualization Domain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EAD2A7D-4C82-FAB3-A3B2-6BBE11CAAA56}"/>
              </a:ext>
            </a:extLst>
          </p:cNvPr>
          <p:cNvSpPr/>
          <p:nvPr/>
        </p:nvSpPr>
        <p:spPr>
          <a:xfrm>
            <a:off x="5232113" y="4321120"/>
            <a:ext cx="8591550" cy="688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11"/>
              </a:lnSpc>
              <a:buNone/>
            </a:pPr>
            <a:r>
              <a:rPr lang="en-US" sz="1950" i="1" dirty="0">
                <a:solidFill>
                  <a:srgbClr val="2C2C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Presented by :</a:t>
            </a:r>
          </a:p>
          <a:p>
            <a:pPr marL="0" indent="0" algn="ctr">
              <a:lnSpc>
                <a:spcPts val="2711"/>
              </a:lnSpc>
              <a:buNone/>
            </a:pPr>
            <a:r>
              <a:rPr lang="en-US" sz="1950" b="1" i="1" dirty="0">
                <a:solidFill>
                  <a:srgbClr val="2C2C2C"/>
                </a:solidFill>
                <a:latin typeface="Noto Sans SC" pitchFamily="34" charset="0"/>
                <a:ea typeface="Noto Sans SC" pitchFamily="34" charset="-122"/>
              </a:rPr>
              <a:t>Flemin P Daniel</a:t>
            </a:r>
          </a:p>
          <a:p>
            <a:pPr marL="0" indent="0" algn="ctr">
              <a:lnSpc>
                <a:spcPts val="2711"/>
              </a:lnSpc>
              <a:buNone/>
            </a:pPr>
            <a:r>
              <a:rPr lang="en-US" sz="1950" i="1" dirty="0">
                <a:solidFill>
                  <a:srgbClr val="2C2C2C"/>
                </a:solidFill>
                <a:latin typeface="Noto Sans SC" pitchFamily="34" charset="0"/>
                <a:ea typeface="Noto Sans SC" pitchFamily="34" charset="-122"/>
              </a:rPr>
              <a:t>Team D</a:t>
            </a:r>
            <a:endParaRPr lang="en-US" sz="1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F833C-31F5-B859-9107-0CBA46D6DA45}"/>
              </a:ext>
            </a:extLst>
          </p:cNvPr>
          <p:cNvSpPr txBox="1"/>
          <p:nvPr/>
        </p:nvSpPr>
        <p:spPr>
          <a:xfrm>
            <a:off x="1809749" y="4289718"/>
            <a:ext cx="3695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Mentor:</a:t>
            </a:r>
          </a:p>
          <a:p>
            <a:r>
              <a:rPr lang="en-US" sz="2000" b="1" dirty="0"/>
              <a:t>Ms. Nityasree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56634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0:0/903d14d3-6cc6-4f10-ae41-663a1262e8f9/2018941483523170304:9a59714e6cddc06dd0f0cad037f74c0c:0:0_page_1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6325" y="638175"/>
            <a:ext cx="7757398" cy="5658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455"/>
              </a:lnSpc>
              <a:buNone/>
            </a:pPr>
            <a:r>
              <a:rPr lang="en-US" sz="3375" b="1" dirty="0">
                <a:solidFill>
                  <a:srgbClr val="118A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 and Project Description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962025" y="1866316"/>
            <a:ext cx="7522815" cy="609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98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Leverage Power BI to analyze transactional and customer
feedback data in the food and beverage industry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62025" y="2647366"/>
            <a:ext cx="7376071" cy="635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Enable data-driven decision-making to address evolving
customer preferences and operational inefficiencies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62024" y="4445150"/>
            <a:ext cx="7103715" cy="661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Identify emerging food trends and optimize menu
planning based on demand and revenue performance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62025" y="4505714"/>
            <a:ext cx="7103715" cy="609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98"/>
              </a:lnSpc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2025" y="5286764"/>
            <a:ext cx="7208490" cy="635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Analyze customer demographics, ordering behavior,
pricing sensitivity, and loyalty patterns across key cities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1D139-CDAB-6D70-E2DD-F3A3959FD8E4}"/>
              </a:ext>
            </a:extLst>
          </p:cNvPr>
          <p:cNvSpPr txBox="1"/>
          <p:nvPr/>
        </p:nvSpPr>
        <p:spPr>
          <a:xfrm>
            <a:off x="830424" y="1400564"/>
            <a:ext cx="309776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Objective</a:t>
            </a:r>
            <a:endParaRPr lang="en-IN" sz="1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556D7-AAC4-B7B0-E35F-AD75EE3F5889}"/>
              </a:ext>
            </a:extLst>
          </p:cNvPr>
          <p:cNvSpPr txBox="1"/>
          <p:nvPr/>
        </p:nvSpPr>
        <p:spPr>
          <a:xfrm>
            <a:off x="830424" y="4044393"/>
            <a:ext cx="309776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Project Description</a:t>
            </a:r>
            <a:endParaRPr lang="en-IN" sz="19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1:0/34b5bf93-50d3-423a-8708-c1e08b350616/2018941483523170304:9a59714e6cddc06dd0f0cad037f74c0c:1:0_page_10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77" y="1536055"/>
            <a:ext cx="10485090" cy="27088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2957" y="304800"/>
            <a:ext cx="5016520" cy="4012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9"/>
              </a:lnSpc>
              <a:buNone/>
            </a:pPr>
            <a:r>
              <a:rPr lang="en-US" sz="2925" b="1" dirty="0">
                <a:solidFill>
                  <a:srgbClr val="00838F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Dataset Overview</a:t>
            </a:r>
            <a:endParaRPr lang="en-US" sz="2925" dirty="0"/>
          </a:p>
        </p:txBody>
      </p:sp>
      <p:sp>
        <p:nvSpPr>
          <p:cNvPr id="5" name="Text 1"/>
          <p:cNvSpPr/>
          <p:nvPr/>
        </p:nvSpPr>
        <p:spPr>
          <a:xfrm>
            <a:off x="771525" y="4533900"/>
            <a:ext cx="4337685" cy="308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4A148C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Key Attributes Enable: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1381125" y="809625"/>
            <a:ext cx="10236398" cy="520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212121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Five core datasets from Kaggle Zomato Database forming the foundation for multi-dimensional analysis 
across geography, demographics, and time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71525" y="4924425"/>
            <a:ext cx="11577638" cy="11888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• Customer demographic and behavioral segmentation (Age, Gender, Income, Occupation)
• Location-based and quality analysis (City, Cuisine, Ratings, Cost)
• Transactional timing, volume, and value tracking (Order_Date, Amount_Ruppers)
• Food item characteristics and pricing analysis (Item, Veg_or_NonVeg, Price)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839111" y="6372225"/>
            <a:ext cx="3658672" cy="2366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6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Total Records: 25,63,897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34B5-7889-B5E9-2425-A605DCC5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B9D093B-E9AB-778C-244A-EBFF888F7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DFDD7A6-D789-CA24-0DE8-9A4A12F40690}"/>
              </a:ext>
            </a:extLst>
          </p:cNvPr>
          <p:cNvSpPr/>
          <p:nvPr/>
        </p:nvSpPr>
        <p:spPr>
          <a:xfrm>
            <a:off x="-493873" y="195944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6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Project Workflow</a:t>
            </a:r>
            <a:endParaRPr lang="en-US" sz="2600" dirty="0">
              <a:latin typeface="Noto Sans K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3497E5-FCB5-8546-6062-A4AC06373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173" y="615788"/>
            <a:ext cx="5157734" cy="612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0:0/dbf853bb-4319-4609-a7d3-caccd8469610/2018941483523170304:9a59714e6cddc06dd0f0cad037f74c0c:0:0_page_3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905339" y="962273"/>
            <a:ext cx="12459772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000" b="1" dirty="0">
                <a:solidFill>
                  <a:srgbClr val="118A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Milestone 1: Data Foundation 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200150" y="1095375"/>
            <a:ext cx="10781258" cy="639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19"/>
              </a:lnSpc>
              <a:buNone/>
            </a:pPr>
            <a:endParaRPr lang="en-US" sz="17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38408-EEE4-0DBE-E44C-8C791D8E9047}"/>
              </a:ext>
            </a:extLst>
          </p:cNvPr>
          <p:cNvSpPr txBox="1"/>
          <p:nvPr/>
        </p:nvSpPr>
        <p:spPr>
          <a:xfrm>
            <a:off x="630257" y="1370778"/>
            <a:ext cx="9799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Poppins" panose="00000500000000000000" pitchFamily="2" charset="0"/>
              </a:rPr>
              <a:t>Collected 5 tables and performed necessary preprocessing tasks like replacing null values, splitting, transformations etc.</a:t>
            </a:r>
            <a:endParaRPr lang="en-IN" b="0" i="0" dirty="0">
              <a:effectLst/>
              <a:latin typeface="Poppins" panose="00000500000000000000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C5C4D3-02EE-0648-7C0C-3DBCD2C81480}"/>
              </a:ext>
            </a:extLst>
          </p:cNvPr>
          <p:cNvSpPr/>
          <p:nvPr/>
        </p:nvSpPr>
        <p:spPr>
          <a:xfrm>
            <a:off x="-1335509" y="2325142"/>
            <a:ext cx="7516713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0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Milestone 2: Business Overview</a:t>
            </a:r>
            <a:endParaRPr lang="en-US" sz="2000" dirty="0">
              <a:latin typeface="Noto Sans K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2DF90-56E6-BA62-8E86-6A4727305B1F}"/>
              </a:ext>
            </a:extLst>
          </p:cNvPr>
          <p:cNvSpPr txBox="1"/>
          <p:nvPr/>
        </p:nvSpPr>
        <p:spPr>
          <a:xfrm>
            <a:off x="619929" y="2786399"/>
            <a:ext cx="11351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latin typeface="Poppins" panose="00000500000000000000" pitchFamily="2" charset="0"/>
              </a:rPr>
              <a:t>Developed three pages namely </a:t>
            </a:r>
            <a:r>
              <a:rPr lang="en-US" b="0" i="0" dirty="0">
                <a:effectLst/>
                <a:latin typeface="Poppins" panose="00000500000000000000" pitchFamily="2" charset="0"/>
              </a:rPr>
              <a:t>Business </a:t>
            </a:r>
            <a:r>
              <a:rPr lang="en-US" dirty="0">
                <a:latin typeface="Poppins" panose="00000500000000000000" pitchFamily="2" charset="0"/>
              </a:rPr>
              <a:t>Snapshot, Customer Analysis, Restaurant Performances.</a:t>
            </a:r>
          </a:p>
          <a:p>
            <a:pPr algn="l">
              <a:buNone/>
            </a:pPr>
            <a:r>
              <a:rPr lang="en-US" dirty="0">
                <a:latin typeface="Poppins" panose="00000500000000000000" pitchFamily="2" charset="0"/>
              </a:rPr>
              <a:t>It gives overall business scenario and 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8AAE38B-F2B1-6649-2D56-0C7B6C828DBD}"/>
              </a:ext>
            </a:extLst>
          </p:cNvPr>
          <p:cNvSpPr/>
          <p:nvPr/>
        </p:nvSpPr>
        <p:spPr>
          <a:xfrm>
            <a:off x="-4055642" y="3628653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0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Milestone 3: Ordering Behavior</a:t>
            </a:r>
            <a:endParaRPr lang="en-US" sz="2000" dirty="0">
              <a:latin typeface="Noto Sans KR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3343C3A-4F33-B039-201D-D3F62CE228F0}"/>
              </a:ext>
            </a:extLst>
          </p:cNvPr>
          <p:cNvSpPr/>
          <p:nvPr/>
        </p:nvSpPr>
        <p:spPr>
          <a:xfrm>
            <a:off x="-3735289" y="4976052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0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Milestone 4: Customer Demographics</a:t>
            </a:r>
          </a:p>
          <a:p>
            <a:pPr marL="0" indent="0" algn="ctr">
              <a:lnSpc>
                <a:spcPts val="3306"/>
              </a:lnSpc>
              <a:buNone/>
            </a:pPr>
            <a:endParaRPr lang="en-US" sz="2000" dirty="0">
              <a:latin typeface="Noto Sans K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72ACA-48D4-3D90-A7AC-6AFEFE685E88}"/>
              </a:ext>
            </a:extLst>
          </p:cNvPr>
          <p:cNvSpPr txBox="1"/>
          <p:nvPr/>
        </p:nvSpPr>
        <p:spPr>
          <a:xfrm>
            <a:off x="630258" y="4112537"/>
            <a:ext cx="10952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Developed two pages namely </a:t>
            </a:r>
            <a:r>
              <a:rPr lang="en-US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Food and Menu Trends, Ordering Insights. It shows how food and ordering behavior are related.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85102-0C9F-E9A6-E2F8-B4D0EC179199}"/>
              </a:ext>
            </a:extLst>
          </p:cNvPr>
          <p:cNvSpPr txBox="1"/>
          <p:nvPr/>
        </p:nvSpPr>
        <p:spPr>
          <a:xfrm>
            <a:off x="619929" y="5477560"/>
            <a:ext cx="109521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Added two pages namely Customer Loyalty and Customer Demographics. </a:t>
            </a:r>
          </a:p>
          <a:p>
            <a:pPr algn="l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Visual formatting has been improved for all the pages</a:t>
            </a:r>
          </a:p>
          <a:p>
            <a:pPr algn="l">
              <a:buNone/>
            </a:pPr>
            <a:endParaRPr lang="en-US" b="0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FF50D623-E103-E6AF-EF3F-B2B119C26629}"/>
              </a:ext>
            </a:extLst>
          </p:cNvPr>
          <p:cNvSpPr/>
          <p:nvPr/>
        </p:nvSpPr>
        <p:spPr>
          <a:xfrm>
            <a:off x="-353914" y="430562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6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Project Execution Milestones</a:t>
            </a:r>
            <a:endParaRPr lang="en-US" sz="2600" dirty="0">
              <a:latin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5aa06cd6-b97e-4d33-85e5-90eac18ba37d/2018941483523170304:9a59714e6cddc06dd0f0cad037f74c0c:2:0_page_11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788" y="2413992"/>
            <a:ext cx="536377" cy="56227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757" y="2400300"/>
            <a:ext cx="597396" cy="57596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67" y="2400300"/>
            <a:ext cx="560784" cy="57596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569720" y="569640"/>
            <a:ext cx="9052560" cy="4686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90"/>
              </a:lnSpc>
              <a:buNone/>
            </a:pPr>
            <a:r>
              <a:rPr lang="en-US" sz="3075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 Faced and Resolution</a:t>
            </a:r>
            <a:endParaRPr lang="en-US" sz="3075" dirty="0"/>
          </a:p>
        </p:txBody>
      </p:sp>
      <p:sp>
        <p:nvSpPr>
          <p:cNvPr id="7" name="Text 1"/>
          <p:cNvSpPr/>
          <p:nvPr/>
        </p:nvSpPr>
        <p:spPr>
          <a:xfrm>
            <a:off x="1323975" y="2476500"/>
            <a:ext cx="2426553" cy="346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39C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950" dirty="0"/>
          </a:p>
        </p:txBody>
      </p:sp>
      <p:sp>
        <p:nvSpPr>
          <p:cNvPr id="8" name="Text 2"/>
          <p:cNvSpPr/>
          <p:nvPr/>
        </p:nvSpPr>
        <p:spPr>
          <a:xfrm>
            <a:off x="5162550" y="2476500"/>
            <a:ext cx="3558123" cy="346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4A1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Transformation</a:t>
            </a:r>
            <a:endParaRPr lang="en-US" sz="1950" dirty="0"/>
          </a:p>
        </p:txBody>
      </p:sp>
      <p:sp>
        <p:nvSpPr>
          <p:cNvPr id="9" name="Text 3"/>
          <p:cNvSpPr/>
          <p:nvPr/>
        </p:nvSpPr>
        <p:spPr>
          <a:xfrm>
            <a:off x="9144000" y="2476500"/>
            <a:ext cx="2853928" cy="346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Enrichment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714375" y="3133725"/>
            <a:ext cx="3342233" cy="960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Inconsistent
formatting and null values in
critical columns (Rating, City,
Cuisine)</a:t>
            </a:r>
            <a:endParaRPr lang="en-US" sz="1575" dirty="0"/>
          </a:p>
        </p:txBody>
      </p:sp>
      <p:sp>
        <p:nvSpPr>
          <p:cNvPr id="11" name="Text 5"/>
          <p:cNvSpPr/>
          <p:nvPr/>
        </p:nvSpPr>
        <p:spPr>
          <a:xfrm>
            <a:off x="4572000" y="3133725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Multi-valued
Cuisine and City fields,
ambiguous Menu_ID and RID
relationships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714375" y="4419600"/>
            <a:ext cx="323745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Text trimming,
duplicate removal, created
New_Restaurant column for
null ratings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4572000" y="4419600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Split and unpivot
multi-valued fields, explicit
relationship definitions in
Power BI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714375" y="3133725"/>
            <a:ext cx="3342233" cy="960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Inconsistent
formatting and null values in
critical columns (Rating, City,
Cuisine)</a:t>
            </a:r>
            <a:endParaRPr lang="en-US" sz="1575" dirty="0"/>
          </a:p>
        </p:txBody>
      </p:sp>
      <p:sp>
        <p:nvSpPr>
          <p:cNvPr id="15" name="Text 9"/>
          <p:cNvSpPr/>
          <p:nvPr/>
        </p:nvSpPr>
        <p:spPr>
          <a:xfrm>
            <a:off x="4572000" y="3133725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Multi-valued
Cuisine and City fields,
ambiguous Menu_ID and RID
relationships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14375" y="4419600"/>
            <a:ext cx="323745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Text trimming,
duplicate removal, created
New_Restaurant column for
null ratings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572000" y="4419600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Split and unpivot
multi-valued fields, explicit
relationship definitions in
Power BI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714375" y="3133725"/>
            <a:ext cx="3342233" cy="960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Inconsistent
formatting and null values in
critical columns (Rating, City,
Cuisine)</a:t>
            </a:r>
            <a:endParaRPr lang="en-US" sz="1575" dirty="0"/>
          </a:p>
        </p:txBody>
      </p:sp>
      <p:sp>
        <p:nvSpPr>
          <p:cNvPr id="19" name="Text 13"/>
          <p:cNvSpPr/>
          <p:nvPr/>
        </p:nvSpPr>
        <p:spPr>
          <a:xfrm>
            <a:off x="4572000" y="3133725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Multi-valued
Cuisine and City fields,
ambiguous Menu_ID and RID
relationships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14375" y="4419600"/>
            <a:ext cx="323745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Text trimming,
duplicate removal, created
New_Restaurant column for
null ratings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4572000" y="4419600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Split and unpivot
multi-valued fields, explicit
relationship definitions in
Power BI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847278" y="1232506"/>
            <a:ext cx="10833646" cy="6134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Addressed data inconsistencies, multi-valued fields, and missing metrics through
cleaning, transformation, and enrichment, ensuring analytical accuracy and reliability</a:t>
            </a:r>
            <a:endParaRPr lang="en-US" sz="1725" dirty="0"/>
          </a:p>
        </p:txBody>
      </p:sp>
      <p:sp>
        <p:nvSpPr>
          <p:cNvPr id="23" name="Text 17"/>
          <p:cNvSpPr/>
          <p:nvPr/>
        </p:nvSpPr>
        <p:spPr>
          <a:xfrm>
            <a:off x="8515350" y="3133725"/>
            <a:ext cx="3394621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Currency
inconsistency (INR/USD), lack
of day-of-week data,
incomparable ranges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515350" y="4419600"/>
            <a:ext cx="344700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Created
Amount_Rupees, Order_Day,
and Income_Bound columns
for unified analysis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25164" y="6153150"/>
            <a:ext cx="12899827" cy="2352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52"/>
              </a:lnSpc>
              <a:buNone/>
            </a:pPr>
            <a:r>
              <a:rPr lang="en-US" sz="142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Comprehensive data preprocessing ensured reliable foundation for accurate business intelligence analysis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f130e149-72e9-4c81-a2f4-81a2ad154c04/2018941483523170304:9a59714e6cddc06dd0f0cad037f74c0c:2:0_page_12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467" y="1597819"/>
            <a:ext cx="572988" cy="6103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9" y="1597819"/>
            <a:ext cx="475357" cy="56911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72014" y="676275"/>
            <a:ext cx="11252835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570"/>
              </a:lnSpc>
              <a:buNone/>
            </a:pPr>
            <a:r>
              <a:rPr lang="en-US" sz="3000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Insights and Feature Enhancement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1200150" y="1733550"/>
            <a:ext cx="3721537" cy="3287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88"/>
              </a:lnSpc>
              <a:buNone/>
            </a:pPr>
            <a:r>
              <a:rPr lang="en-US" sz="2175" b="1" dirty="0">
                <a:solidFill>
                  <a:srgbClr val="4141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Insights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6686550" y="1733550"/>
            <a:ext cx="5695533" cy="3173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4141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Recommendations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-820366" y="6096000"/>
            <a:ext cx="13968532" cy="294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21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Data-driven strategies to reverse declining trends and enhance customer retention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838200" y="2314575"/>
            <a:ext cx="4809083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Revenue declined from ₹41.75M
(2018) to ₹14.59M (2020)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38200" y="3067050"/>
            <a:ext cx="4327178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Friday peak: 34.5K orders vs.
weekend drops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838200" y="3886200"/>
            <a:ext cx="4568130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Students drive highest revenue
despite low income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38200" y="4714875"/>
            <a:ext cx="4704308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Quality perception matters more
than price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686550" y="2314575"/>
            <a:ext cx="4892873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Launch 'Weekend Family Bundles'
for low-performing days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686550" y="3067050"/>
            <a:ext cx="4872038" cy="6143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Implement 'Student Prime' Loyalty
Program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686550" y="3886200"/>
            <a:ext cx="4651921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Expand into Tier-2 cities (Raipur,
Hyderabad)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686550" y="4714875"/>
            <a:ext cx="4075658" cy="6143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Incentivize user reviews with
discount campaigns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7d6f1fd7-4ef5-4ec9-ba51-4f1960c10018/2018941483523170304:9a59714e6cddc06dd0f0cad037f74c0c:2:0_page_15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90590" y="638175"/>
            <a:ext cx="8410820" cy="5554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73"/>
              </a:lnSpc>
              <a:buNone/>
            </a:pPr>
            <a:r>
              <a:rPr lang="en-US" sz="3000" b="1" dirty="0">
                <a:solidFill>
                  <a:srgbClr val="0083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Acknowledgement and References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908870" y="1677589"/>
            <a:ext cx="8863905" cy="2065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dirty="0"/>
              <a:t>We would like to express our heartfelt gratitude to:</a:t>
            </a:r>
          </a:p>
          <a:p>
            <a:r>
              <a:rPr lang="en-US" b="1" dirty="0"/>
              <a:t>Infosys Springboard Team</a:t>
            </a:r>
            <a:r>
              <a:rPr lang="en-US" dirty="0"/>
              <a:t>– for organizing this valuable internship opportunity.</a:t>
            </a:r>
          </a:p>
          <a:p>
            <a:r>
              <a:rPr lang="en-US" b="1" dirty="0"/>
              <a:t>Our Mentor</a:t>
            </a:r>
            <a:r>
              <a:rPr lang="en-US" dirty="0"/>
              <a:t>– for her continuous support and feedback.</a:t>
            </a:r>
          </a:p>
          <a:p>
            <a:r>
              <a:rPr lang="en-US" b="1" dirty="0"/>
              <a:t>My Teammates </a:t>
            </a:r>
            <a:r>
              <a:rPr lang="en-US" dirty="0"/>
              <a:t>– for collaboration, encouragement, and insights 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internship has been a significant step in our professional growth and technical journey.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181225" y="4311997"/>
            <a:ext cx="8591550" cy="688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11"/>
              </a:lnSpc>
              <a:buNone/>
            </a:pPr>
            <a:endParaRPr lang="en-US" sz="1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1B4DE-D512-7160-ED52-B48B1C762CB3}"/>
              </a:ext>
            </a:extLst>
          </p:cNvPr>
          <p:cNvSpPr txBox="1"/>
          <p:nvPr/>
        </p:nvSpPr>
        <p:spPr>
          <a:xfrm>
            <a:off x="1767944" y="3772320"/>
            <a:ext cx="9418112" cy="73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633"/>
              </a:lnSpc>
              <a:buNone/>
            </a:pPr>
            <a:r>
              <a:rPr lang="en-US" sz="1800" dirty="0">
                <a:solidFill>
                  <a:srgbClr val="212121"/>
                </a:solidFill>
                <a:ea typeface="Poppins" pitchFamily="34" charset="-122"/>
                <a:cs typeface="Poppins" pitchFamily="34" charset="-120"/>
              </a:rPr>
              <a:t>All data, analysis, and insights presented in this report are based on
internal project documentation provided, including: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30213-05DB-2F04-0B1F-0AF7352938AC}"/>
              </a:ext>
            </a:extLst>
          </p:cNvPr>
          <p:cNvSpPr txBox="1"/>
          <p:nvPr/>
        </p:nvSpPr>
        <p:spPr>
          <a:xfrm>
            <a:off x="1767944" y="4718746"/>
            <a:ext cx="617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Kaggle Zomato Dataset</a:t>
            </a:r>
          </a:p>
          <a:p>
            <a:r>
              <a:rPr lang="en-US" dirty="0"/>
              <a:t>Microsoft Power BI Documentation</a:t>
            </a:r>
          </a:p>
          <a:p>
            <a:r>
              <a:rPr lang="en-US" dirty="0"/>
              <a:t>Infosys Springboard Virtual Internship course materials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d12728b3-89be-487c-a0d7-1222f22cd952/2018941483523170304:9a59714e6cddc06dd0f0cad037f74c0c:2:0_page_13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479" y="2743200"/>
            <a:ext cx="2865090" cy="1398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2" y="2400300"/>
            <a:ext cx="1938486" cy="196125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32833" y="466725"/>
            <a:ext cx="3784402" cy="6161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851"/>
              </a:lnSpc>
              <a:buNone/>
            </a:pPr>
            <a:r>
              <a:rPr lang="en-US" sz="3675" b="1" dirty="0">
                <a:solidFill>
                  <a:srgbClr val="118A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75" dirty="0"/>
          </a:p>
        </p:txBody>
      </p:sp>
      <p:sp>
        <p:nvSpPr>
          <p:cNvPr id="6" name="Text 1"/>
          <p:cNvSpPr/>
          <p:nvPr/>
        </p:nvSpPr>
        <p:spPr>
          <a:xfrm>
            <a:off x="2774677" y="5720443"/>
            <a:ext cx="6642646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1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approach transforms business
intelligence into competitive advantage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3575763" y="1901750"/>
            <a:ext cx="6977955" cy="33843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21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Successfully transformed raw transactional data into
comprehensive and interactive visual dashboards</a:t>
            </a:r>
          </a:p>
          <a:p>
            <a:pPr marL="0" indent="0">
              <a:lnSpc>
                <a:spcPts val="2221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• Delivered actionable insights into food trends, customer
preferences, and operational patterns</a:t>
            </a:r>
          </a:p>
          <a:p>
            <a:pPr marL="0" indent="0">
              <a:lnSpc>
                <a:spcPts val="2221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• Enabled deep understanding of customer behavior,
revenue drivers, and market dynamics</a:t>
            </a:r>
            <a:r>
              <a:rPr lang="en-US" sz="165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r>
              <a:rPr lang="en-US" sz="1575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C84E0-8025-ABE1-D5E9-E2D689C9D97C}"/>
              </a:ext>
            </a:extLst>
          </p:cNvPr>
          <p:cNvSpPr/>
          <p:nvPr/>
        </p:nvSpPr>
        <p:spPr>
          <a:xfrm>
            <a:off x="4279634" y="2942624"/>
            <a:ext cx="3632731" cy="4914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870"/>
              </a:lnSpc>
              <a:buNone/>
            </a:pPr>
            <a:r>
              <a:rPr lang="en-US" sz="4500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350497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876</Words>
  <Application>Microsoft Office PowerPoint</Application>
  <PresentationFormat>Widescreen</PresentationFormat>
  <Paragraphs>89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Arial-BoldMT</vt:lpstr>
      <vt:lpstr>ArialMT</vt:lpstr>
      <vt:lpstr>Montserrat</vt:lpstr>
      <vt:lpstr>Noto Sans KR</vt:lpstr>
      <vt:lpstr>Noto Sans SC</vt:lpstr>
      <vt:lpstr>OpenSans-Regular</vt:lpstr>
      <vt:lpstr>Poppins</vt:lpstr>
      <vt:lpstr>Roboto-Regular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Flemin Daniel</cp:lastModifiedBy>
  <cp:revision>7</cp:revision>
  <dcterms:created xsi:type="dcterms:W3CDTF">2026-02-04T07:07:14Z</dcterms:created>
  <dcterms:modified xsi:type="dcterms:W3CDTF">2026-02-19T09:21:20Z</dcterms:modified>
</cp:coreProperties>
</file>