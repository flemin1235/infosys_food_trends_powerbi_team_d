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297" r:id="rId6"/>
    <p:sldId id="298" r:id="rId7"/>
    <p:sldId id="299" r:id="rId8"/>
    <p:sldId id="300" r:id="rId9"/>
    <p:sldId id="301" r:id="rId10"/>
    <p:sldId id="302" r:id="rId11"/>
    <p:sldId id="303" r:id="rId12"/>
    <p:sldId id="304" r:id="rId13"/>
    <p:sldId id="29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DD753757-F2C3-436A-9BBE-1DF818A85465}">
          <p14:sldIdLst>
            <p14:sldId id="25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91"/>
      </p:cViewPr>
      <p:guideLst/>
    </p:cSldViewPr>
  </p:slideViewPr>
  <p:outlineViewPr>
    <p:cViewPr>
      <p:scale>
        <a:sx n="33" d="100"/>
        <a:sy n="33" d="100"/>
      </p:scale>
      <p:origin x="0" y="-576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58" d="100"/>
          <a:sy n="58" d="100"/>
        </p:scale>
        <p:origin x="2371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8190EA-5EEC-4300-B6AE-D9734C6C648E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FF3A6F-DEFA-45E0-9496-BEE7C2C6F3D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7ADD9-2083-264C-A652-8D52D02F7E72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7DC217-DF71-1A49-B3EA-559F1F43B0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008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58864" y="102021"/>
            <a:ext cx="9779183" cy="174441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58865" y="2017467"/>
            <a:ext cx="9779182" cy="3366815"/>
          </a:xfrm>
        </p:spPr>
        <p:txBody>
          <a:bodyPr>
            <a:norm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176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5FBCE6F-2AA9-31FE-8148-33B480735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67EACEC-C2DD-EA42-8504-176673AD1F20}"/>
                </a:ext>
              </a:extLst>
            </p:cNvPr>
            <p:cNvSpPr/>
            <p:nvPr userDrawn="1"/>
          </p:nvSpPr>
          <p:spPr>
            <a:xfrm>
              <a:off x="0" y="0"/>
              <a:ext cx="8025490" cy="6858000"/>
            </a:xfrm>
            <a:custGeom>
              <a:avLst/>
              <a:gdLst>
                <a:gd name="connsiteX0" fmla="*/ 0 w 8025490"/>
                <a:gd name="connsiteY0" fmla="*/ 0 h 6858000"/>
                <a:gd name="connsiteX1" fmla="*/ 4596490 w 8025490"/>
                <a:gd name="connsiteY1" fmla="*/ 0 h 6858000"/>
                <a:gd name="connsiteX2" fmla="*/ 8025490 w 8025490"/>
                <a:gd name="connsiteY2" fmla="*/ 3429000 h 6858000"/>
                <a:gd name="connsiteX3" fmla="*/ 4596490 w 8025490"/>
                <a:gd name="connsiteY3" fmla="*/ 6858000 h 6858000"/>
                <a:gd name="connsiteX4" fmla="*/ 0 w 8025490"/>
                <a:gd name="connsiteY4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25490" h="6858000">
                  <a:moveTo>
                    <a:pt x="0" y="0"/>
                  </a:moveTo>
                  <a:lnTo>
                    <a:pt x="4596490" y="0"/>
                  </a:lnTo>
                  <a:cubicBezTo>
                    <a:pt x="6490274" y="0"/>
                    <a:pt x="8025490" y="1535216"/>
                    <a:pt x="8025490" y="3429000"/>
                  </a:cubicBezTo>
                  <a:cubicBezTo>
                    <a:pt x="8025490" y="5322784"/>
                    <a:pt x="6490274" y="6858000"/>
                    <a:pt x="4596490" y="6858000"/>
                  </a:cubicBezTo>
                  <a:lnTo>
                    <a:pt x="0" y="685800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9843C7E-5704-7A46-8974-F3BFA42E7310}"/>
                </a:ext>
              </a:extLst>
            </p:cNvPr>
            <p:cNvGrpSpPr/>
            <p:nvPr userDrawn="1"/>
          </p:nvGrpSpPr>
          <p:grpSpPr>
            <a:xfrm rot="16200000">
              <a:off x="8286528" y="2207195"/>
              <a:ext cx="3032351" cy="2443610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B179973-08D2-EF40-B516-35E75E906394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6C811FF3-E48A-194D-8022-65F8C3A17449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177553"/>
            <a:ext cx="6245912" cy="3269447"/>
          </a:xfrm>
        </p:spPr>
        <p:txBody>
          <a:bodyPr bIns="0" anchor="b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4" y="3492896"/>
            <a:ext cx="6245912" cy="912850"/>
          </a:xfrm>
        </p:spPr>
        <p:txBody>
          <a:bodyPr anchor="ctr" anchorCtr="0">
            <a:no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986529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4DB56B5-5DD7-95E3-52B2-EDC4B3F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601200" cy="1653371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7843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A0E8D4A-B13C-C7EE-5E27-278124A12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1999" cy="6857999"/>
            <a:chOff x="1" y="1"/>
            <a:chExt cx="12191999" cy="685799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rot="5400000" flipH="1">
              <a:off x="1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69008"/>
            <a:ext cx="9779183" cy="1706563"/>
          </a:xfrm>
        </p:spPr>
        <p:txBody>
          <a:bodyPr anchor="b">
            <a:noAutofit/>
          </a:bodyPr>
          <a:lstStyle>
            <a:lvl1pPr>
              <a:defRPr sz="4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26B296A-EB6A-9BE9-E813-B15C46524F4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530352" indent="-530352">
              <a:spcBef>
                <a:spcPts val="1000"/>
              </a:spcBef>
              <a:buFont typeface="+mj-lt"/>
              <a:buAutoNum type="arabicPeriod"/>
              <a:defRPr sz="2000">
                <a:solidFill>
                  <a:schemeClr val="bg1"/>
                </a:solidFill>
                <a:latin typeface="+mn-lt"/>
              </a:defRPr>
            </a:lvl1pPr>
            <a:lvl2pPr marL="1097280" indent="-530352">
              <a:spcBef>
                <a:spcPts val="1000"/>
              </a:spcBef>
              <a:buFont typeface="+mj-lt"/>
              <a:buAutoNum type="alphaLcPeriod"/>
              <a:defRPr sz="2000">
                <a:solidFill>
                  <a:schemeClr val="bg1"/>
                </a:solidFill>
                <a:latin typeface="+mn-lt"/>
              </a:defRPr>
            </a:lvl2pPr>
            <a:lvl3pPr marL="1645920" indent="-530352">
              <a:spcBef>
                <a:spcPts val="1000"/>
              </a:spcBef>
              <a:buFont typeface="+mj-lt"/>
              <a:buAutoNum type="arabicParenR"/>
              <a:defRPr sz="2000">
                <a:solidFill>
                  <a:schemeClr val="bg1"/>
                </a:solidFill>
                <a:latin typeface="+mn-lt"/>
              </a:defRPr>
            </a:lvl3pPr>
            <a:lvl4pPr marL="1920240" indent="-530352">
              <a:spcBef>
                <a:spcPts val="1000"/>
              </a:spcBef>
              <a:buFont typeface="+mj-lt"/>
              <a:buAutoNum type="alphaLcParenR"/>
              <a:defRPr sz="2000">
                <a:solidFill>
                  <a:schemeClr val="bg1"/>
                </a:solidFill>
                <a:latin typeface="+mn-lt"/>
              </a:defRPr>
            </a:lvl4pPr>
            <a:lvl5pPr marL="2560320" indent="-514350">
              <a:spcBef>
                <a:spcPts val="1000"/>
              </a:spcBef>
              <a:buFont typeface="+mj-lt"/>
              <a:buAutoNum type="romanLcPeriod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435B7D5-E7F8-1267-8942-3C97BE836B9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426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hart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779183" cy="1570038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84832"/>
            <a:ext cx="9779182" cy="3366813"/>
          </a:xfrm>
        </p:spPr>
        <p:txBody>
          <a:bodyPr>
            <a:no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0945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78AD52EA-B01E-8D38-D87A-BF7EB5B58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192001" cy="6864796"/>
            <a:chOff x="0" y="-1"/>
            <a:chExt cx="12192001" cy="686479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AC79249-FDC0-364D-A734-AE1DE1605D28}"/>
                </a:ext>
              </a:extLst>
            </p:cNvPr>
            <p:cNvSpPr/>
            <p:nvPr userDrawn="1"/>
          </p:nvSpPr>
          <p:spPr>
            <a:xfrm>
              <a:off x="8264426" y="0"/>
              <a:ext cx="3927574" cy="685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3685939"/>
              <a:ext cx="3927573" cy="3178856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9563C76-BC00-DE47-88F5-C24D3CE3325A}"/>
                </a:ext>
              </a:extLst>
            </p:cNvPr>
            <p:cNvSpPr/>
            <p:nvPr userDrawn="1"/>
          </p:nvSpPr>
          <p:spPr>
            <a:xfrm>
              <a:off x="10228214" y="-1"/>
              <a:ext cx="1963787" cy="3178856"/>
            </a:xfrm>
            <a:custGeom>
              <a:avLst/>
              <a:gdLst>
                <a:gd name="connsiteX0" fmla="*/ 0 w 1963787"/>
                <a:gd name="connsiteY0" fmla="*/ 0 h 3178856"/>
                <a:gd name="connsiteX1" fmla="*/ 1963787 w 1963787"/>
                <a:gd name="connsiteY1" fmla="*/ 0 h 3178856"/>
                <a:gd name="connsiteX2" fmla="*/ 1963787 w 1963787"/>
                <a:gd name="connsiteY2" fmla="*/ 1967129 h 3178856"/>
                <a:gd name="connsiteX3" fmla="*/ 1963787 w 1963787"/>
                <a:gd name="connsiteY3" fmla="*/ 2349671 h 3178856"/>
                <a:gd name="connsiteX4" fmla="*/ 1963787 w 1963787"/>
                <a:gd name="connsiteY4" fmla="*/ 3178856 h 3178856"/>
                <a:gd name="connsiteX5" fmla="*/ 1963753 w 1963787"/>
                <a:gd name="connsiteY5" fmla="*/ 3178856 h 3178856"/>
                <a:gd name="connsiteX6" fmla="*/ 1763002 w 1963787"/>
                <a:gd name="connsiteY6" fmla="*/ 3168629 h 3178856"/>
                <a:gd name="connsiteX7" fmla="*/ 0 w 1963787"/>
                <a:gd name="connsiteY7" fmla="*/ 1197921 h 3178856"/>
                <a:gd name="connsiteX8" fmla="*/ 0 w 1963787"/>
                <a:gd name="connsiteY8" fmla="*/ 1039961 h 3178856"/>
                <a:gd name="connsiteX9" fmla="*/ 0 w 1963787"/>
                <a:gd name="connsiteY9" fmla="*/ 0 h 3178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3787" h="3178856">
                  <a:moveTo>
                    <a:pt x="0" y="0"/>
                  </a:moveTo>
                  <a:lnTo>
                    <a:pt x="1963787" y="0"/>
                  </a:lnTo>
                  <a:lnTo>
                    <a:pt x="1963787" y="1967129"/>
                  </a:lnTo>
                  <a:lnTo>
                    <a:pt x="1963787" y="2349671"/>
                  </a:lnTo>
                  <a:lnTo>
                    <a:pt x="1963787" y="3178856"/>
                  </a:lnTo>
                  <a:lnTo>
                    <a:pt x="1963753" y="3178856"/>
                  </a:lnTo>
                  <a:lnTo>
                    <a:pt x="1763002" y="3168629"/>
                  </a:lnTo>
                  <a:cubicBezTo>
                    <a:pt x="772749" y="3067186"/>
                    <a:pt x="0" y="2223585"/>
                    <a:pt x="0" y="1197921"/>
                  </a:cubicBezTo>
                  <a:lnTo>
                    <a:pt x="0" y="1039961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252549"/>
            <a:ext cx="6220278" cy="3262811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3" y="3685939"/>
            <a:ext cx="6220277" cy="2919512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28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544706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59" r:id="rId4"/>
    <p:sldLayoutId id="2147483668" r:id="rId5"/>
    <p:sldLayoutId id="2147483669" r:id="rId6"/>
    <p:sldLayoutId id="2147483661" r:id="rId7"/>
    <p:sldLayoutId id="2147483666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9870" y="1497392"/>
            <a:ext cx="9779183" cy="1305662"/>
          </a:xfrm>
        </p:spPr>
        <p:txBody>
          <a:bodyPr/>
          <a:lstStyle/>
          <a:p>
            <a:pPr algn="ctr"/>
            <a:r>
              <a:rPr lang="en-US" dirty="0"/>
              <a:t>Food Trend Understanding </a:t>
            </a:r>
            <a:br>
              <a:rPr lang="en-US" dirty="0"/>
            </a:br>
            <a:r>
              <a:rPr lang="en-US" dirty="0"/>
              <a:t>Customer Preferences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AE094-FCA5-7C4F-F371-84A4FC3CA0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7522" y="3026308"/>
            <a:ext cx="9596955" cy="3366815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US" b="1" dirty="0"/>
              <a:t>Mentor: </a:t>
            </a:r>
            <a:r>
              <a:rPr lang="en-US" dirty="0"/>
              <a:t>Ms. Nityasree	</a:t>
            </a:r>
          </a:p>
          <a:p>
            <a:pPr algn="just"/>
            <a:r>
              <a:rPr lang="en-US" b="1" dirty="0"/>
              <a:t>Team Members: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Vasanthi Kakkera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Flemin P Daniel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M S Akshaya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Khadeeja Thanseetha V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Krothagorla Sathwik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Lohani Ahmed Khan</a:t>
            </a:r>
            <a:endParaRPr lang="en-IN" sz="24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2E47030-DB60-3C0D-FFC1-18332BBF05E1}"/>
              </a:ext>
            </a:extLst>
          </p:cNvPr>
          <p:cNvSpPr txBox="1">
            <a:spLocks/>
          </p:cNvSpPr>
          <p:nvPr/>
        </p:nvSpPr>
        <p:spPr>
          <a:xfrm>
            <a:off x="1099870" y="191730"/>
            <a:ext cx="9779183" cy="130566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dirty="0">
                <a:solidFill>
                  <a:schemeClr val="accent1"/>
                </a:solidFill>
              </a:rPr>
              <a:t>Infosys Springboard Data Visualization Domain Internship Group - 1 Batch - 11</a:t>
            </a:r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02F5D-D47B-EFE5-C25C-83DAF0F98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 &amp; Project Description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AB015-C730-C819-7EC6-B6CF1079C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4176856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/>
              <a:t>Objective:</a:t>
            </a:r>
            <a:r>
              <a:rPr lang="en-US" sz="2000" dirty="0"/>
              <a:t> To design an interactive multi-page </a:t>
            </a:r>
            <a:r>
              <a:rPr lang="en-US" sz="2000" dirty="0" err="1"/>
              <a:t>PowerBI</a:t>
            </a:r>
            <a:r>
              <a:rPr lang="en-US" sz="2000" dirty="0"/>
              <a:t> dashboard that provides actionable insights into restaurant performance, customer </a:t>
            </a:r>
            <a:r>
              <a:rPr lang="en-US" sz="2000" dirty="0" err="1"/>
              <a:t>behaviour</a:t>
            </a:r>
            <a:r>
              <a:rPr lang="en-US" sz="2000" dirty="0"/>
              <a:t>, and ordering trends.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Description:</a:t>
            </a:r>
            <a:r>
              <a:rPr lang="en-US" sz="2000" dirty="0"/>
              <a:t> This project analyses a vast dataset of food orders to help stakeholders identify high-performing cities, popular cuisines, and customer spending patterns. The dashboard is divided into </a:t>
            </a:r>
            <a:r>
              <a:rPr lang="en-US" sz="2000" dirty="0" err="1"/>
              <a:t>specialised</a:t>
            </a:r>
            <a:r>
              <a:rPr lang="en-US" sz="2000" dirty="0"/>
              <a:t> views: Business Overview, Customer Analysis, Restaurant Performance, and Menu Trends.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998168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36B37-8A55-FFA4-E20F-29BC766DC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Project Execution Milestones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5FCD5-E1EF-C578-A381-515E39508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4383333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IN" sz="2000" b="1" dirty="0"/>
              <a:t>Milestone 1: </a:t>
            </a:r>
            <a:r>
              <a:rPr lang="en-IN" sz="2000" dirty="0"/>
              <a:t>Data Infrastructure: Data cleaning, ETL processes, and schema transformation (Data Transformation pages).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Milestone 2: </a:t>
            </a:r>
            <a:r>
              <a:rPr lang="en-IN" sz="2000" dirty="0"/>
              <a:t>Core Metrics: Development of the "Business Snapshot," "Customer Analysis," and "Restaurant Performance" views.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Milestone 3: </a:t>
            </a:r>
            <a:r>
              <a:rPr lang="en-IN" sz="2000" dirty="0"/>
              <a:t>Product Analysis: Deep dive into menu items, pricing, and category performance.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Milestone 4: </a:t>
            </a:r>
            <a:r>
              <a:rPr lang="en-IN" sz="2000" dirty="0"/>
              <a:t>Strategic Insights: Operational insights, demographics, and customer loyalty modelling.</a:t>
            </a:r>
          </a:p>
        </p:txBody>
      </p:sp>
    </p:spTree>
    <p:extLst>
      <p:ext uri="{BB962C8B-B14F-4D97-AF65-F5344CB8AC3E}">
        <p14:creationId xmlns:p14="http://schemas.microsoft.com/office/powerpoint/2010/main" val="2241078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E83D8-EED5-10C1-116E-E223173C0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 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105DD-1A60-0ADC-3C11-5E521FD86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066683" cy="4314507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IN" sz="2000" b="1" dirty="0"/>
              <a:t>Source: </a:t>
            </a:r>
            <a:r>
              <a:rPr lang="en-IN" sz="2000" dirty="0"/>
              <a:t>Kaggle (Public Food Industry Dataset).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Volume: </a:t>
            </a:r>
            <a:r>
              <a:rPr lang="en-IN" sz="2000" dirty="0"/>
              <a:t>1.47 Lakh Total Orders across 12,117 Restaurants.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Revenue Analysed: </a:t>
            </a:r>
            <a:r>
              <a:rPr lang="en-IN" sz="2000" dirty="0"/>
              <a:t>Approximately ₹96.43 Crores.</a:t>
            </a:r>
          </a:p>
          <a:p>
            <a:pPr>
              <a:lnSpc>
                <a:spcPct val="100000"/>
              </a:lnSpc>
            </a:pPr>
            <a:r>
              <a:rPr lang="en-IN" sz="2000" b="1" dirty="0"/>
              <a:t>Key Parameters: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Order IDs,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 Restaurant ratings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 Cuisine types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 User demographics (Age/Gender)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Geographic data</a:t>
            </a:r>
          </a:p>
        </p:txBody>
      </p:sp>
    </p:spTree>
    <p:extLst>
      <p:ext uri="{BB962C8B-B14F-4D97-AF65-F5344CB8AC3E}">
        <p14:creationId xmlns:p14="http://schemas.microsoft.com/office/powerpoint/2010/main" val="57139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F29F-D24C-60BD-410A-567A2EE71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Challenges Faced &amp; Resolutions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336F1-5C15-EDCE-49DB-9E4B6882C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4344004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en-US" sz="2000" b="1" dirty="0"/>
              <a:t>Challenge 1: Data Inconsistency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 Resolution: </a:t>
            </a:r>
            <a:r>
              <a:rPr lang="en-US" sz="2000" dirty="0"/>
              <a:t>Used Power Query to handle null values in the "Veg/Non-Veg" fields and normalized currency formats.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Challenge 2: Visual Complexity.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Resolution: </a:t>
            </a:r>
            <a:r>
              <a:rPr lang="en-US" sz="2000" dirty="0"/>
              <a:t>Implemented Slicers (City, Cuisine, Marital Status) and Drill-throughs to keep the UI clean while allowing deep-dive analysis.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Challenge 3: Volatile Order Data.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Resolution: </a:t>
            </a:r>
            <a:r>
              <a:rPr lang="en-US" sz="2000" dirty="0"/>
              <a:t>Created an "Order Volatility Index" (Page 5) to visualize seasonal fluctuations and peak periods.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327672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C60E5-2BBB-F649-B35D-CF3FDB503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863" y="441438"/>
            <a:ext cx="9779183" cy="892707"/>
          </a:xfrm>
        </p:spPr>
        <p:txBody>
          <a:bodyPr/>
          <a:lstStyle/>
          <a:p>
            <a:r>
              <a:rPr lang="en-IN" dirty="0"/>
              <a:t> Key Insights: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97F88-EC7B-42E2-FA5D-D7D9DC6FC5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3" y="1508238"/>
            <a:ext cx="9779182" cy="5114802"/>
          </a:xfrm>
        </p:spPr>
        <p:txBody>
          <a:bodyPr>
            <a:noAutofit/>
          </a:bodyPr>
          <a:lstStyle/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Top Revenue Driver: </a:t>
            </a:r>
            <a:r>
              <a:rPr lang="en-US" sz="2000" dirty="0"/>
              <a:t>Delhi and Bangalore lead the market, with Delhi contributing over ₹105M.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Customer Persona: </a:t>
            </a:r>
            <a:r>
              <a:rPr lang="en-US" sz="2000" dirty="0"/>
              <a:t>The average customer is ~24 years old with a family size of 3, showing that Gen Z and young millennials are the primary market.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Peak Activity: </a:t>
            </a:r>
            <a:r>
              <a:rPr lang="en-US" sz="2000" dirty="0"/>
              <a:t>Friday is the highest-grossing day (34.5K orders), while Sunday surprisingly shows lower volume in this specific dataset.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Menu "Hero" Items: </a:t>
            </a:r>
            <a:r>
              <a:rPr lang="en-US" sz="2000" dirty="0"/>
              <a:t>While North Indian and Chinese are the leading cuisines, specific high-frequency items like Veg Pakora drive consistent volume, highlighting a preference for affordable, "snackable" comfort food.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Growth Trajectory: </a:t>
            </a:r>
            <a:r>
              <a:rPr lang="en-US" sz="2000" dirty="0"/>
              <a:t>Data from 2018–2020 shows a transition from rapid expansion to market stabilization, suggesting that future revenue growth will likely come from increasing order frequency among existing loyal users.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979963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FE8A4-6D11-AC99-DE92-BFD06C77F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 Feature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3C739-00B9-7C25-381C-7F1C98075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4383333"/>
          </a:xfrm>
        </p:spPr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Product Trends: </a:t>
            </a:r>
            <a:r>
              <a:rPr lang="en-US" sz="2000" dirty="0"/>
              <a:t>"Veg Pakora" emerged as the most popular item, while "North Indian" and "Chinese" are the dominant cuisines by volume.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Feature Enhancements: </a:t>
            </a:r>
            <a:r>
              <a:rPr lang="en-US" sz="2000" dirty="0"/>
              <a:t>Advanced DAX: Used to calculate "Average Revenue per Day" and "Order Volatility.“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Interactive Mapping: </a:t>
            </a:r>
            <a:r>
              <a:rPr lang="en-US" sz="2000" dirty="0"/>
              <a:t>Integrated a global map to track restaurant density and ratings.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Loyalty Prediction: </a:t>
            </a:r>
            <a:r>
              <a:rPr lang="en-US" sz="2000" dirty="0"/>
              <a:t>Added a "Cuisine Ranking Over Time" chart to track shifting consumer tastes.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175880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86238-19D1-4D69-B432-8FF874EDF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A8404-F7BB-7BF3-7618-78A30B056D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The dashboard successfully identifies that revenue is heavily concentrated in Tier 1 cities.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Businesses should focus marketing efforts on the 18-30 age demographic and optimize supply chains for high-volume weekends.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The transition from 2018 to 2020 shows a stabilizing trend in order frequency, suggesting a maturing market.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022749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D8E94-C278-BD27-BD0C-508D04F91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Acknowledgments &amp; 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2A982-220D-E2ED-30C1-B67AA0165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4" y="2115790"/>
            <a:ext cx="9440310" cy="3366815"/>
          </a:xfrm>
        </p:spPr>
        <p:txBody>
          <a:bodyPr>
            <a:normAutofit fontScale="85000" lnSpcReduction="20000"/>
          </a:bodyPr>
          <a:lstStyle/>
          <a:p>
            <a:r>
              <a:rPr lang="en-US" sz="2000" dirty="0"/>
              <a:t>We would like to express our heartfelt gratitude to:</a:t>
            </a:r>
          </a:p>
          <a:p>
            <a:r>
              <a:rPr lang="en-US" sz="2000" dirty="0"/>
              <a:t>Infosys Springboard Team– for organizing this valuable internship opportunity.</a:t>
            </a:r>
          </a:p>
          <a:p>
            <a:r>
              <a:rPr lang="en-US" sz="2000" dirty="0"/>
              <a:t>Our Mentor– for her continuous support and feedback.</a:t>
            </a:r>
          </a:p>
          <a:p>
            <a:r>
              <a:rPr lang="en-US" sz="2000" dirty="0"/>
              <a:t>My Teammates – for collaboration, encouragement, and insights 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This internship has been a significant step in our professional growth and technical journey.</a:t>
            </a:r>
            <a:br>
              <a:rPr lang="en-US" sz="2000" dirty="0"/>
            </a:br>
            <a:endParaRPr lang="en-US" sz="2000" dirty="0"/>
          </a:p>
          <a:p>
            <a:br>
              <a:rPr lang="en-US" sz="2000" dirty="0"/>
            </a:br>
            <a:r>
              <a:rPr lang="en-US" sz="2000" dirty="0"/>
              <a:t>References:</a:t>
            </a:r>
          </a:p>
          <a:p>
            <a:r>
              <a:rPr lang="en-US" sz="2000" dirty="0"/>
              <a:t>Kaggle Zomato Dataset</a:t>
            </a:r>
          </a:p>
          <a:p>
            <a:r>
              <a:rPr lang="en-US" sz="2000" dirty="0"/>
              <a:t>Microsoft Power BI Documentation</a:t>
            </a:r>
          </a:p>
          <a:p>
            <a:r>
              <a:rPr lang="en-US" sz="2000" dirty="0"/>
              <a:t>Infosys Springboard Virtual Internship course materials</a:t>
            </a:r>
            <a:endParaRPr lang="en-US" sz="2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68882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1C753FD-96EC-101A-B8A4-5F69A189B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6423" y="753994"/>
            <a:ext cx="6220278" cy="3262811"/>
          </a:xfrm>
        </p:spPr>
        <p:txBody>
          <a:bodyPr/>
          <a:lstStyle/>
          <a:p>
            <a:r>
              <a:rPr lang="en-US" sz="72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60967352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Universal Color Bloc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68FF"/>
      </a:accent1>
      <a:accent2>
        <a:srgbClr val="DAE5EF"/>
      </a:accent2>
      <a:accent3>
        <a:srgbClr val="637183"/>
      </a:accent3>
      <a:accent4>
        <a:srgbClr val="434E5E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75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331398_Win32_SL_V13" id="{C59E605D-C281-4A06-BDA0-E97A35AC3AA8}" vid="{25D1D206-DA25-4050-926A-BD6D3A1B50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1E98C35-9ECE-4425-BCBA-00E118C705C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5AA6A711-2C3F-4EC0-B88B-62D7408511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5A8381C-73EB-48EA-B45F-7B7C8C7DF40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Universal presentation</Template>
  <TotalTime>183</TotalTime>
  <Words>706</Words>
  <Application>Microsoft Office PowerPoint</Application>
  <PresentationFormat>Widescreen</PresentationFormat>
  <Paragraphs>62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Tenorite</vt:lpstr>
      <vt:lpstr>Custom</vt:lpstr>
      <vt:lpstr>Food Trend Understanding  Customer Preferences</vt:lpstr>
      <vt:lpstr>Objectives &amp; Project Description</vt:lpstr>
      <vt:lpstr>Project Execution Milestones</vt:lpstr>
      <vt:lpstr> Dataset Overview</vt:lpstr>
      <vt:lpstr>Challenges Faced &amp; Resolutions</vt:lpstr>
      <vt:lpstr> Key Insights:</vt:lpstr>
      <vt:lpstr> Feature Enhancements</vt:lpstr>
      <vt:lpstr>Conclusion</vt:lpstr>
      <vt:lpstr>Acknowledgments &amp; 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vasanthi kakkera</dc:creator>
  <cp:lastModifiedBy>Flemin Daniel</cp:lastModifiedBy>
  <cp:revision>6</cp:revision>
  <dcterms:created xsi:type="dcterms:W3CDTF">2026-02-07T12:51:57Z</dcterms:created>
  <dcterms:modified xsi:type="dcterms:W3CDTF">2026-02-16T14:57:10Z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