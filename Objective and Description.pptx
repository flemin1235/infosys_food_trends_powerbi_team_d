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1" r:id="rId2"/>
    <p:sldId id="256" r:id="rId3"/>
    <p:sldId id="265" r:id="rId4"/>
    <p:sldId id="275" r:id="rId5"/>
    <p:sldId id="258" r:id="rId6"/>
    <p:sldId id="260" r:id="rId7"/>
    <p:sldId id="273" r:id="rId8"/>
    <p:sldId id="274" r:id="rId9"/>
    <p:sldId id="266" r:id="rId10"/>
    <p:sldId id="267" r:id="rId11"/>
    <p:sldId id="270" r:id="rId12"/>
    <p:sldId id="268" r:id="rId13"/>
    <p:sldId id="269" r:id="rId14"/>
    <p:sldId id="272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532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9B07B-2A46-AC59-FB2A-4335808AD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DD3AFB-C32B-05F6-BB14-A1DEDC0A5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DD7A67-CC94-51B8-A199-90EAB989B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49E4E-E8A5-AC5D-D324-CC47051DC1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213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D57DD-84E2-2740-3DC5-38ED1C889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8BA462-8C52-6EB7-AA5F-277A6B89C2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318D87-2797-9B6A-89C9-A8E77710D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D6BC4-B641-FC5D-7BE0-4E5EC9E805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475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44FDF-0610-3F84-2740-534B0C831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53A316-4B6C-0FAC-3024-EC49AE0B80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229351-751C-D3D4-DEF4-FB3B05BAD9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99349-E0CC-1514-E0D5-B270E10558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4194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324B4-4679-2DF5-2EDD-17EE3278D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D473A-2348-2A52-B39B-295CE89148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047367-9285-4F57-FF7B-DD9C5562C9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38094-624D-4D59-6398-39CC9285D6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812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95A14-25D5-0F9C-BF64-6E10FA461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41483523170304:9a59714e6cddc06dd0f0cad037f74c0c:2:0/7d6f1fd7-4ef5-4ec9-ba51-4f1960c10018/2018941483523170304:9a59714e6cddc06dd0f0cad037f74c0c:2:0_page_15_inp_img_lama_refine.png">
            <a:extLst>
              <a:ext uri="{FF2B5EF4-FFF2-40B4-BE49-F238E27FC236}">
                <a16:creationId xmlns:a16="http://schemas.microsoft.com/office/drawing/2014/main" id="{F4276F94-EE1B-01E1-EA0D-ED9423C53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3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B4A491E-C6AB-1F08-6B4D-050485D81862}"/>
              </a:ext>
            </a:extLst>
          </p:cNvPr>
          <p:cNvSpPr/>
          <p:nvPr/>
        </p:nvSpPr>
        <p:spPr>
          <a:xfrm>
            <a:off x="3103156" y="638175"/>
            <a:ext cx="6424732" cy="5554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373"/>
              </a:lnSpc>
              <a:buNone/>
            </a:pPr>
            <a:r>
              <a:rPr lang="en-US" sz="3675" b="1" dirty="0">
                <a:solidFill>
                  <a:srgbClr val="0083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Food Trends Understanding Customer Preferences</a:t>
            </a:r>
            <a:endParaRPr lang="en-US" sz="3675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E9F397D-7F32-A6F4-7C10-0126793F1783}"/>
              </a:ext>
            </a:extLst>
          </p:cNvPr>
          <p:cNvSpPr/>
          <p:nvPr/>
        </p:nvSpPr>
        <p:spPr>
          <a:xfrm>
            <a:off x="1809750" y="1581150"/>
            <a:ext cx="9408765" cy="71258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806"/>
              </a:lnSpc>
              <a:buNone/>
            </a:pPr>
            <a:endParaRPr lang="en-US" sz="2175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9BB6E6B-625C-44EA-E1DF-6FFAFE64D3E1}"/>
              </a:ext>
            </a:extLst>
          </p:cNvPr>
          <p:cNvSpPr/>
          <p:nvPr/>
        </p:nvSpPr>
        <p:spPr>
          <a:xfrm>
            <a:off x="3451454" y="2762312"/>
            <a:ext cx="6765565" cy="20654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11"/>
              </a:lnSpc>
              <a:buNone/>
            </a:pPr>
            <a:r>
              <a:rPr lang="en-US" sz="2800" b="1" dirty="0">
                <a:solidFill>
                  <a:schemeClr val="accent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Infosys Springboard Internship Batch 11</a:t>
            </a:r>
          </a:p>
          <a:p>
            <a:pPr marL="0" indent="0">
              <a:lnSpc>
                <a:spcPts val="2711"/>
              </a:lnSpc>
              <a:buNone/>
            </a:pPr>
            <a:r>
              <a:rPr lang="en-US" sz="2800" b="1" dirty="0">
                <a:solidFill>
                  <a:schemeClr val="accent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 Visualization Domain</a:t>
            </a:r>
            <a:endParaRPr lang="en-US" sz="2800" b="1" dirty="0">
              <a:solidFill>
                <a:schemeClr val="accent1"/>
              </a:solidFill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EAD2A7D-4C82-FAB3-A3B2-6BBE11CAAA56}"/>
              </a:ext>
            </a:extLst>
          </p:cNvPr>
          <p:cNvSpPr/>
          <p:nvPr/>
        </p:nvSpPr>
        <p:spPr>
          <a:xfrm>
            <a:off x="5232113" y="4321120"/>
            <a:ext cx="8591550" cy="6884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11"/>
              </a:lnSpc>
              <a:buNone/>
            </a:pPr>
            <a:r>
              <a:rPr lang="en-US" sz="1950" i="1" dirty="0">
                <a:solidFill>
                  <a:srgbClr val="2C2C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Presented by :</a:t>
            </a:r>
          </a:p>
          <a:p>
            <a:pPr marL="0" indent="0" algn="ctr">
              <a:lnSpc>
                <a:spcPts val="2711"/>
              </a:lnSpc>
              <a:buNone/>
            </a:pPr>
            <a:r>
              <a:rPr lang="en-US" sz="1950" b="1" i="1" dirty="0">
                <a:solidFill>
                  <a:srgbClr val="2C2C2C"/>
                </a:solidFill>
                <a:latin typeface="Noto Sans SC" pitchFamily="34" charset="0"/>
                <a:ea typeface="Noto Sans SC" pitchFamily="34" charset="-122"/>
              </a:rPr>
              <a:t>Flemin P Daniel</a:t>
            </a:r>
          </a:p>
          <a:p>
            <a:pPr marL="0" indent="0" algn="ctr">
              <a:lnSpc>
                <a:spcPts val="2711"/>
              </a:lnSpc>
              <a:buNone/>
            </a:pPr>
            <a:r>
              <a:rPr lang="en-US" sz="1950" i="1" dirty="0">
                <a:solidFill>
                  <a:srgbClr val="2C2C2C"/>
                </a:solidFill>
                <a:latin typeface="Noto Sans SC" pitchFamily="34" charset="0"/>
                <a:ea typeface="Noto Sans SC" pitchFamily="34" charset="-122"/>
              </a:rPr>
              <a:t>Team D</a:t>
            </a:r>
            <a:endParaRPr lang="en-US" sz="19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4F833C-31F5-B859-9107-0CBA46D6DA45}"/>
              </a:ext>
            </a:extLst>
          </p:cNvPr>
          <p:cNvSpPr txBox="1"/>
          <p:nvPr/>
        </p:nvSpPr>
        <p:spPr>
          <a:xfrm>
            <a:off x="1809749" y="4289718"/>
            <a:ext cx="36953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Mentor:</a:t>
            </a:r>
          </a:p>
          <a:p>
            <a:r>
              <a:rPr lang="en-US" sz="2000" b="1" dirty="0"/>
              <a:t>Ms. Nityasree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056634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41483523170304:9a59714e6cddc06dd0f0cad037f74c0c:0:0/903d14d3-6cc6-4f10-ae41-663a1262e8f9/2018941483523170304:9a59714e6cddc06dd0f0cad037f74c0c:0:0_page_1_inp_img_lama_re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06325" y="638175"/>
            <a:ext cx="7757398" cy="5658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455"/>
              </a:lnSpc>
              <a:buNone/>
            </a:pPr>
            <a:r>
              <a:rPr lang="en-US" sz="3375" b="1" dirty="0">
                <a:solidFill>
                  <a:srgbClr val="118A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Objective and Project Description</a:t>
            </a:r>
            <a:endParaRPr lang="en-US" sz="3375" dirty="0"/>
          </a:p>
        </p:txBody>
      </p:sp>
      <p:sp>
        <p:nvSpPr>
          <p:cNvPr id="4" name="Text 1"/>
          <p:cNvSpPr/>
          <p:nvPr/>
        </p:nvSpPr>
        <p:spPr>
          <a:xfrm>
            <a:off x="962025" y="1866316"/>
            <a:ext cx="7522815" cy="6090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398"/>
              </a:lnSpc>
              <a:buNone/>
            </a:pPr>
            <a:r>
              <a:rPr lang="en-US" dirty="0">
                <a:solidFill>
                  <a:srgbClr val="00000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• Leverage Power BI to analyze transactional and customer
feedback data in the food and beverage industry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962025" y="2647366"/>
            <a:ext cx="7376071" cy="6354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02"/>
              </a:lnSpc>
              <a:buNone/>
            </a:pPr>
            <a:r>
              <a:rPr lang="en-US" dirty="0">
                <a:solidFill>
                  <a:srgbClr val="00000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• Enable data-driven decision-making to address evolving
customer preferences and operational inefficiencies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962024" y="4445150"/>
            <a:ext cx="7103715" cy="6619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606"/>
              </a:lnSpc>
              <a:buNone/>
            </a:pPr>
            <a:r>
              <a:rPr lang="en-US" dirty="0">
                <a:solidFill>
                  <a:srgbClr val="00000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• Identify emerging food trends and optimize menu
planning based on demand and revenue performance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62025" y="4505714"/>
            <a:ext cx="7103715" cy="6090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398"/>
              </a:lnSpc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962025" y="5286764"/>
            <a:ext cx="7208490" cy="6354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02"/>
              </a:lnSpc>
              <a:buNone/>
            </a:pPr>
            <a:r>
              <a:rPr lang="en-US" dirty="0">
                <a:solidFill>
                  <a:srgbClr val="00000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• Analyze customer demographics, ordering behavior,
pricing sensitivity, and loyalty patterns across key cities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61D139-CDAB-6D70-E2DD-F3A3959FD8E4}"/>
              </a:ext>
            </a:extLst>
          </p:cNvPr>
          <p:cNvSpPr txBox="1"/>
          <p:nvPr/>
        </p:nvSpPr>
        <p:spPr>
          <a:xfrm>
            <a:off x="830424" y="1400564"/>
            <a:ext cx="3097764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/>
              <a:t>Objective</a:t>
            </a:r>
            <a:endParaRPr lang="en-IN" sz="19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B556D7-AAC4-B7B0-E35F-AD75EE3F5889}"/>
              </a:ext>
            </a:extLst>
          </p:cNvPr>
          <p:cNvSpPr txBox="1"/>
          <p:nvPr/>
        </p:nvSpPr>
        <p:spPr>
          <a:xfrm>
            <a:off x="830424" y="4044393"/>
            <a:ext cx="3097764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/>
              <a:t>Project Description</a:t>
            </a:r>
            <a:endParaRPr lang="en-IN" sz="19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41483523170304:9a59714e6cddc06dd0f0cad037f74c0c:1:0/34b5bf93-50d3-423a-8708-c1e08b350616/2018941483523170304:9a59714e6cddc06dd0f0cad037f74c0c:1:0_page_10_inp_img_lama_re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177" y="1536055"/>
            <a:ext cx="10485090" cy="270882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772957" y="304800"/>
            <a:ext cx="5016520" cy="4012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159"/>
              </a:lnSpc>
              <a:buNone/>
            </a:pPr>
            <a:r>
              <a:rPr lang="en-US" sz="2925" b="1" dirty="0">
                <a:solidFill>
                  <a:srgbClr val="00838F"/>
                </a:solidFill>
                <a:latin typeface="Arial-BoldMT" pitchFamily="34" charset="0"/>
                <a:ea typeface="Arial-BoldMT" pitchFamily="34" charset="-122"/>
                <a:cs typeface="Arial-BoldMT" pitchFamily="34" charset="-120"/>
              </a:rPr>
              <a:t>Dataset Overview</a:t>
            </a:r>
            <a:endParaRPr lang="en-US" sz="2925" dirty="0"/>
          </a:p>
        </p:txBody>
      </p:sp>
      <p:sp>
        <p:nvSpPr>
          <p:cNvPr id="5" name="Text 1"/>
          <p:cNvSpPr/>
          <p:nvPr/>
        </p:nvSpPr>
        <p:spPr>
          <a:xfrm>
            <a:off x="771525" y="4533900"/>
            <a:ext cx="4337685" cy="3086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2025" b="1" dirty="0">
                <a:solidFill>
                  <a:srgbClr val="4A148C"/>
                </a:solidFill>
                <a:latin typeface="Arial-BoldMT" pitchFamily="34" charset="0"/>
                <a:ea typeface="Arial-BoldMT" pitchFamily="34" charset="-122"/>
                <a:cs typeface="Arial-BoldMT" pitchFamily="34" charset="-120"/>
              </a:rPr>
              <a:t>Key Attributes Enable:</a:t>
            </a:r>
            <a:endParaRPr lang="en-US" sz="2025" dirty="0"/>
          </a:p>
        </p:txBody>
      </p:sp>
      <p:sp>
        <p:nvSpPr>
          <p:cNvPr id="6" name="Text 2"/>
          <p:cNvSpPr/>
          <p:nvPr/>
        </p:nvSpPr>
        <p:spPr>
          <a:xfrm>
            <a:off x="1381125" y="809625"/>
            <a:ext cx="10236398" cy="5200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048"/>
              </a:lnSpc>
              <a:buNone/>
            </a:pPr>
            <a:r>
              <a:rPr lang="en-US" sz="1575" b="1" dirty="0">
                <a:solidFill>
                  <a:srgbClr val="212121"/>
                </a:solidFill>
                <a:latin typeface="Arial-BoldMT" pitchFamily="34" charset="0"/>
                <a:ea typeface="Arial-BoldMT" pitchFamily="34" charset="-122"/>
                <a:cs typeface="Arial-BoldMT" pitchFamily="34" charset="-120"/>
              </a:rPr>
              <a:t>Five core datasets from Kaggle Zomato Database forming the foundation for multi-dimensional analysis 
across geography, demographics, and time</a:t>
            </a:r>
            <a:endParaRPr lang="en-US" sz="1575" dirty="0"/>
          </a:p>
        </p:txBody>
      </p:sp>
      <p:sp>
        <p:nvSpPr>
          <p:cNvPr id="7" name="Text 3"/>
          <p:cNvSpPr/>
          <p:nvPr/>
        </p:nvSpPr>
        <p:spPr>
          <a:xfrm>
            <a:off x="771525" y="4924425"/>
            <a:ext cx="11577638" cy="118883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340"/>
              </a:lnSpc>
              <a:buNone/>
            </a:pPr>
            <a:r>
              <a:rPr lang="en-US" sz="1800" dirty="0">
                <a:solidFill>
                  <a:srgbClr val="212121"/>
                </a:solidFill>
                <a:latin typeface="ArialMT" pitchFamily="34" charset="0"/>
                <a:ea typeface="ArialMT" pitchFamily="34" charset="-122"/>
                <a:cs typeface="ArialMT" pitchFamily="34" charset="-120"/>
              </a:rPr>
              <a:t>• Customer demographic and behavioral segmentation (Age, Gender, Income, Occupation)
• Location-based and quality analysis (City, Cuisine, Ratings, Cost)
• Transactional timing, volume, and value tracking (Order_Date, Amount_Ruppers)
• Food item characteristics and pricing analysis (Item, Veg_or_NonVeg, Price)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839111" y="6372225"/>
            <a:ext cx="3658672" cy="2366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6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ArialMT" pitchFamily="34" charset="0"/>
                <a:ea typeface="ArialMT" pitchFamily="34" charset="-122"/>
                <a:cs typeface="ArialMT" pitchFamily="34" charset="-120"/>
              </a:rPr>
              <a:t>Total Records: 25,63,897</a:t>
            </a:r>
            <a:endParaRPr lang="en-US" sz="17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134B5-7889-B5E9-2425-A605DCC5D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CB9D093B-E9AB-778C-244A-EBFF888F7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DFDD7A6-D789-CA24-0DE8-9A4A12F40690}"/>
              </a:ext>
            </a:extLst>
          </p:cNvPr>
          <p:cNvSpPr/>
          <p:nvPr/>
        </p:nvSpPr>
        <p:spPr>
          <a:xfrm>
            <a:off x="-353914" y="430562"/>
            <a:ext cx="12899827" cy="4198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306"/>
              </a:lnSpc>
              <a:buNone/>
            </a:pPr>
            <a:r>
              <a:rPr lang="en-US" sz="2600" b="1" dirty="0">
                <a:solidFill>
                  <a:srgbClr val="118AB2"/>
                </a:solidFill>
                <a:latin typeface="Noto Sans KR"/>
                <a:ea typeface="Arial-BoldMT" pitchFamily="34" charset="-122"/>
                <a:cs typeface="Arial-BoldMT" pitchFamily="34" charset="-120"/>
              </a:rPr>
              <a:t>Data Model</a:t>
            </a:r>
            <a:endParaRPr lang="en-US" sz="2600" dirty="0">
              <a:latin typeface="Noto Sans K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8F7B03-BFEA-E840-76EB-43E73748AA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695" y="1028461"/>
            <a:ext cx="10522608" cy="565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39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41483523170304:9a59714e6cddc06dd0f0cad037f74c0c:0:0/dbf853bb-4319-4609-a7d3-caccd8469610/2018941483523170304:9a59714e6cddc06dd0f0cad037f74c0c:0:0_page_3_inp_img_lama_re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1836" y="466725"/>
            <a:ext cx="12459772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18A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Milestone 1: Data </a:t>
            </a:r>
            <a:r>
              <a:rPr lang="en-US" sz="2600" b="1" dirty="0">
                <a:solidFill>
                  <a:srgbClr val="118A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Foundation</a:t>
            </a:r>
            <a:r>
              <a:rPr lang="en-US" sz="2550" b="1" dirty="0">
                <a:solidFill>
                  <a:srgbClr val="118A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2550" dirty="0"/>
          </a:p>
        </p:txBody>
      </p:sp>
      <p:sp>
        <p:nvSpPr>
          <p:cNvPr id="5" name="Text 1"/>
          <p:cNvSpPr/>
          <p:nvPr/>
        </p:nvSpPr>
        <p:spPr>
          <a:xfrm>
            <a:off x="138782" y="5953125"/>
            <a:ext cx="12736413" cy="2686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1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Comprehensive preprocessing ensured data quality and analytical accuracy across all five datasets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1200150" y="1095375"/>
            <a:ext cx="10781258" cy="6396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519"/>
              </a:lnSpc>
              <a:buNone/>
            </a:pPr>
            <a:endParaRPr lang="en-US" sz="1725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938408-EEE4-0DBE-E44C-8C791D8E9047}"/>
              </a:ext>
            </a:extLst>
          </p:cNvPr>
          <p:cNvSpPr txBox="1"/>
          <p:nvPr/>
        </p:nvSpPr>
        <p:spPr>
          <a:xfrm>
            <a:off x="2020908" y="2146584"/>
            <a:ext cx="87416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0" i="0" dirty="0">
                <a:effectLst/>
                <a:latin typeface="Poppins" panose="00000500000000000000" pitchFamily="2" charset="0"/>
              </a:rPr>
              <a:t>Objective:</a:t>
            </a:r>
          </a:p>
          <a:p>
            <a:pPr algn="l">
              <a:buNone/>
            </a:pPr>
            <a:r>
              <a:rPr lang="en-IN" dirty="0">
                <a:latin typeface="Poppins" panose="00000500000000000000" pitchFamily="2" charset="0"/>
              </a:rPr>
              <a:t>Collect data and perform preprocessing</a:t>
            </a:r>
            <a:endParaRPr lang="en-IN" b="0" i="0" dirty="0">
              <a:effectLst/>
              <a:latin typeface="Poppins" panose="00000500000000000000" pitchFamily="2" charset="0"/>
            </a:endParaRPr>
          </a:p>
          <a:p>
            <a:pPr algn="l">
              <a:buNone/>
            </a:pPr>
            <a:endParaRPr lang="en-IN" b="0" i="0" dirty="0">
              <a:effectLst/>
              <a:latin typeface="Poppins" panose="00000500000000000000" pitchFamily="2" charset="0"/>
            </a:endParaRPr>
          </a:p>
          <a:p>
            <a:pPr algn="l">
              <a:buNone/>
            </a:pPr>
            <a:r>
              <a:rPr lang="en-IN" b="0" i="0" dirty="0">
                <a:effectLst/>
                <a:latin typeface="Poppins" panose="00000500000000000000" pitchFamily="2" charset="0"/>
              </a:rPr>
              <a:t>Scope: </a:t>
            </a:r>
          </a:p>
          <a:p>
            <a:pPr algn="l">
              <a:buNone/>
            </a:pPr>
            <a:r>
              <a:rPr lang="en-IN" b="0" i="0" dirty="0">
                <a:effectLst/>
                <a:latin typeface="Poppins" panose="00000500000000000000" pitchFamily="2" charset="0"/>
              </a:rPr>
              <a:t>insights via Power BI dashboards</a:t>
            </a:r>
          </a:p>
          <a:p>
            <a:pPr algn="l">
              <a:buNone/>
            </a:pPr>
            <a:endParaRPr lang="en-IN" b="0" i="0" dirty="0">
              <a:effectLst/>
              <a:latin typeface="Poppins" panose="00000500000000000000" pitchFamily="2" charset="0"/>
            </a:endParaRPr>
          </a:p>
          <a:p>
            <a:pPr algn="l">
              <a:buNone/>
            </a:pPr>
            <a:r>
              <a:rPr lang="en-IN" b="0" i="0" dirty="0">
                <a:effectLst/>
                <a:latin typeface="Poppins" panose="00000500000000000000" pitchFamily="2" charset="0"/>
              </a:rPr>
              <a:t>Dataset: </a:t>
            </a:r>
          </a:p>
          <a:p>
            <a:pPr algn="l">
              <a:buNone/>
            </a:pPr>
            <a:r>
              <a:rPr lang="en-IN" b="0" i="0" dirty="0">
                <a:effectLst/>
                <a:latin typeface="Poppins" panose="00000500000000000000" pitchFamily="2" charset="0"/>
              </a:rPr>
              <a:t>5 tables — food, restaurants, orders, customers, menu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1B7AAD2-D702-BC17-913B-76EC08FC0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37643" y="428588"/>
            <a:ext cx="7516713" cy="4198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306"/>
              </a:lnSpc>
              <a:buNone/>
            </a:pPr>
            <a:r>
              <a:rPr lang="en-US" sz="2600" b="1" dirty="0">
                <a:solidFill>
                  <a:srgbClr val="118AB2"/>
                </a:solidFill>
                <a:latin typeface="Noto Sans KR"/>
                <a:ea typeface="Arial-BoldMT" pitchFamily="34" charset="-122"/>
                <a:cs typeface="Arial-BoldMT" pitchFamily="34" charset="-120"/>
              </a:rPr>
              <a:t>Milestone 2: Business Overview</a:t>
            </a:r>
            <a:endParaRPr lang="en-US" sz="2600" dirty="0">
              <a:latin typeface="Noto Sans KR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DA5BB8-B826-00CA-ADF0-DCC50E517B8B}"/>
              </a:ext>
            </a:extLst>
          </p:cNvPr>
          <p:cNvSpPr txBox="1"/>
          <p:nvPr/>
        </p:nvSpPr>
        <p:spPr>
          <a:xfrm>
            <a:off x="2497172" y="1700811"/>
            <a:ext cx="655009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dirty="0">
                <a:latin typeface="Poppins" panose="00000500000000000000" pitchFamily="2" charset="0"/>
              </a:rPr>
              <a:t>Developed three pages namely</a:t>
            </a:r>
          </a:p>
          <a:p>
            <a:pPr algn="l">
              <a:buNone/>
            </a:pPr>
            <a:r>
              <a:rPr lang="en-US" b="0" i="0" dirty="0">
                <a:effectLst/>
                <a:latin typeface="Poppins" panose="00000500000000000000" pitchFamily="2" charset="0"/>
              </a:rPr>
              <a:t>Business </a:t>
            </a:r>
            <a:r>
              <a:rPr lang="en-US" dirty="0">
                <a:latin typeface="Poppins" panose="00000500000000000000" pitchFamily="2" charset="0"/>
              </a:rPr>
              <a:t>Snapshot, Customer Analysis, Restaurant Performances</a:t>
            </a:r>
          </a:p>
          <a:p>
            <a:pPr algn="l">
              <a:buNone/>
            </a:pPr>
            <a:endParaRPr lang="en-US" b="0" i="0" dirty="0">
              <a:effectLst/>
              <a:latin typeface="Poppins" panose="00000500000000000000" pitchFamily="2" charset="0"/>
            </a:endParaRPr>
          </a:p>
          <a:p>
            <a:pPr algn="l">
              <a:buNone/>
            </a:pPr>
            <a:br>
              <a:rPr lang="en-US" b="0" i="0" dirty="0">
                <a:effectLst/>
                <a:latin typeface="Poppins" panose="00000500000000000000" pitchFamily="2" charset="0"/>
              </a:rPr>
            </a:br>
            <a:r>
              <a:rPr lang="en-US" b="0" i="0" dirty="0">
                <a:effectLst/>
                <a:latin typeface="Poppins" panose="00000500000000000000" pitchFamily="2" charset="0"/>
              </a:rPr>
              <a:t>KPIs: 147K orders, 12K restaurants, ₹964M revenue</a:t>
            </a:r>
          </a:p>
          <a:p>
            <a:pPr algn="l">
              <a:buNone/>
            </a:pPr>
            <a:endParaRPr lang="en-US" b="0" i="0" dirty="0">
              <a:effectLst/>
              <a:latin typeface="Poppins" panose="00000500000000000000" pitchFamily="2" charset="0"/>
            </a:endParaRPr>
          </a:p>
          <a:p>
            <a:pPr algn="l">
              <a:buNone/>
            </a:pPr>
            <a:endParaRPr lang="en-US" b="0" i="0" dirty="0">
              <a:effectLst/>
              <a:latin typeface="Poppins" panose="00000500000000000000" pitchFamily="2" charset="0"/>
            </a:endParaRPr>
          </a:p>
          <a:p>
            <a:pPr algn="l">
              <a:buNone/>
            </a:pPr>
            <a:r>
              <a:rPr lang="en-US" b="0" i="0" dirty="0">
                <a:effectLst/>
                <a:latin typeface="Poppins" panose="00000500000000000000" pitchFamily="2" charset="0"/>
              </a:rPr>
              <a:t>City-wise performance &amp; contribution</a:t>
            </a:r>
          </a:p>
          <a:p>
            <a:pPr algn="l">
              <a:buNone/>
            </a:pPr>
            <a:endParaRPr lang="en-US" b="0" i="0" dirty="0">
              <a:effectLst/>
              <a:latin typeface="Poppins" panose="00000500000000000000" pitchFamily="2" charset="0"/>
            </a:endParaRPr>
          </a:p>
          <a:p>
            <a:pPr algn="l">
              <a:buNone/>
            </a:pPr>
            <a:endParaRPr lang="en-US" b="0" i="0" dirty="0">
              <a:effectLst/>
              <a:latin typeface="Poppins" panose="00000500000000000000" pitchFamily="2" charset="0"/>
            </a:endParaRPr>
          </a:p>
          <a:p>
            <a:pPr algn="l">
              <a:buNone/>
            </a:pPr>
            <a:r>
              <a:rPr lang="en-US" b="0" i="0" dirty="0">
                <a:effectLst/>
                <a:latin typeface="Poppins" panose="00000500000000000000" pitchFamily="2" charset="0"/>
              </a:rPr>
              <a:t>Highlights: top cities, outliers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C55CF-98E6-4F4D-673C-6B033807A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15753C2-CBB5-F5F4-C30E-EFCCBC755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0B68112-2FED-4659-98F5-AB187B8513E0}"/>
              </a:ext>
            </a:extLst>
          </p:cNvPr>
          <p:cNvSpPr/>
          <p:nvPr/>
        </p:nvSpPr>
        <p:spPr>
          <a:xfrm>
            <a:off x="-353914" y="430562"/>
            <a:ext cx="12899827" cy="4198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306"/>
              </a:lnSpc>
              <a:buNone/>
            </a:pPr>
            <a:r>
              <a:rPr lang="en-US" sz="2600" b="1" dirty="0">
                <a:solidFill>
                  <a:srgbClr val="118AB2"/>
                </a:solidFill>
                <a:latin typeface="Noto Sans KR"/>
                <a:ea typeface="Arial-BoldMT" pitchFamily="34" charset="-122"/>
                <a:cs typeface="Arial-BoldMT" pitchFamily="34" charset="-120"/>
              </a:rPr>
              <a:t>Milestone 3: 	Ordering Behavior</a:t>
            </a:r>
            <a:endParaRPr lang="en-US" sz="2600" dirty="0">
              <a:latin typeface="Noto Sans KR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AB90C7-06F5-398D-6CA5-18CDA5F31C4A}"/>
              </a:ext>
            </a:extLst>
          </p:cNvPr>
          <p:cNvSpPr txBox="1"/>
          <p:nvPr/>
        </p:nvSpPr>
        <p:spPr>
          <a:xfrm>
            <a:off x="2497172" y="1700811"/>
            <a:ext cx="655009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Developed two pages namely</a:t>
            </a:r>
          </a:p>
          <a:p>
            <a:pPr algn="l">
              <a:buNone/>
            </a:pPr>
            <a:r>
              <a:rPr lang="en-US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Food and Menu Trends, Ordering Insights</a:t>
            </a:r>
          </a:p>
          <a:p>
            <a:endParaRPr lang="en-US" b="0" i="0" dirty="0"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br>
              <a:rPr lang="en-US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Customer preferences: timing, channel, repeats</a:t>
            </a:r>
          </a:p>
          <a:p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Popular items &amp; bundles</a:t>
            </a:r>
          </a:p>
          <a:p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Cuisine performance: sales, margin, growth</a:t>
            </a:r>
          </a:p>
        </p:txBody>
      </p:sp>
    </p:spTree>
    <p:extLst>
      <p:ext uri="{BB962C8B-B14F-4D97-AF65-F5344CB8AC3E}">
        <p14:creationId xmlns:p14="http://schemas.microsoft.com/office/powerpoint/2010/main" val="3224040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F45BF-21B6-59FE-AE46-E4F13E14F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FCDB373-9645-EBD5-5B28-A85CF2AE9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CC5823B-E950-B467-9D2F-EF12D27B6C66}"/>
              </a:ext>
            </a:extLst>
          </p:cNvPr>
          <p:cNvSpPr/>
          <p:nvPr/>
        </p:nvSpPr>
        <p:spPr>
          <a:xfrm>
            <a:off x="-353914" y="430562"/>
            <a:ext cx="12899827" cy="4198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306"/>
              </a:lnSpc>
              <a:buNone/>
            </a:pPr>
            <a:r>
              <a:rPr lang="en-US" sz="2600" b="1" dirty="0">
                <a:solidFill>
                  <a:srgbClr val="118AB2"/>
                </a:solidFill>
                <a:latin typeface="Noto Sans KR"/>
                <a:ea typeface="Arial-BoldMT" pitchFamily="34" charset="-122"/>
                <a:cs typeface="Arial-BoldMT" pitchFamily="34" charset="-120"/>
              </a:rPr>
              <a:t>Milestone 4: 	Customer Demographics</a:t>
            </a:r>
          </a:p>
          <a:p>
            <a:pPr marL="0" indent="0" algn="ctr">
              <a:lnSpc>
                <a:spcPts val="3306"/>
              </a:lnSpc>
              <a:buNone/>
            </a:pPr>
            <a:endParaRPr lang="en-US" sz="2600" dirty="0">
              <a:latin typeface="Noto Sans KR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5412C3-7273-D63D-6BF6-D5CA68079CB2}"/>
              </a:ext>
            </a:extLst>
          </p:cNvPr>
          <p:cNvSpPr txBox="1"/>
          <p:nvPr/>
        </p:nvSpPr>
        <p:spPr>
          <a:xfrm>
            <a:off x="2497172" y="1700811"/>
            <a:ext cx="655009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Demographics: age, city, segments</a:t>
            </a:r>
          </a:p>
          <a:p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Loyalty patterns: cohorts, repeat rate</a:t>
            </a:r>
          </a:p>
          <a:p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Operations: peak hours, delivery time, cancellations</a:t>
            </a:r>
          </a:p>
          <a:p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Strategic signals: opportunities &amp; risk</a:t>
            </a:r>
          </a:p>
        </p:txBody>
      </p:sp>
    </p:spTree>
    <p:extLst>
      <p:ext uri="{BB962C8B-B14F-4D97-AF65-F5344CB8AC3E}">
        <p14:creationId xmlns:p14="http://schemas.microsoft.com/office/powerpoint/2010/main" val="1410150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41483523170304:9a59714e6cddc06dd0f0cad037f74c0c:2:0/5aa06cd6-b97e-4d33-85e5-90eac18ba37d/2018941483523170304:9a59714e6cddc06dd0f0cad037f74c0c:2:0_page_11_inp_img_lama_re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7788" y="2413992"/>
            <a:ext cx="536377" cy="56227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7757" y="2400300"/>
            <a:ext cx="597396" cy="57596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267" y="2400300"/>
            <a:ext cx="560784" cy="575965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569720" y="569640"/>
            <a:ext cx="9052560" cy="4686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90"/>
              </a:lnSpc>
              <a:buNone/>
            </a:pPr>
            <a:r>
              <a:rPr lang="en-US" sz="3075" b="1" dirty="0">
                <a:solidFill>
                  <a:srgbClr val="118A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Challenges Faced and Resolution</a:t>
            </a:r>
            <a:endParaRPr lang="en-US" sz="3075" dirty="0"/>
          </a:p>
        </p:txBody>
      </p:sp>
      <p:sp>
        <p:nvSpPr>
          <p:cNvPr id="7" name="Text 1"/>
          <p:cNvSpPr/>
          <p:nvPr/>
        </p:nvSpPr>
        <p:spPr>
          <a:xfrm>
            <a:off x="1323975" y="2476500"/>
            <a:ext cx="2426553" cy="3467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F39C1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Cleaning</a:t>
            </a:r>
            <a:endParaRPr lang="en-US" sz="1950" dirty="0"/>
          </a:p>
        </p:txBody>
      </p:sp>
      <p:sp>
        <p:nvSpPr>
          <p:cNvPr id="8" name="Text 2"/>
          <p:cNvSpPr/>
          <p:nvPr/>
        </p:nvSpPr>
        <p:spPr>
          <a:xfrm>
            <a:off x="5162550" y="2476500"/>
            <a:ext cx="3558123" cy="3467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4A14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Transformation</a:t>
            </a:r>
            <a:endParaRPr lang="en-US" sz="1950" dirty="0"/>
          </a:p>
        </p:txBody>
      </p:sp>
      <p:sp>
        <p:nvSpPr>
          <p:cNvPr id="9" name="Text 3"/>
          <p:cNvSpPr/>
          <p:nvPr/>
        </p:nvSpPr>
        <p:spPr>
          <a:xfrm>
            <a:off x="9144000" y="2476500"/>
            <a:ext cx="2853928" cy="3467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118A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Enrichment</a:t>
            </a:r>
            <a:endParaRPr lang="en-US" sz="1950" dirty="0"/>
          </a:p>
        </p:txBody>
      </p:sp>
      <p:sp>
        <p:nvSpPr>
          <p:cNvPr id="10" name="Text 4"/>
          <p:cNvSpPr/>
          <p:nvPr/>
        </p:nvSpPr>
        <p:spPr>
          <a:xfrm>
            <a:off x="714375" y="3133725"/>
            <a:ext cx="3342233" cy="96023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575" dirty="0">
                <a:solidFill>
                  <a:srgbClr val="212121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Challenge: Inconsistent
formatting and null values in
critical columns (Rating, City,
Cuisine)</a:t>
            </a:r>
            <a:endParaRPr lang="en-US" sz="1575" dirty="0"/>
          </a:p>
        </p:txBody>
      </p:sp>
      <p:sp>
        <p:nvSpPr>
          <p:cNvPr id="11" name="Text 5"/>
          <p:cNvSpPr/>
          <p:nvPr/>
        </p:nvSpPr>
        <p:spPr>
          <a:xfrm>
            <a:off x="4572000" y="3133725"/>
            <a:ext cx="3384203" cy="100607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8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Challenge: Multi-valued
Cuisine and City fields,
ambiguous Menu_ID and RID
relationships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714375" y="4419600"/>
            <a:ext cx="3237458" cy="100607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8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Resolution: Text trimming,
duplicate removal, created
New_Restaurant column for
null ratings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4572000" y="4419600"/>
            <a:ext cx="3384203" cy="100607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8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Resolution: Split and unpivot
multi-valued fields, explicit
relationship definitions in
Power BI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714375" y="3133725"/>
            <a:ext cx="3342233" cy="96023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575" dirty="0">
                <a:solidFill>
                  <a:srgbClr val="212121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Challenge: Inconsistent
formatting and null values in
critical columns (Rating, City,
Cuisine)</a:t>
            </a:r>
            <a:endParaRPr lang="en-US" sz="1575" dirty="0"/>
          </a:p>
        </p:txBody>
      </p:sp>
      <p:sp>
        <p:nvSpPr>
          <p:cNvPr id="15" name="Text 9"/>
          <p:cNvSpPr/>
          <p:nvPr/>
        </p:nvSpPr>
        <p:spPr>
          <a:xfrm>
            <a:off x="4572000" y="3133725"/>
            <a:ext cx="3384203" cy="100607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8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Challenge: Multi-valued
Cuisine and City fields,
ambiguous Menu_ID and RID
relationships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714375" y="4419600"/>
            <a:ext cx="3237458" cy="100607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8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Resolution: Text trimming,
duplicate removal, created
New_Restaurant column for
null ratings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4572000" y="4419600"/>
            <a:ext cx="3384203" cy="100607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8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Resolution: Split and unpivot
multi-valued fields, explicit
relationship definitions in
Power BI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714375" y="3133725"/>
            <a:ext cx="3342233" cy="96023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575" dirty="0">
                <a:solidFill>
                  <a:srgbClr val="212121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Challenge: Inconsistent
formatting and null values in
critical columns (Rating, City,
Cuisine)</a:t>
            </a:r>
            <a:endParaRPr lang="en-US" sz="1575" dirty="0"/>
          </a:p>
        </p:txBody>
      </p:sp>
      <p:sp>
        <p:nvSpPr>
          <p:cNvPr id="19" name="Text 13"/>
          <p:cNvSpPr/>
          <p:nvPr/>
        </p:nvSpPr>
        <p:spPr>
          <a:xfrm>
            <a:off x="4572000" y="3133725"/>
            <a:ext cx="3384203" cy="100607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8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Challenge: Multi-valued
Cuisine and City fields,
ambiguous Menu_ID and RID
relationships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714375" y="4419600"/>
            <a:ext cx="3237458" cy="100607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8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Resolution: Text trimming,
duplicate removal, created
New_Restaurant column for
null ratings</a:t>
            </a:r>
            <a:endParaRPr lang="en-US" sz="1650" dirty="0"/>
          </a:p>
        </p:txBody>
      </p:sp>
      <p:sp>
        <p:nvSpPr>
          <p:cNvPr id="21" name="Text 15"/>
          <p:cNvSpPr/>
          <p:nvPr/>
        </p:nvSpPr>
        <p:spPr>
          <a:xfrm>
            <a:off x="4572000" y="4419600"/>
            <a:ext cx="3384203" cy="100607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8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Resolution: Split and unpivot
multi-valued fields, explicit
relationship definitions in
Power BI</a:t>
            </a:r>
            <a:endParaRPr lang="en-US" sz="1650" dirty="0"/>
          </a:p>
        </p:txBody>
      </p:sp>
      <p:sp>
        <p:nvSpPr>
          <p:cNvPr id="22" name="Text 16"/>
          <p:cNvSpPr/>
          <p:nvPr/>
        </p:nvSpPr>
        <p:spPr>
          <a:xfrm>
            <a:off x="847278" y="1232506"/>
            <a:ext cx="10833646" cy="6134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15"/>
              </a:lnSpc>
              <a:buNone/>
            </a:pPr>
            <a:r>
              <a:rPr lang="en-US" sz="1725" dirty="0">
                <a:solidFill>
                  <a:srgbClr val="212121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Addressed data inconsistencies, multi-valued fields, and missing metrics through
cleaning, transformation, and enrichment, ensuring analytical accuracy and reliability</a:t>
            </a:r>
            <a:endParaRPr lang="en-US" sz="1725" dirty="0"/>
          </a:p>
        </p:txBody>
      </p:sp>
      <p:sp>
        <p:nvSpPr>
          <p:cNvPr id="23" name="Text 17"/>
          <p:cNvSpPr/>
          <p:nvPr/>
        </p:nvSpPr>
        <p:spPr>
          <a:xfrm>
            <a:off x="8515350" y="3133725"/>
            <a:ext cx="3394621" cy="100607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8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Challenge: Currency
inconsistency (INR/USD), lack
of day-of-week data,
incomparable ranges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8515350" y="4419600"/>
            <a:ext cx="3447008" cy="100607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8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Resolution: Created
Amount_Rupees, Order_Day,
and Income_Bound columns
for unified analysis</a:t>
            </a:r>
            <a:endParaRPr lang="en-US" sz="1650" dirty="0"/>
          </a:p>
        </p:txBody>
      </p:sp>
      <p:sp>
        <p:nvSpPr>
          <p:cNvPr id="25" name="Text 19"/>
          <p:cNvSpPr/>
          <p:nvPr/>
        </p:nvSpPr>
        <p:spPr>
          <a:xfrm>
            <a:off x="125164" y="6153150"/>
            <a:ext cx="12899827" cy="23529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52"/>
              </a:lnSpc>
              <a:buNone/>
            </a:pPr>
            <a:r>
              <a:rPr lang="en-US" sz="1425" dirty="0">
                <a:solidFill>
                  <a:srgbClr val="212121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Comprehensive data preprocessing ensured reliable foundation for accurate business intelligence analysis</a:t>
            </a:r>
            <a:endParaRPr lang="en-US" sz="14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41483523170304:9a59714e6cddc06dd0f0cad037f74c0c:2:0/f130e149-72e9-4c81-a2f4-81a2ad154c04/2018941483523170304:9a59714e6cddc06dd0f0cad037f74c0c:2:0_page_12_inp_img_lama_re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1467" y="1597819"/>
            <a:ext cx="572988" cy="6103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859" y="1597819"/>
            <a:ext cx="475357" cy="569119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72014" y="676275"/>
            <a:ext cx="11252835" cy="4533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570"/>
              </a:lnSpc>
              <a:buNone/>
            </a:pPr>
            <a:r>
              <a:rPr lang="en-US" sz="3000" b="1" dirty="0">
                <a:solidFill>
                  <a:srgbClr val="118A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Insights and Feature Enhancement</a:t>
            </a:r>
            <a:endParaRPr lang="en-US" sz="3000" dirty="0"/>
          </a:p>
        </p:txBody>
      </p:sp>
      <p:sp>
        <p:nvSpPr>
          <p:cNvPr id="6" name="Text 1"/>
          <p:cNvSpPr/>
          <p:nvPr/>
        </p:nvSpPr>
        <p:spPr>
          <a:xfrm>
            <a:off x="1200150" y="1733550"/>
            <a:ext cx="3721537" cy="3287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88"/>
              </a:lnSpc>
              <a:buNone/>
            </a:pPr>
            <a:r>
              <a:rPr lang="en-US" sz="2175" b="1" dirty="0">
                <a:solidFill>
                  <a:srgbClr val="4141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Strategic Insights</a:t>
            </a:r>
            <a:endParaRPr lang="en-US" sz="2175" dirty="0"/>
          </a:p>
        </p:txBody>
      </p:sp>
      <p:sp>
        <p:nvSpPr>
          <p:cNvPr id="7" name="Text 2"/>
          <p:cNvSpPr/>
          <p:nvPr/>
        </p:nvSpPr>
        <p:spPr>
          <a:xfrm>
            <a:off x="6686550" y="1733550"/>
            <a:ext cx="5695533" cy="31730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4141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Strategic Recommendations</a:t>
            </a:r>
            <a:endParaRPr lang="en-US" sz="2100" dirty="0"/>
          </a:p>
        </p:txBody>
      </p:sp>
      <p:sp>
        <p:nvSpPr>
          <p:cNvPr id="8" name="Text 3"/>
          <p:cNvSpPr/>
          <p:nvPr/>
        </p:nvSpPr>
        <p:spPr>
          <a:xfrm>
            <a:off x="-820366" y="6096000"/>
            <a:ext cx="13968532" cy="2946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321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Data-driven strategies to reverse declining trends and enhance customer retention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838200" y="2314575"/>
            <a:ext cx="4809083" cy="6390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16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Revenue declined from ₹41.75M
(2018) to ₹14.59M (2020)</a:t>
            </a:r>
            <a:endParaRPr lang="en-US" sz="1900" dirty="0"/>
          </a:p>
        </p:txBody>
      </p:sp>
      <p:sp>
        <p:nvSpPr>
          <p:cNvPr id="10" name="Text 5"/>
          <p:cNvSpPr/>
          <p:nvPr/>
        </p:nvSpPr>
        <p:spPr>
          <a:xfrm>
            <a:off x="838200" y="3067050"/>
            <a:ext cx="4327178" cy="6390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16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Friday peak: 34.5K orders vs.
weekend drops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838200" y="3886200"/>
            <a:ext cx="4568130" cy="6390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16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Students drive highest revenue
despite low income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838200" y="4714875"/>
            <a:ext cx="4704308" cy="6390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16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Quality perception matters more
than price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6686550" y="2314575"/>
            <a:ext cx="4892873" cy="6390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16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Launch 'Weekend Family Bundles'
for low-performing days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6686550" y="3067050"/>
            <a:ext cx="4872038" cy="6143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19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Implement 'Student Prime' Loyalty
Program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6686550" y="3886200"/>
            <a:ext cx="4651921" cy="6390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16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Expand into Tier-2 cities (Raipur,
Hyderabad)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6686550" y="4714875"/>
            <a:ext cx="4075658" cy="6143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19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Incentivize user reviews with
discount campaigns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41483523170304:9a59714e6cddc06dd0f0cad037f74c0c:2:0/7d6f1fd7-4ef5-4ec9-ba51-4f1960c10018/2018941483523170304:9a59714e6cddc06dd0f0cad037f74c0c:2:0_page_15_inp_img_lama_re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03156" y="638175"/>
            <a:ext cx="6424732" cy="5554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373"/>
              </a:lnSpc>
              <a:buNone/>
            </a:pPr>
            <a:r>
              <a:rPr lang="en-US" sz="3675" b="1" dirty="0">
                <a:solidFill>
                  <a:srgbClr val="0083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Acknowledgement</a:t>
            </a:r>
            <a:endParaRPr lang="en-US" sz="3675" dirty="0"/>
          </a:p>
        </p:txBody>
      </p:sp>
      <p:sp>
        <p:nvSpPr>
          <p:cNvPr id="5" name="Text 2"/>
          <p:cNvSpPr/>
          <p:nvPr/>
        </p:nvSpPr>
        <p:spPr>
          <a:xfrm>
            <a:off x="2045047" y="2590799"/>
            <a:ext cx="8863905" cy="20654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r>
              <a:rPr lang="en-US" dirty="0"/>
              <a:t>We would like to express our heartfelt gratitude to:</a:t>
            </a:r>
          </a:p>
          <a:p>
            <a:r>
              <a:rPr lang="en-US" b="1" dirty="0"/>
              <a:t>Infosys Springboard Team</a:t>
            </a:r>
            <a:r>
              <a:rPr lang="en-US" dirty="0"/>
              <a:t>– for organizing this valuable internship opportunity.</a:t>
            </a:r>
          </a:p>
          <a:p>
            <a:r>
              <a:rPr lang="en-US" b="1" dirty="0"/>
              <a:t>Our Mentor</a:t>
            </a:r>
            <a:r>
              <a:rPr lang="en-US" dirty="0"/>
              <a:t>– for her continuous support and feedback.</a:t>
            </a:r>
          </a:p>
          <a:p>
            <a:r>
              <a:rPr lang="en-US" b="1" dirty="0"/>
              <a:t>My Teammates </a:t>
            </a:r>
            <a:r>
              <a:rPr lang="en-US" dirty="0"/>
              <a:t>– for collaboration, encouragement, and insights 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This internship has been a significant step in our professional growth and technical journey.</a:t>
            </a:r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2181225" y="4311997"/>
            <a:ext cx="8591550" cy="6884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11"/>
              </a:lnSpc>
              <a:buNone/>
            </a:pP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41483523170304:9a59714e6cddc06dd0f0cad037f74c0c:2:0/d12728b3-89be-487c-a0d7-1222f22cd952/2018941483523170304:9a59714e6cddc06dd0f0cad037f74c0c:2:0_page_13_inp_img_lama_re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479" y="2743200"/>
            <a:ext cx="2865090" cy="139898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192" y="2400300"/>
            <a:ext cx="1938486" cy="1961257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332833" y="466725"/>
            <a:ext cx="3784402" cy="6161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851"/>
              </a:lnSpc>
              <a:buNone/>
            </a:pPr>
            <a:r>
              <a:rPr lang="en-US" sz="3675" b="1" dirty="0">
                <a:solidFill>
                  <a:srgbClr val="118A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</a:t>
            </a:r>
            <a:endParaRPr lang="en-US" sz="3675" dirty="0"/>
          </a:p>
        </p:txBody>
      </p:sp>
      <p:sp>
        <p:nvSpPr>
          <p:cNvPr id="6" name="Text 1"/>
          <p:cNvSpPr/>
          <p:nvPr/>
        </p:nvSpPr>
        <p:spPr>
          <a:xfrm>
            <a:off x="2774677" y="5720443"/>
            <a:ext cx="6642646" cy="6390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516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Data-driven approach transforms business
intelligence into competitive advantage</a:t>
            </a:r>
            <a:endParaRPr lang="en-US" sz="1950" dirty="0"/>
          </a:p>
        </p:txBody>
      </p:sp>
      <p:sp>
        <p:nvSpPr>
          <p:cNvPr id="7" name="Text 2"/>
          <p:cNvSpPr/>
          <p:nvPr/>
        </p:nvSpPr>
        <p:spPr>
          <a:xfrm>
            <a:off x="3575763" y="1901750"/>
            <a:ext cx="6977955" cy="33843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21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• Successfully transformed raw transactional data into
comprehensive and interactive visual dashboards</a:t>
            </a:r>
          </a:p>
          <a:p>
            <a:pPr marL="0" indent="0">
              <a:lnSpc>
                <a:spcPts val="2221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
• Delivered actionable insights into food trends, customer
preferences, and operational patterns</a:t>
            </a:r>
          </a:p>
          <a:p>
            <a:pPr marL="0" indent="0">
              <a:lnSpc>
                <a:spcPts val="2221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
• Enabled deep understanding of customer behavior,
revenue drivers, and market dynamics</a:t>
            </a:r>
            <a:r>
              <a:rPr lang="en-US" sz="1650" dirty="0">
                <a:solidFill>
                  <a:srgbClr val="111111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
</a:t>
            </a:r>
            <a:r>
              <a:rPr lang="en-US" sz="1575" dirty="0">
                <a:solidFill>
                  <a:srgbClr val="111111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
</a:t>
            </a:r>
            <a:endParaRPr lang="en-US" sz="15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41483523170304:9a59714e6cddc06dd0f0cad037f74c0c:2:0/5bc214ff-c60c-4f2c-9184-55fa1a011017/2018941483523170304:9a59714e6cddc06dd0f0cad037f74c0c:2:0_page_14_inp_img_lama_re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7067" y="1735038"/>
            <a:ext cx="1975098" cy="51228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96869" y="704850"/>
            <a:ext cx="3130570" cy="4914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870"/>
              </a:lnSpc>
              <a:buNone/>
            </a:pPr>
            <a:r>
              <a:rPr lang="en-US" sz="3225" b="1" dirty="0">
                <a:solidFill>
                  <a:srgbClr val="118A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</a:t>
            </a:r>
            <a:endParaRPr lang="en-US" sz="3225" dirty="0"/>
          </a:p>
        </p:txBody>
      </p:sp>
      <p:sp>
        <p:nvSpPr>
          <p:cNvPr id="5" name="Text 1"/>
          <p:cNvSpPr/>
          <p:nvPr/>
        </p:nvSpPr>
        <p:spPr>
          <a:xfrm>
            <a:off x="1200150" y="1943100"/>
            <a:ext cx="9943058" cy="6685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633"/>
              </a:lnSpc>
              <a:buNone/>
            </a:pPr>
            <a:r>
              <a:rPr lang="en-US" sz="2025" dirty="0">
                <a:solidFill>
                  <a:srgbClr val="2121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data, analysis, and insights presented in this report are based on
internal project documentation provided, including:</a:t>
            </a:r>
            <a:endParaRPr lang="en-US" sz="2025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F30213-05DB-2F04-0B1F-0AF7352938AC}"/>
              </a:ext>
            </a:extLst>
          </p:cNvPr>
          <p:cNvSpPr txBox="1"/>
          <p:nvPr/>
        </p:nvSpPr>
        <p:spPr>
          <a:xfrm>
            <a:off x="1798476" y="2934250"/>
            <a:ext cx="6172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Kaggle Zomato Dataset</a:t>
            </a:r>
          </a:p>
          <a:p>
            <a:r>
              <a:rPr lang="en-US" sz="2000" dirty="0"/>
              <a:t>Microsoft Power BI Documentation</a:t>
            </a:r>
          </a:p>
          <a:p>
            <a:r>
              <a:rPr lang="en-US" sz="2000" dirty="0"/>
              <a:t>Infosys Springboard Virtual Internship course materials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FC84E0-8025-ABE1-D5E9-E2D689C9D97C}"/>
              </a:ext>
            </a:extLst>
          </p:cNvPr>
          <p:cNvSpPr/>
          <p:nvPr/>
        </p:nvSpPr>
        <p:spPr>
          <a:xfrm>
            <a:off x="4279634" y="2942624"/>
            <a:ext cx="3632731" cy="4914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870"/>
              </a:lnSpc>
              <a:buNone/>
            </a:pPr>
            <a:r>
              <a:rPr lang="en-US" sz="4500" b="1" dirty="0">
                <a:solidFill>
                  <a:srgbClr val="118A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4500" dirty="0"/>
          </a:p>
        </p:txBody>
      </p:sp>
    </p:spTree>
    <p:extLst>
      <p:ext uri="{BB962C8B-B14F-4D97-AF65-F5344CB8AC3E}">
        <p14:creationId xmlns:p14="http://schemas.microsoft.com/office/powerpoint/2010/main" val="3504979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933</Words>
  <Application>Microsoft Office PowerPoint</Application>
  <PresentationFormat>Widescreen</PresentationFormat>
  <Paragraphs>126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Arial-BoldMT</vt:lpstr>
      <vt:lpstr>ArialMT</vt:lpstr>
      <vt:lpstr>Montserrat</vt:lpstr>
      <vt:lpstr>Noto Sans KR</vt:lpstr>
      <vt:lpstr>Noto Sans SC</vt:lpstr>
      <vt:lpstr>OpenSans-Regular</vt:lpstr>
      <vt:lpstr>Poppins</vt:lpstr>
      <vt:lpstr>Roboto-Regular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Flemin Daniel</cp:lastModifiedBy>
  <cp:revision>7</cp:revision>
  <dcterms:created xsi:type="dcterms:W3CDTF">2026-02-04T07:07:14Z</dcterms:created>
  <dcterms:modified xsi:type="dcterms:W3CDTF">2026-02-09T15:42:04Z</dcterms:modified>
</cp:coreProperties>
</file>